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1 of 6 (with slide 2) · Time: 0:00-0:19 (41 words)
Good morning. We are Team 02. I am Dat, and with me are Quan L. and Quan N.. Our project is SaigonBite, a delivery platform for cloud kitchens. Let me start with one lunch order, because that order explains the whole project.
Cue: Click: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1 of 6 · Time: 0:19-1:03 (96 words)
Imagine it is a quarter to twelve. Linh works in District 1 and orders pho. The District 1 hub has a board full of paper tickets, while another hub nearby is half empty. Nobody can see that, so Linh waits an hour. Then the beef runs out, and someone has to phone her. Her cash reaches the hub at the end of the day, sometimes short. Each pain needs its own rule, but every rule needs the same thing first: one shared order record that the customer, the kitchen, the shipper and the manager all read.
Cue: Click: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2 of 6 (with slide 4) · Time: 1:03-1:24 (44 words)
This is the map of Linh's order, not a slide to read: five lanes, customer, platform, kitchen, shipper and office. Blue is the normal path, red is where something goes wrong, grey is not in this release. The next slides zoom into four parts.
Cue: Point at the five lanes, then click: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2 of 6 · Time: 1:25-1:57 (69 words)
Part A. Linh picks the District 1 hub, and the platform checks its workload first. If the hub is busy, she is offered a quieter hub before any order exists. Then she sees the full price: food, delivery fee and voucher. She pays cash on delivery, or online through our payment stub; if that fails, she retries or switches to cash. Only then is the order created, as PLACED.
Cue: Point at "Hub busy?", then at "Create order". Click: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3 of 6 · Time: 1:57-2:32 (75 words)
Part B, the kitchen. The kitchen confirms or rejects. If the beef has run out, the kitchen offers a replacement and Linh decides. If she says no, the order is rejected: cash is voided, and an online payment is owed back in full, with no approval. In this release we record that refund; paying it out comes later. Linh can also cancel herself, but only until cooking starts. That is Part E in the proposal.
Cue: Point at "Offer item replacement", then at the Part E strip. Click: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4 of 6 (with slide 7) · Time: 2:32-3:02 (65 words)
Part C, delivery. The shipper picks up and delivers. The point we care about most: delivered is not the same as paid. For a cash order, the shipper records the cash at the door, for that one order. At the end of the shift, office staff check the cash against those records. If the delivery fails, the shipper reports it and brings the food back.
Cue: Point at "Collect cash", then at "Reconcile". Click: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4 of 6 · Time: 3:02-3:35 (72 words)
Part D. Linh gets a receipt, and she can rate the order or complain. A failed delivery works like a rejection: cash is voided, and online money is owed back in full. A complaint is the only case where a person decides. Office staff approve a refund, or deny it and tell Linh why. Reports sit on the side and read the same records. Quan L. will show who owns which part.
Cue: Point at "Refund approved?". Hand-over: "Quan L. will show who owns which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 L. · Quan L. 1 of 2 · Time: 3:35-4:05 (66 words)
Thank you, Dat. Six roles and one outside system touch Linh's order. The customer orders and pays. Kitchen staff confirm, reject or replace, then cook. The shipper delivers and records the cash. Office staff reconcile that cash and handle complaints. The admin keeps hubs, capacity and menus correct, and the manager reads the reports. The outside system is the payment provider, which our own stub simulates.
Cue: Click: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 L. · Quan L. 2 of 2 · Time: 4:05-4:42 (81 words)
From these actors we chose six main use cases, two per student, covering all four required groups. Dat owns placing an order and managing hubs. I own delivery and the reports. Quan N. owns the kitchen decision and the menu. To be clear about status: all six are planned for Part 2. Today one is partly built: placing a cash order. Cancelling and voucher administration are analysed only; complaints, refund payouts and ratings are deferred. Quan N. will explain how we build it.
Cue: Point at the status line. Hand-over: "Quan N. will explain how we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 N. · Quan N. 1 of 2 · Time: 4:42-5:15 (71 words)
Thank you. The case is incomplete on purpose: capacity limits, fees and payment rules come from the client later. So we work in short iterations. Each one analyses, designs, builds and tests a thin slice, and then we review it together. The riskiest rules come first: capacity in Iteration 2, payment in Iteration 3. The stack is plain on purpose: Python and Flask, three layers, hand-written SQL on SQLite, and pytest.
Cue: Click: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Quan N. · Quan N. 2 of 2 · Time: 5:15-5:52 (80 words)
Here is the roadmap. Iteration 2 builds hubs, capacity and the kitchen board, which starts my part: the kitchen's confirm or reject. Iteration 3 completes ordering and delivery, and I build the menu management. Iteration 4 adds reports and the full demo. Iteration 5 freezes features before the Part 2 deadline and keeps one buffer day. Iteration 6 is only for feedback and Part 3. The red marks are where we decide. Back to Dat for what we actually delivered.
Cue: Point at the red diamonds. Hand-over: "Back to Dat for what we actually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5 of 6 (with slide 13) · Time: 5:52-6:05 (29 words)
Thank you. Iteration 1 had six days and two people, one core process per day. The goal was narrow on purpose: one cash order, at one hub, saved correctly.
Cue: Click: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5 of 6 · Time: 6:05-6:49 (96 words)
Here is what happened. We built early, with AI assistance, and we say that openly. The order is saved in one transaction, and a double click still creates one order. All nine criteria are met; a teammate ran the app and the tests on a Mac with Docker. Then our review found a bug the tests had missed: a price that changed after the quote was charged without asking. All 81 tests were green. We fixed it, the suite grew from 81 to 93 tests by 20 October, and every review finding gets its own test.
Cue: Point at the saved order, then at the Lesson line. Click: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6 of 6 (with slide 15) · Time: 6:49-7:20 (68 words)
Two risks matter most. First, the client may change a rule after we code it, so every rule lives in configuration and in the Assumption Log. Second, at the lunch peak two orders can race for the last slot, so in Iteration 2 the check and the insert will run in one transaction, with a boundary test. The other risks each have an owner and a warning sign.
Cue: Point at R-02 and R-03. Click: slide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Dat · Dat 6 of 6 · Time: 7:20-7:52 (69 words)
To close, here is what we need. Five client questions, each with our default, so we can keep building while we wait. And five questions for you as our lecturer, mainly: is analysis plus seed data enough for the classes we do not build, and do you accept our third member and the two new use cases? With your answers by the thirty-first, Iteration 2 starts tomorrow. Thank you.
Cue: Stop on this slide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rtlCol="0"/>
          <a:lstStyle>
            <a:lvl1pPr algn="l" indent="0" marL="0">
              <a:buNone/>
              <a:defRPr lang="en-US" sz="2600" b="1" dirty="0">
                <a:solidFill>
                  <a:srgbClr val="185695"/>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Shape 0"/>
          <p:cNvSpPr/>
          <p:nvPr/>
        </p:nvSpPr>
        <p:spPr>
          <a:xfrm>
            <a:off x="457200" y="1005840"/>
            <a:ext cx="11277295" cy="0"/>
          </a:xfrm>
          <a:prstGeom prst="line">
            <a:avLst/>
          </a:prstGeom>
          <a:noFill/>
          <a:ln w="19050">
            <a:solidFill>
              <a:srgbClr val="004387"/>
            </a:solidFill>
            <a:prstDash val="solid"/>
          </a:ln>
        </p:spPr>
      </p:sp>
      <p:sp>
        <p:nvSpPr>
          <p:cNvPr id="4" name="Text 1"/>
          <p:cNvSpPr/>
          <p:nvPr/>
        </p:nvSpPr>
        <p:spPr>
          <a:xfrm>
            <a:off x="457200" y="6446520"/>
            <a:ext cx="457200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SaigonBite · Team02</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GRAM">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
            <a:ext cx="11277295" cy="621792"/>
          </a:xfrm>
          <a:prstGeom prst="rect">
            <a:avLst/>
          </a:prstGeom>
          <a:noFill/>
          <a:ln/>
        </p:spPr>
        <p:txBody>
          <a:bodyPr wrap="square" rtlCol="0"/>
          <a:lstStyle>
            <a:lvl1pPr algn="l" indent="0" marL="0">
              <a:buNone/>
              <a:defRPr lang="en-US" sz="2600" b="1" dirty="0">
                <a:solidFill>
                  <a:srgbClr val="185695"/>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Shape 0"/>
          <p:cNvSpPr/>
          <p:nvPr/>
        </p:nvSpPr>
        <p:spPr>
          <a:xfrm>
            <a:off x="457200" y="786384"/>
            <a:ext cx="11277295" cy="0"/>
          </a:xfrm>
          <a:prstGeom prst="line">
            <a:avLst/>
          </a:prstGeom>
          <a:noFill/>
          <a:ln w="19050">
            <a:solidFill>
              <a:srgbClr val="004387"/>
            </a:solidFill>
            <a:prstDash val="solid"/>
          </a:ln>
        </p:spPr>
      </p:sp>
      <p:sp>
        <p:nvSpPr>
          <p:cNvPr id="4" name="Text 1"/>
          <p:cNvSpPr/>
          <p:nvPr/>
        </p:nvSpPr>
        <p:spPr>
          <a:xfrm>
            <a:off x="457200" y="6446520"/>
            <a:ext cx="457200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SaigonBite · Team02</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457200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SaigonBite · Team02</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822960"/>
            <a:ext cx="9144000" cy="365760"/>
          </a:xfrm>
          <a:prstGeom prst="rect">
            <a:avLst/>
          </a:prstGeom>
          <a:noFill/>
          <a:ln/>
        </p:spPr>
        <p:txBody>
          <a:bodyPr wrap="square" lIns="0" tIns="0" rIns="0" bIns="0" rtlCol="0" anchor="ctr"/>
          <a:lstStyle/>
          <a:p>
            <a:pPr indent="0" marL="0">
              <a:buNone/>
            </a:pPr>
            <a:r>
              <a:rPr lang="en-US" sz="1800" b="1" dirty="0">
                <a:solidFill>
                  <a:srgbClr val="5B6472"/>
                </a:solidFill>
                <a:latin typeface="Arial" pitchFamily="34" charset="0"/>
                <a:ea typeface="Arial" pitchFamily="34" charset="-122"/>
                <a:cs typeface="Arial" pitchFamily="34" charset="-120"/>
              </a:rPr>
              <a:t>RAD Sem01_2627  ·  PART 1 PROJECT PROPOSAL</a:t>
            </a:r>
            <a:endParaRPr lang="en-US" sz="1800" dirty="0"/>
          </a:p>
        </p:txBody>
      </p:sp>
      <p:sp>
        <p:nvSpPr>
          <p:cNvPr id="3" name="Title"/>
          <p:cNvSpPr txBox="1"/>
          <p:nvPr/>
        </p:nvSpPr>
        <p:spPr>
          <a:xfrm>
            <a:off x="822960" y="1325880"/>
            <a:ext cx="10424160" cy="1554480"/>
          </a:xfrm>
          <a:prstGeom prst="rect">
            <a:avLst/>
          </a:prstGeom>
          <a:noFill/>
          <a:ln/>
        </p:spPr>
        <p:txBody>
          <a:bodyPr wrap="square" lIns="0" tIns="0" rIns="0" bIns="0" rtlCol="0" anchor="t"/>
          <a:lstStyle/>
          <a:p>
            <a:pPr indent="0" marL="0">
              <a:buNone/>
            </a:pPr>
            <a:r>
              <a:rPr lang="en-US" sz="4000" b="1" dirty="0">
                <a:solidFill>
                  <a:srgbClr val="004387"/>
                </a:solidFill>
                <a:latin typeface="Arial" pitchFamily="34" charset="0"/>
                <a:ea typeface="Arial" pitchFamily="34" charset="-122"/>
                <a:cs typeface="Arial" pitchFamily="34" charset="-120"/>
              </a:rPr>
              <a:t>SaigonBite: one platform to spread lunch-hour orders across hubs</a:t>
            </a:r>
            <a:endParaRPr lang="en-US" sz="4000" dirty="0"/>
          </a:p>
        </p:txBody>
      </p:sp>
      <p:sp>
        <p:nvSpPr>
          <p:cNvPr id="4" name="Text 2"/>
          <p:cNvSpPr txBox="1"/>
          <p:nvPr/>
        </p:nvSpPr>
        <p:spPr>
          <a:xfrm>
            <a:off x="822960" y="2926080"/>
            <a:ext cx="10058400" cy="411480"/>
          </a:xfrm>
          <a:prstGeom prst="rect">
            <a:avLst/>
          </a:prstGeom>
          <a:noFill/>
          <a:ln/>
        </p:spPr>
        <p:txBody>
          <a:bodyPr wrap="square" lIns="0" tIns="0" rIns="0" bIns="0" rtlCol="0" anchor="ctr"/>
          <a:lstStyle/>
          <a:p>
            <a:pPr indent="0" marL="0">
              <a:buNone/>
            </a:pPr>
            <a:r>
              <a:rPr lang="en-US" sz="2000" dirty="0">
                <a:solidFill>
                  <a:srgbClr val="5B6472"/>
                </a:solidFill>
                <a:latin typeface="Arial" pitchFamily="34" charset="0"/>
                <a:ea typeface="Arial" pitchFamily="34" charset="-122"/>
                <a:cs typeface="Arial" pitchFamily="34" charset="-120"/>
              </a:rPr>
              <a:t>Online Food Delivery Hub Platform (OFDH)</a:t>
            </a:r>
            <a:endParaRPr lang="en-US" sz="2000" dirty="0"/>
          </a:p>
        </p:txBody>
      </p:sp>
      <p:sp>
        <p:nvSpPr>
          <p:cNvPr id="5" name="Card"/>
          <p:cNvSpPr/>
          <p:nvPr/>
        </p:nvSpPr>
        <p:spPr>
          <a:xfrm>
            <a:off x="822960" y="3611880"/>
            <a:ext cx="3429000" cy="1463040"/>
          </a:xfrm>
          <a:prstGeom prst="rect">
            <a:avLst/>
          </a:prstGeom>
          <a:solidFill>
            <a:srgbClr val="E3ECF3"/>
          </a:solidFill>
          <a:ln/>
        </p:spPr>
      </p:sp>
      <p:sp>
        <p:nvSpPr>
          <p:cNvPr id="6" name="Text 4"/>
          <p:cNvSpPr txBox="1"/>
          <p:nvPr/>
        </p:nvSpPr>
        <p:spPr>
          <a:xfrm>
            <a:off x="950976" y="3611880"/>
            <a:ext cx="3172968" cy="146304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Nguyen Thanh Dat · 722I0004</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UC-01 Place an order, UC-03 Manage hubs</a:t>
            </a:r>
            <a:endParaRPr lang="en-US" sz="1800" dirty="0"/>
          </a:p>
        </p:txBody>
      </p:sp>
      <p:sp>
        <p:nvSpPr>
          <p:cNvPr id="7" name="Card"/>
          <p:cNvSpPr/>
          <p:nvPr/>
        </p:nvSpPr>
        <p:spPr>
          <a:xfrm>
            <a:off x="4434840" y="3611880"/>
            <a:ext cx="3429000" cy="1463040"/>
          </a:xfrm>
          <a:prstGeom prst="rect">
            <a:avLst/>
          </a:prstGeom>
          <a:solidFill>
            <a:srgbClr val="E3ECF3"/>
          </a:solidFill>
          <a:ln/>
        </p:spPr>
      </p:sp>
      <p:sp>
        <p:nvSpPr>
          <p:cNvPr id="8" name="Text 6"/>
          <p:cNvSpPr txBox="1"/>
          <p:nvPr/>
        </p:nvSpPr>
        <p:spPr>
          <a:xfrm>
            <a:off x="4562856" y="3611880"/>
            <a:ext cx="3172968" cy="146304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Le Minh Quan · 523K0049</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UC-02 Deliver an order, UC-04 Reports</a:t>
            </a:r>
            <a:endParaRPr lang="en-US" sz="1800" dirty="0"/>
          </a:p>
        </p:txBody>
      </p:sp>
      <p:sp>
        <p:nvSpPr>
          <p:cNvPr id="9" name="Card"/>
          <p:cNvSpPr/>
          <p:nvPr/>
        </p:nvSpPr>
        <p:spPr>
          <a:xfrm>
            <a:off x="8046720" y="3611880"/>
            <a:ext cx="3429000" cy="1463040"/>
          </a:xfrm>
          <a:prstGeom prst="rect">
            <a:avLst/>
          </a:prstGeom>
          <a:solidFill>
            <a:srgbClr val="E3ECF3"/>
          </a:solidFill>
          <a:ln/>
        </p:spPr>
      </p:sp>
      <p:sp>
        <p:nvSpPr>
          <p:cNvPr id="10" name="Text 8"/>
          <p:cNvSpPr txBox="1"/>
          <p:nvPr/>
        </p:nvSpPr>
        <p:spPr>
          <a:xfrm>
            <a:off x="8174736" y="3611880"/>
            <a:ext cx="3172968" cy="146304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Nguyen Minh Quan · 523K0050</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UC-05 Confirm or reject, UC-06 Menus</a:t>
            </a:r>
            <a:endParaRPr lang="en-US" sz="1800" dirty="0"/>
          </a:p>
        </p:txBody>
      </p:sp>
      <p:sp>
        <p:nvSpPr>
          <p:cNvPr id="11" name="Text 9"/>
          <p:cNvSpPr txBox="1"/>
          <p:nvPr/>
        </p:nvSpPr>
        <p:spPr>
          <a:xfrm>
            <a:off x="822960" y="5349240"/>
            <a:ext cx="10058400" cy="36576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Team02  ·  Part 1 proposal, 26 October 2026</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Paper tickets hide the queue: one hub overloads, another idles</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Five pains from the case, and what the platform does about each.</a:t>
            </a:r>
            <a:endParaRPr lang="en-US" sz="1800" dirty="0"/>
          </a:p>
        </p:txBody>
      </p:sp>
      <p:graphicFrame>
        <p:nvGraphicFramePr>
          <p:cNvPr id="3" name="Pain to capability table"/>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5852160"/>
                <a:gridCol w="5425135"/>
              </a:tblGrid>
              <a:tr h="457200">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Pain (from the case)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What the platform does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r>
              <a:tr h="621792">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One hub overloaded, another idle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Busy-hub block, quieter-hub suggestion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21792">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Cash handed over late, with mistakes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Shipper records cash per order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21792">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Ingredient runs out; staff phone customers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Kitchen rejects, or replaces with consent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21792">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Tourists cannot register or pay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Local and tourist types; COD for all</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21792">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No reliable reports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Reports from shared records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5" name="Card"/>
          <p:cNvSpPr/>
          <p:nvPr/>
        </p:nvSpPr>
        <p:spPr>
          <a:xfrm>
            <a:off x="457200" y="5440680"/>
            <a:ext cx="11277295" cy="868680"/>
          </a:xfrm>
          <a:prstGeom prst="rect">
            <a:avLst/>
          </a:prstGeom>
          <a:solidFill>
            <a:srgbClr val="E3ECF3"/>
          </a:solidFill>
          <a:ln/>
        </p:spPr>
      </p:sp>
      <p:sp>
        <p:nvSpPr>
          <p:cNvPr id="6" name="Text 3"/>
          <p:cNvSpPr txBox="1"/>
          <p:nvPr/>
        </p:nvSpPr>
        <p:spPr>
          <a:xfrm>
            <a:off x="585216" y="5440680"/>
            <a:ext cx="11021263" cy="86868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Vision  </a:t>
            </a:r>
            <a:pPr algn="l" indent="0" marL="0">
              <a:buNone/>
            </a:pPr>
            <a:r>
              <a:rPr lang="en-US" sz="1800" dirty="0">
                <a:solidFill>
                  <a:srgbClr val="1F2937"/>
                </a:solidFill>
                <a:latin typeface="Arial" pitchFamily="34" charset="0"/>
                <a:ea typeface="Arial" pitchFamily="34" charset="-122"/>
                <a:cs typeface="Arial" pitchFamily="34" charset="-120"/>
              </a:rPr>
              <a:t>One order record that customer, kitchen, shipper and manager all read.</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
            <a:ext cx="11277295" cy="621792"/>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One lunch order crosses five roles</a:t>
            </a:r>
            <a:endParaRPr lang="en-US" sz="2600" dirty="0"/>
          </a:p>
        </p:txBody>
      </p:sp>
      <p:sp>
        <p:nvSpPr>
          <p:cNvPr id="3" name="Zone label A"/>
          <p:cNvSpPr/>
          <p:nvPr/>
        </p:nvSpPr>
        <p:spPr>
          <a:xfrm>
            <a:off x="692074" y="1105761"/>
            <a:ext cx="3801669" cy="420624"/>
          </a:xfrm>
          <a:prstGeom prst="rect">
            <a:avLst/>
          </a:prstGeom>
          <a:solidFill>
            <a:srgbClr val="E3ECF3"/>
          </a:solidFill>
          <a:ln w="12700">
            <a:solidFill>
              <a:srgbClr val="004387"/>
            </a:solidFill>
            <a:prstDash val="solid"/>
          </a:ln>
        </p:spPr>
      </p:sp>
      <p:sp>
        <p:nvSpPr>
          <p:cNvPr id="4" name="Zone badge A"/>
          <p:cNvSpPr/>
          <p:nvPr/>
        </p:nvSpPr>
        <p:spPr>
          <a:xfrm>
            <a:off x="737794" y="1169769"/>
            <a:ext cx="292608" cy="292608"/>
          </a:xfrm>
          <a:prstGeom prst="ellipse">
            <a:avLst/>
          </a:prstGeom>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5" name="Zone text A"/>
          <p:cNvSpPr txBox="1"/>
          <p:nvPr/>
        </p:nvSpPr>
        <p:spPr>
          <a:xfrm>
            <a:off x="1140130" y="1105761"/>
            <a:ext cx="3335325" cy="420624"/>
          </a:xfrm>
          <a:prstGeom prst="rect">
            <a:avLst/>
          </a:prstGeom>
          <a:noFill/>
          <a:ln/>
        </p:spPr>
        <p:txBody>
          <a:bodyPr wrap="non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Order and pay</a:t>
            </a:r>
            <a:endParaRPr lang="en-US" sz="1800" dirty="0"/>
          </a:p>
        </p:txBody>
      </p:sp>
      <p:sp>
        <p:nvSpPr>
          <p:cNvPr id="6" name="Zone label B"/>
          <p:cNvSpPr/>
          <p:nvPr/>
        </p:nvSpPr>
        <p:spPr>
          <a:xfrm>
            <a:off x="4548607" y="1105761"/>
            <a:ext cx="2387293" cy="420624"/>
          </a:xfrm>
          <a:prstGeom prst="rect">
            <a:avLst/>
          </a:prstGeom>
          <a:solidFill>
            <a:srgbClr val="E3ECF3"/>
          </a:solidFill>
          <a:ln w="12700">
            <a:solidFill>
              <a:srgbClr val="004387"/>
            </a:solidFill>
            <a:prstDash val="solid"/>
          </a:ln>
        </p:spPr>
      </p:sp>
      <p:sp>
        <p:nvSpPr>
          <p:cNvPr id="7" name="Zone badge B"/>
          <p:cNvSpPr/>
          <p:nvPr/>
        </p:nvSpPr>
        <p:spPr>
          <a:xfrm>
            <a:off x="4594327" y="1169769"/>
            <a:ext cx="292608" cy="292608"/>
          </a:xfrm>
          <a:prstGeom prst="ellipse">
            <a:avLst/>
          </a:prstGeom>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8" name="Zone text B"/>
          <p:cNvSpPr txBox="1"/>
          <p:nvPr/>
        </p:nvSpPr>
        <p:spPr>
          <a:xfrm>
            <a:off x="4996663" y="1105761"/>
            <a:ext cx="1920949" cy="420624"/>
          </a:xfrm>
          <a:prstGeom prst="rect">
            <a:avLst/>
          </a:prstGeom>
          <a:noFill/>
          <a:ln/>
        </p:spPr>
        <p:txBody>
          <a:bodyPr wrap="non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Kitchen</a:t>
            </a:r>
            <a:endParaRPr lang="en-US" sz="1800" dirty="0"/>
          </a:p>
        </p:txBody>
      </p:sp>
      <p:sp>
        <p:nvSpPr>
          <p:cNvPr id="9" name="Zone label C"/>
          <p:cNvSpPr/>
          <p:nvPr/>
        </p:nvSpPr>
        <p:spPr>
          <a:xfrm>
            <a:off x="6990764" y="1105761"/>
            <a:ext cx="2076130" cy="420624"/>
          </a:xfrm>
          <a:prstGeom prst="rect">
            <a:avLst/>
          </a:prstGeom>
          <a:solidFill>
            <a:srgbClr val="E3ECF3"/>
          </a:solidFill>
          <a:ln w="12700">
            <a:solidFill>
              <a:srgbClr val="004387"/>
            </a:solidFill>
            <a:prstDash val="solid"/>
          </a:ln>
        </p:spPr>
      </p:sp>
      <p:sp>
        <p:nvSpPr>
          <p:cNvPr id="10" name="Zone badge C"/>
          <p:cNvSpPr/>
          <p:nvPr/>
        </p:nvSpPr>
        <p:spPr>
          <a:xfrm>
            <a:off x="7036484" y="1169769"/>
            <a:ext cx="292608" cy="292608"/>
          </a:xfrm>
          <a:prstGeom prst="ellipse">
            <a:avLst/>
          </a:prstGeom>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11" name="Zone text C"/>
          <p:cNvSpPr txBox="1"/>
          <p:nvPr/>
        </p:nvSpPr>
        <p:spPr>
          <a:xfrm>
            <a:off x="7438820" y="1105761"/>
            <a:ext cx="1609786" cy="420624"/>
          </a:xfrm>
          <a:prstGeom prst="rect">
            <a:avLst/>
          </a:prstGeom>
          <a:noFill/>
          <a:ln/>
        </p:spPr>
        <p:txBody>
          <a:bodyPr wrap="non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Delivery, cash</a:t>
            </a:r>
            <a:endParaRPr lang="en-US" sz="1800" dirty="0"/>
          </a:p>
        </p:txBody>
      </p:sp>
      <p:sp>
        <p:nvSpPr>
          <p:cNvPr id="12" name="Zone label D"/>
          <p:cNvSpPr/>
          <p:nvPr/>
        </p:nvSpPr>
        <p:spPr>
          <a:xfrm>
            <a:off x="9121758" y="1105761"/>
            <a:ext cx="2547589" cy="420624"/>
          </a:xfrm>
          <a:prstGeom prst="rect">
            <a:avLst/>
          </a:prstGeom>
          <a:solidFill>
            <a:srgbClr val="E3ECF3"/>
          </a:solidFill>
          <a:ln w="12700">
            <a:solidFill>
              <a:srgbClr val="004387"/>
            </a:solidFill>
            <a:prstDash val="solid"/>
          </a:ln>
        </p:spPr>
      </p:sp>
      <p:sp>
        <p:nvSpPr>
          <p:cNvPr id="13" name="Zone badge D"/>
          <p:cNvSpPr/>
          <p:nvPr/>
        </p:nvSpPr>
        <p:spPr>
          <a:xfrm>
            <a:off x="9167478" y="1169769"/>
            <a:ext cx="292608" cy="292608"/>
          </a:xfrm>
          <a:prstGeom prst="ellipse">
            <a:avLst/>
          </a:prstGeom>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a:t>
            </a:r>
            <a:endParaRPr lang="en-US" sz="1600" dirty="0"/>
          </a:p>
        </p:txBody>
      </p:sp>
      <p:sp>
        <p:nvSpPr>
          <p:cNvPr id="14" name="Zone text D"/>
          <p:cNvSpPr txBox="1"/>
          <p:nvPr/>
        </p:nvSpPr>
        <p:spPr>
          <a:xfrm>
            <a:off x="9569814" y="1105761"/>
            <a:ext cx="2081245" cy="420624"/>
          </a:xfrm>
          <a:prstGeom prst="rect">
            <a:avLst/>
          </a:prstGeom>
          <a:noFill/>
          <a:ln/>
        </p:spPr>
        <p:txBody>
          <a:bodyPr wrap="non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Receipt, refund</a:t>
            </a:r>
            <a:endParaRPr lang="en-US" sz="1800" dirty="0"/>
          </a:p>
        </p:txBody>
      </p:sp>
      <p:pic>
        <p:nvPicPr>
          <p:cNvPr id="15" name="Figure 1 overall" descr="Overall business process, five swimlanes">    </p:cNvPr>
          <p:cNvPicPr>
            <a:picLocks noChangeAspect="1"/>
          </p:cNvPicPr>
          <p:nvPr/>
        </p:nvPicPr>
        <p:blipFill>
          <a:blip r:embed="rId1"/>
          <a:stretch>
            <a:fillRect/>
          </a:stretch>
        </p:blipFill>
        <p:spPr>
          <a:xfrm>
            <a:off x="457200" y="1617825"/>
            <a:ext cx="11277295" cy="4518461"/>
          </a:xfrm>
          <a:prstGeom prst="rect">
            <a:avLst/>
          </a:prstGeom>
        </p:spPr>
      </p:pic>
      <p:sp>
        <p:nvSpPr>
          <p:cNvPr id="16" name="Figure reference"/>
          <p:cNvSpPr txBox="1"/>
          <p:nvPr/>
        </p:nvSpPr>
        <p:spPr>
          <a:xfrm>
            <a:off x="2926080" y="6446520"/>
            <a:ext cx="512064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Figure 1 (proposal Section 3)</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
            <a:ext cx="11277295" cy="621792"/>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A busy hub redirects the customer before any order exists</a:t>
            </a:r>
            <a:endParaRPr lang="en-US" sz="2600" dirty="0"/>
          </a:p>
        </p:txBody>
      </p:sp>
      <p:sp>
        <p:nvSpPr>
          <p:cNvPr id="3" name="Zone A"/>
          <p:cNvSpPr/>
          <p:nvPr/>
        </p:nvSpPr>
        <p:spPr>
          <a:xfrm>
            <a:off x="9786823" y="6469380"/>
            <a:ext cx="274320" cy="274320"/>
          </a:xfrm>
          <a:prstGeom prst="rect">
            <a:avLst/>
          </a:prstGeom>
          <a:solidFill>
            <a:srgbClr val="004387"/>
          </a:solidFill>
          <a:ln w="12700">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4" name="Zone B"/>
          <p:cNvSpPr/>
          <p:nvPr/>
        </p:nvSpPr>
        <p:spPr>
          <a:xfrm>
            <a:off x="10116007"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B</a:t>
            </a:r>
            <a:endParaRPr lang="en-US" sz="1600" dirty="0"/>
          </a:p>
        </p:txBody>
      </p:sp>
      <p:sp>
        <p:nvSpPr>
          <p:cNvPr id="5" name="Zone C"/>
          <p:cNvSpPr/>
          <p:nvPr/>
        </p:nvSpPr>
        <p:spPr>
          <a:xfrm>
            <a:off x="10445191"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C</a:t>
            </a:r>
            <a:endParaRPr lang="en-US" sz="1600" dirty="0"/>
          </a:p>
        </p:txBody>
      </p:sp>
      <p:sp>
        <p:nvSpPr>
          <p:cNvPr id="6" name="Zone D"/>
          <p:cNvSpPr/>
          <p:nvPr/>
        </p:nvSpPr>
        <p:spPr>
          <a:xfrm>
            <a:off x="10774375"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D</a:t>
            </a:r>
            <a:endParaRPr lang="en-US" sz="1600" dirty="0"/>
          </a:p>
        </p:txBody>
      </p:sp>
      <p:pic>
        <p:nvPicPr>
          <p:cNvPr id="7" name="Figure 1 Part A" descr="Figure 1 Part A">    </p:cNvPr>
          <p:cNvPicPr>
            <a:picLocks noChangeAspect="1"/>
          </p:cNvPicPr>
          <p:nvPr/>
        </p:nvPicPr>
        <p:blipFill>
          <a:blip r:embed="rId1"/>
          <a:stretch>
            <a:fillRect/>
          </a:stretch>
        </p:blipFill>
        <p:spPr>
          <a:xfrm>
            <a:off x="457200" y="1406285"/>
            <a:ext cx="11277295" cy="4447765"/>
          </a:xfrm>
          <a:prstGeom prst="rect">
            <a:avLst/>
          </a:prstGeom>
        </p:spPr>
      </p:pic>
      <p:sp>
        <p:nvSpPr>
          <p:cNvPr id="8" name="Figure reference"/>
          <p:cNvSpPr txBox="1"/>
          <p:nvPr/>
        </p:nvSpPr>
        <p:spPr>
          <a:xfrm>
            <a:off x="2926080" y="6446520"/>
            <a:ext cx="512064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Figure 1a (proposal Section 3.1)</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
            <a:ext cx="11277295" cy="621792"/>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The kitchen confirms, offers a replacement, or rejects</a:t>
            </a:r>
            <a:endParaRPr lang="en-US" sz="2600" dirty="0"/>
          </a:p>
        </p:txBody>
      </p:sp>
      <p:sp>
        <p:nvSpPr>
          <p:cNvPr id="3" name="Zone A"/>
          <p:cNvSpPr/>
          <p:nvPr/>
        </p:nvSpPr>
        <p:spPr>
          <a:xfrm>
            <a:off x="9786823"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A</a:t>
            </a:r>
            <a:endParaRPr lang="en-US" sz="1600" dirty="0"/>
          </a:p>
        </p:txBody>
      </p:sp>
      <p:sp>
        <p:nvSpPr>
          <p:cNvPr id="4" name="Zone B"/>
          <p:cNvSpPr/>
          <p:nvPr/>
        </p:nvSpPr>
        <p:spPr>
          <a:xfrm>
            <a:off x="10116007" y="6469380"/>
            <a:ext cx="274320" cy="274320"/>
          </a:xfrm>
          <a:prstGeom prst="rect">
            <a:avLst/>
          </a:prstGeom>
          <a:solidFill>
            <a:srgbClr val="004387"/>
          </a:solidFill>
          <a:ln w="12700">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5" name="Zone C"/>
          <p:cNvSpPr/>
          <p:nvPr/>
        </p:nvSpPr>
        <p:spPr>
          <a:xfrm>
            <a:off x="10445191"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C</a:t>
            </a:r>
            <a:endParaRPr lang="en-US" sz="1600" dirty="0"/>
          </a:p>
        </p:txBody>
      </p:sp>
      <p:sp>
        <p:nvSpPr>
          <p:cNvPr id="6" name="Zone D"/>
          <p:cNvSpPr/>
          <p:nvPr/>
        </p:nvSpPr>
        <p:spPr>
          <a:xfrm>
            <a:off x="10774375"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D</a:t>
            </a:r>
            <a:endParaRPr lang="en-US" sz="1600" dirty="0"/>
          </a:p>
        </p:txBody>
      </p:sp>
      <p:pic>
        <p:nvPicPr>
          <p:cNvPr id="7" name="Figure 1 Part B" descr="Figure 1 Part B">    </p:cNvPr>
          <p:cNvPicPr>
            <a:picLocks noChangeAspect="1"/>
          </p:cNvPicPr>
          <p:nvPr/>
        </p:nvPicPr>
        <p:blipFill>
          <a:blip r:embed="rId1"/>
          <a:stretch>
            <a:fillRect/>
          </a:stretch>
        </p:blipFill>
        <p:spPr>
          <a:xfrm>
            <a:off x="1609836" y="859536"/>
            <a:ext cx="8972023" cy="5056632"/>
          </a:xfrm>
          <a:prstGeom prst="rect">
            <a:avLst/>
          </a:prstGeom>
        </p:spPr>
      </p:pic>
      <p:sp>
        <p:nvSpPr>
          <p:cNvPr id="8" name="Card"/>
          <p:cNvSpPr/>
          <p:nvPr/>
        </p:nvSpPr>
        <p:spPr>
          <a:xfrm>
            <a:off x="457200" y="5971032"/>
            <a:ext cx="11277295" cy="429768"/>
          </a:xfrm>
          <a:prstGeom prst="rect">
            <a:avLst/>
          </a:prstGeom>
          <a:solidFill>
            <a:srgbClr val="F3F5F7"/>
          </a:solidFill>
          <a:ln/>
        </p:spPr>
      </p:sp>
      <p:sp>
        <p:nvSpPr>
          <p:cNvPr id="9" name="Text 6"/>
          <p:cNvSpPr txBox="1"/>
          <p:nvPr/>
        </p:nvSpPr>
        <p:spPr>
          <a:xfrm>
            <a:off x="585216" y="5971032"/>
            <a:ext cx="11021263" cy="429768"/>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Part E  </a:t>
            </a:r>
            <a:pPr algn="l" indent="0" marL="0">
              <a:buNone/>
            </a:pPr>
            <a:r>
              <a:rPr lang="en-US" sz="1800" dirty="0">
                <a:solidFill>
                  <a:srgbClr val="1F2937"/>
                </a:solidFill>
                <a:latin typeface="Arial" pitchFamily="34" charset="0"/>
                <a:ea typeface="Arial" pitchFamily="34" charset="-122"/>
                <a:cs typeface="Arial" pitchFamily="34" charset="-120"/>
              </a:rPr>
              <a:t>The customer may cancel until cooking starts: a separate activity (proposal Figure 1e).</a:t>
            </a:r>
            <a:endParaRPr lang="en-US" sz="1800" dirty="0"/>
          </a:p>
        </p:txBody>
      </p:sp>
      <p:sp>
        <p:nvSpPr>
          <p:cNvPr id="10" name="Figure reference"/>
          <p:cNvSpPr txBox="1"/>
          <p:nvPr/>
        </p:nvSpPr>
        <p:spPr>
          <a:xfrm>
            <a:off x="2926080" y="6446520"/>
            <a:ext cx="512064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Figure 1b (proposal Section 3.1)</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
            <a:ext cx="11277295" cy="621792"/>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Delivered is not paid: cash is collected, then reconciled</a:t>
            </a:r>
            <a:endParaRPr lang="en-US" sz="2600" dirty="0"/>
          </a:p>
        </p:txBody>
      </p:sp>
      <p:sp>
        <p:nvSpPr>
          <p:cNvPr id="3" name="Zone A"/>
          <p:cNvSpPr/>
          <p:nvPr/>
        </p:nvSpPr>
        <p:spPr>
          <a:xfrm>
            <a:off x="9786823"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A</a:t>
            </a:r>
            <a:endParaRPr lang="en-US" sz="1600" dirty="0"/>
          </a:p>
        </p:txBody>
      </p:sp>
      <p:sp>
        <p:nvSpPr>
          <p:cNvPr id="4" name="Zone B"/>
          <p:cNvSpPr/>
          <p:nvPr/>
        </p:nvSpPr>
        <p:spPr>
          <a:xfrm>
            <a:off x="10116007"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B</a:t>
            </a:r>
            <a:endParaRPr lang="en-US" sz="1600" dirty="0"/>
          </a:p>
        </p:txBody>
      </p:sp>
      <p:sp>
        <p:nvSpPr>
          <p:cNvPr id="5" name="Zone C"/>
          <p:cNvSpPr/>
          <p:nvPr/>
        </p:nvSpPr>
        <p:spPr>
          <a:xfrm>
            <a:off x="10445191" y="6469380"/>
            <a:ext cx="274320" cy="274320"/>
          </a:xfrm>
          <a:prstGeom prst="rect">
            <a:avLst/>
          </a:prstGeom>
          <a:solidFill>
            <a:srgbClr val="004387"/>
          </a:solidFill>
          <a:ln w="12700">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6" name="Zone D"/>
          <p:cNvSpPr/>
          <p:nvPr/>
        </p:nvSpPr>
        <p:spPr>
          <a:xfrm>
            <a:off x="10774375"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D</a:t>
            </a:r>
            <a:endParaRPr lang="en-US" sz="1600" dirty="0"/>
          </a:p>
        </p:txBody>
      </p:sp>
      <p:pic>
        <p:nvPicPr>
          <p:cNvPr id="7" name="Figure 1 Part C" descr="Figure 1 Part C">    </p:cNvPr>
          <p:cNvPicPr>
            <a:picLocks noChangeAspect="1"/>
          </p:cNvPicPr>
          <p:nvPr/>
        </p:nvPicPr>
        <p:blipFill>
          <a:blip r:embed="rId1"/>
          <a:stretch>
            <a:fillRect/>
          </a:stretch>
        </p:blipFill>
        <p:spPr>
          <a:xfrm>
            <a:off x="1335312" y="859536"/>
            <a:ext cx="9521072" cy="5541264"/>
          </a:xfrm>
          <a:prstGeom prst="rect">
            <a:avLst/>
          </a:prstGeom>
        </p:spPr>
      </p:pic>
      <p:sp>
        <p:nvSpPr>
          <p:cNvPr id="8" name="Figure reference"/>
          <p:cNvSpPr txBox="1"/>
          <p:nvPr/>
        </p:nvSpPr>
        <p:spPr>
          <a:xfrm>
            <a:off x="2926080" y="6446520"/>
            <a:ext cx="512064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Figure 1c (proposal Section 3.1)</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
            <a:ext cx="11277295" cy="621792"/>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A failure means a full refund owed; only a complaint needs a decision</a:t>
            </a:r>
            <a:endParaRPr lang="en-US" sz="2600" dirty="0"/>
          </a:p>
        </p:txBody>
      </p:sp>
      <p:sp>
        <p:nvSpPr>
          <p:cNvPr id="3" name="Zone A"/>
          <p:cNvSpPr/>
          <p:nvPr/>
        </p:nvSpPr>
        <p:spPr>
          <a:xfrm>
            <a:off x="9786823"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A</a:t>
            </a:r>
            <a:endParaRPr lang="en-US" sz="1600" dirty="0"/>
          </a:p>
        </p:txBody>
      </p:sp>
      <p:sp>
        <p:nvSpPr>
          <p:cNvPr id="4" name="Zone B"/>
          <p:cNvSpPr/>
          <p:nvPr/>
        </p:nvSpPr>
        <p:spPr>
          <a:xfrm>
            <a:off x="10116007"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B</a:t>
            </a:r>
            <a:endParaRPr lang="en-US" sz="1600" dirty="0"/>
          </a:p>
        </p:txBody>
      </p:sp>
      <p:sp>
        <p:nvSpPr>
          <p:cNvPr id="5" name="Zone C"/>
          <p:cNvSpPr/>
          <p:nvPr/>
        </p:nvSpPr>
        <p:spPr>
          <a:xfrm>
            <a:off x="10445191" y="6469380"/>
            <a:ext cx="274320" cy="274320"/>
          </a:xfrm>
          <a:prstGeom prst="rect">
            <a:avLst/>
          </a:prstGeom>
          <a:solidFill>
            <a:srgbClr val="E3ECF3"/>
          </a:solidFill>
          <a:ln w="12700">
            <a:solidFill>
              <a:srgbClr val="004387"/>
            </a:solid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C</a:t>
            </a:r>
            <a:endParaRPr lang="en-US" sz="1600" dirty="0"/>
          </a:p>
        </p:txBody>
      </p:sp>
      <p:sp>
        <p:nvSpPr>
          <p:cNvPr id="6" name="Zone D"/>
          <p:cNvSpPr/>
          <p:nvPr/>
        </p:nvSpPr>
        <p:spPr>
          <a:xfrm>
            <a:off x="10774375" y="6469380"/>
            <a:ext cx="274320" cy="274320"/>
          </a:xfrm>
          <a:prstGeom prst="rect">
            <a:avLst/>
          </a:prstGeom>
          <a:solidFill>
            <a:srgbClr val="004387"/>
          </a:solidFill>
          <a:ln w="12700">
            <a:solidFill>
              <a:srgbClr val="004387"/>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a:t>
            </a:r>
            <a:endParaRPr lang="en-US" sz="1600" dirty="0"/>
          </a:p>
        </p:txBody>
      </p:sp>
      <p:pic>
        <p:nvPicPr>
          <p:cNvPr id="7" name="Figure 1 Part D" descr="Figure 1 Part D">    </p:cNvPr>
          <p:cNvPicPr>
            <a:picLocks noChangeAspect="1"/>
          </p:cNvPicPr>
          <p:nvPr/>
        </p:nvPicPr>
        <p:blipFill>
          <a:blip r:embed="rId1"/>
          <a:stretch>
            <a:fillRect/>
          </a:stretch>
        </p:blipFill>
        <p:spPr>
          <a:xfrm>
            <a:off x="880049" y="859536"/>
            <a:ext cx="10431596" cy="5541264"/>
          </a:xfrm>
          <a:prstGeom prst="rect">
            <a:avLst/>
          </a:prstGeom>
        </p:spPr>
      </p:pic>
      <p:sp>
        <p:nvSpPr>
          <p:cNvPr id="8" name="Figure reference"/>
          <p:cNvSpPr txBox="1"/>
          <p:nvPr/>
        </p:nvSpPr>
        <p:spPr>
          <a:xfrm>
            <a:off x="2926080" y="6446520"/>
            <a:ext cx="5120640" cy="320040"/>
          </a:xfrm>
          <a:prstGeom prst="rect">
            <a:avLst/>
          </a:prstGeom>
          <a:noFill/>
          <a:ln/>
        </p:spPr>
        <p:txBody>
          <a:bodyPr wrap="square" lIns="0" tIns="0" rIns="0" bIns="0" rtlCol="0" anchor="ctr"/>
          <a:lstStyle/>
          <a:p>
            <a:pPr algn="l" indent="0" marL="0">
              <a:buNone/>
            </a:pPr>
            <a:r>
              <a:rPr lang="en-US" sz="1600" dirty="0">
                <a:solidFill>
                  <a:srgbClr val="5B6472"/>
                </a:solidFill>
                <a:latin typeface="Arial" pitchFamily="34" charset="0"/>
                <a:ea typeface="Arial" pitchFamily="34" charset="-122"/>
                <a:cs typeface="Arial" pitchFamily="34" charset="-120"/>
              </a:rPr>
              <a:t>Figure 1d (proposal Section 3.1)</a:t>
            </a:r>
            <a:endParaRPr lang="en-US" sz="16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Actors and responsibilities</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Six roles in the business and one outside system.</a:t>
            </a:r>
            <a:endParaRPr lang="en-US" sz="1800" dirty="0"/>
          </a:p>
        </p:txBody>
      </p:sp>
      <p:graphicFrame>
        <p:nvGraphicFramePr>
          <p:cNvPr id="9" name="Actor table"/>
          <p:cNvGraphicFramePr>
            <a:graphicFrameLocks noGrp="1"/>
          </p:cNvGraphicFramePr>
          <p:nvPr>
            <p:extLst>
              <p:ext uri="{D42A27DB-BD31-4B8C-83A1-F6EECF244321}">
                <p14:modId xmlns:p14="http://schemas.microsoft.com/office/powerpoint/2010/main" val="1579011935"/>
              </p:ext>
            </p:extLst>
          </p:nvPr>
        </p:nvGraphicFramePr>
        <p:xfrm>
          <a:off x="457200" y="1645920"/>
          <a:ext cx="11277295" cy="914400"/>
        </p:xfrm>
        <a:graphic>
          <a:graphicData uri="http://schemas.openxmlformats.org/drawingml/2006/table">
            <a:tbl>
              <a:tblPr/>
              <a:tblGrid>
                <a:gridCol w="2651760"/>
                <a:gridCol w="5852160"/>
                <a:gridCol w="2773375"/>
              </a:tblGrid>
              <a:tr h="411480">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Actor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Responsibility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Main use case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Customer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Orders, pays, may cancel or complain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Kitchen staff</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Confirms, rejects or replaces; cooks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UC-05</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Shipper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Delivers, records cash per order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UC-02</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Office staff</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Reconciles cash, decides complaints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in process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Admin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Keeps hubs, capacity and menus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UC-03, UC-06</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Manager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Reads sales, workload, delivery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UC-04</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48640">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Payment provider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Online result (our stub)</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Six main use cases, two per student, cover all four groups</a:t>
            </a:r>
            <a:endParaRPr lang="en-US" sz="2600" dirty="0"/>
          </a:p>
        </p:txBody>
      </p:sp>
      <p:graphicFrame>
        <p:nvGraphicFramePr>
          <p:cNvPr id="10" name="Ownership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77295" cy="914400"/>
        </p:xfrm>
        <a:graphic>
          <a:graphicData uri="http://schemas.openxmlformats.org/drawingml/2006/table">
            <a:tbl>
              <a:tblPr/>
              <a:tblGrid>
                <a:gridCol w="914400"/>
                <a:gridCol w="3840480"/>
                <a:gridCol w="1645920"/>
                <a:gridCol w="1920240"/>
                <a:gridCol w="1097280"/>
                <a:gridCol w="1858975"/>
              </a:tblGrid>
              <a:tr h="393192">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ID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Use case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Actor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Group</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Owner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State machine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r>
              <a:tr h="39319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UC-01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Place an order (#3)</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Customer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(a) ordering</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Order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39319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UC-02</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Deliver an order (#10)</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Shipper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(b) fulfilment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Quan L.</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Delivery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39319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UC-03</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Manage hubs, capacity (#13)</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Admin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 full CRUD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Hub</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39319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UC-04</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Produce reports (#16)</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Manager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 report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Quan L.</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none (read-only)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39319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UC-05</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Confirm or reject an order (#7)</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Kitchen staff</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(b) fulfilment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Quan 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uses Order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39319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UC-06</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Manage brands, menu items (#14)</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Admin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 full CRUD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Quan 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MenuItem</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4" name="Card"/>
          <p:cNvSpPr/>
          <p:nvPr/>
        </p:nvSpPr>
        <p:spPr>
          <a:xfrm>
            <a:off x="457200" y="4160520"/>
            <a:ext cx="11277295" cy="457200"/>
          </a:xfrm>
          <a:prstGeom prst="rect">
            <a:avLst/>
          </a:prstGeom>
          <a:solidFill>
            <a:srgbClr val="FBE9E7"/>
          </a:solidFill>
          <a:ln/>
        </p:spPr>
      </p:sp>
      <p:sp>
        <p:nvSpPr>
          <p:cNvPr id="5" name="Text 2"/>
          <p:cNvSpPr txBox="1"/>
          <p:nvPr/>
        </p:nvSpPr>
        <p:spPr>
          <a:xfrm>
            <a:off x="585216" y="4160520"/>
            <a:ext cx="11021263" cy="457200"/>
          </a:xfrm>
          <a:prstGeom prst="rect">
            <a:avLst/>
          </a:prstGeom>
          <a:noFill/>
          <a:ln/>
        </p:spPr>
        <p:txBody>
          <a:bodyPr wrap="square" lIns="0" tIns="0" rIns="0" bIns="0" rtlCol="0" anchor="ctr"/>
          <a:lstStyle/>
          <a:p>
            <a:pPr algn="l" indent="0" marL="0">
              <a:buNone/>
            </a:pPr>
            <a:r>
              <a:rPr lang="en-US" sz="1800" b="1" dirty="0">
                <a:solidFill>
                  <a:srgbClr val="C95B55"/>
                </a:solidFill>
                <a:latin typeface="Arial" pitchFamily="34" charset="0"/>
                <a:ea typeface="Arial" pitchFamily="34" charset="-122"/>
                <a:cs typeface="Arial" pitchFamily="34" charset="-120"/>
              </a:rPr>
              <a:t>Built today (Iteration 1)   </a:t>
            </a:r>
            <a:pPr algn="l" indent="0" marL="0">
              <a:buNone/>
            </a:pPr>
            <a:r>
              <a:rPr lang="en-US" sz="1800" dirty="0">
                <a:solidFill>
                  <a:srgbClr val="1F2937"/>
                </a:solidFill>
                <a:latin typeface="Arial" pitchFamily="34" charset="0"/>
                <a:ea typeface="Arial" pitchFamily="34" charset="-122"/>
                <a:cs typeface="Arial" pitchFamily="34" charset="-120"/>
              </a:rPr>
              <a:t>UC-01 subset: one persisted COD order</a:t>
            </a:r>
            <a:endParaRPr lang="en-US" sz="1800" dirty="0"/>
          </a:p>
        </p:txBody>
      </p:sp>
      <p:sp>
        <p:nvSpPr>
          <p:cNvPr id="6" name="Card"/>
          <p:cNvSpPr/>
          <p:nvPr/>
        </p:nvSpPr>
        <p:spPr>
          <a:xfrm>
            <a:off x="457200" y="4690872"/>
            <a:ext cx="11277295" cy="457200"/>
          </a:xfrm>
          <a:prstGeom prst="rect">
            <a:avLst/>
          </a:prstGeom>
          <a:solidFill>
            <a:srgbClr val="E3ECF3"/>
          </a:solidFill>
          <a:ln/>
        </p:spPr>
      </p:sp>
      <p:sp>
        <p:nvSpPr>
          <p:cNvPr id="7" name="Text 4"/>
          <p:cNvSpPr txBox="1"/>
          <p:nvPr/>
        </p:nvSpPr>
        <p:spPr>
          <a:xfrm>
            <a:off x="585216" y="4690872"/>
            <a:ext cx="11021263" cy="45720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Planned build for Part 2   </a:t>
            </a:r>
            <a:pPr algn="l" indent="0" marL="0">
              <a:buNone/>
            </a:pPr>
            <a:r>
              <a:rPr lang="en-US" sz="1800" dirty="0">
                <a:solidFill>
                  <a:srgbClr val="1F2937"/>
                </a:solidFill>
                <a:latin typeface="Arial" pitchFamily="34" charset="0"/>
                <a:ea typeface="Arial" pitchFamily="34" charset="-122"/>
                <a:cs typeface="Arial" pitchFamily="34" charset="-120"/>
              </a:rPr>
              <a:t>UC-01 to UC-06 in one application</a:t>
            </a:r>
            <a:endParaRPr lang="en-US" sz="1800" dirty="0"/>
          </a:p>
        </p:txBody>
      </p:sp>
      <p:sp>
        <p:nvSpPr>
          <p:cNvPr id="8" name="Card"/>
          <p:cNvSpPr/>
          <p:nvPr/>
        </p:nvSpPr>
        <p:spPr>
          <a:xfrm>
            <a:off x="457200" y="5221224"/>
            <a:ext cx="11277295" cy="457200"/>
          </a:xfrm>
          <a:prstGeom prst="rect">
            <a:avLst/>
          </a:prstGeom>
          <a:solidFill>
            <a:srgbClr val="E3ECF3"/>
          </a:solidFill>
          <a:ln/>
        </p:spPr>
      </p:sp>
      <p:sp>
        <p:nvSpPr>
          <p:cNvPr id="9" name="Text 6"/>
          <p:cNvSpPr txBox="1"/>
          <p:nvPr/>
        </p:nvSpPr>
        <p:spPr>
          <a:xfrm>
            <a:off x="585216" y="5221224"/>
            <a:ext cx="11021263" cy="45720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Analysed only (pending L1)   </a:t>
            </a:r>
            <a:pPr algn="l" indent="0" marL="0">
              <a:buNone/>
            </a:pPr>
            <a:r>
              <a:rPr lang="en-US" sz="1800" dirty="0">
                <a:solidFill>
                  <a:srgbClr val="1F2937"/>
                </a:solidFill>
                <a:latin typeface="Arial" pitchFamily="34" charset="0"/>
                <a:ea typeface="Arial" pitchFamily="34" charset="-122"/>
                <a:cs typeface="Arial" pitchFamily="34" charset="-120"/>
              </a:rPr>
              <a:t>Cancel, voucher admin, accounts, order tracking</a:t>
            </a:r>
            <a:endParaRPr lang="en-US" sz="1800" dirty="0"/>
          </a:p>
        </p:txBody>
      </p:sp>
      <p:sp>
        <p:nvSpPr>
          <p:cNvPr id="10" name="Card"/>
          <p:cNvSpPr/>
          <p:nvPr/>
        </p:nvSpPr>
        <p:spPr>
          <a:xfrm>
            <a:off x="457200" y="5751576"/>
            <a:ext cx="11277295" cy="457200"/>
          </a:xfrm>
          <a:prstGeom prst="rect">
            <a:avLst/>
          </a:prstGeom>
          <a:solidFill>
            <a:srgbClr val="F3F5F7"/>
          </a:solidFill>
          <a:ln/>
        </p:spPr>
      </p:sp>
      <p:sp>
        <p:nvSpPr>
          <p:cNvPr id="11" name="Text 8"/>
          <p:cNvSpPr txBox="1"/>
          <p:nvPr/>
        </p:nvSpPr>
        <p:spPr>
          <a:xfrm>
            <a:off x="585216" y="5751576"/>
            <a:ext cx="11021263" cy="457200"/>
          </a:xfrm>
          <a:prstGeom prst="rect">
            <a:avLst/>
          </a:prstGeom>
          <a:noFill/>
          <a:ln/>
        </p:spPr>
        <p:txBody>
          <a:bodyPr wrap="square" lIns="0" tIns="0" rIns="0" bIns="0" rtlCol="0" anchor="ctr"/>
          <a:lstStyle/>
          <a:p>
            <a:pPr algn="l" indent="0" marL="0">
              <a:buNone/>
            </a:pPr>
            <a:r>
              <a:rPr lang="en-US" sz="1800" b="1" dirty="0">
                <a:solidFill>
                  <a:srgbClr val="5B6472"/>
                </a:solidFill>
                <a:latin typeface="Arial" pitchFamily="34" charset="0"/>
                <a:ea typeface="Arial" pitchFamily="34" charset="-122"/>
                <a:cs typeface="Arial" pitchFamily="34" charset="-120"/>
              </a:rPr>
              <a:t>Deferred (pending L3)   </a:t>
            </a:r>
            <a:pPr algn="l" indent="0" marL="0">
              <a:buNone/>
            </a:pPr>
            <a:r>
              <a:rPr lang="en-US" sz="1800" dirty="0">
                <a:solidFill>
                  <a:srgbClr val="1F2937"/>
                </a:solidFill>
                <a:latin typeface="Arial" pitchFamily="34" charset="0"/>
                <a:ea typeface="Arial" pitchFamily="34" charset="-122"/>
                <a:cs typeface="Arial" pitchFamily="34" charset="-120"/>
              </a:rPr>
              <a:t>Complaint, refund payout, rating</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Short iterations, because the client’s rules are still open</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Six iterations; each one analyses, designs, builds, tests and ends with a team review.</a:t>
            </a:r>
            <a:endParaRPr lang="en-US" sz="1800" dirty="0"/>
          </a:p>
        </p:txBody>
      </p:sp>
      <p:sp>
        <p:nvSpPr>
          <p:cNvPr id="4" name="Text 2"/>
          <p:cNvSpPr txBox="1"/>
          <p:nvPr/>
        </p:nvSpPr>
        <p:spPr>
          <a:xfrm>
            <a:off x="457200" y="1600200"/>
            <a:ext cx="5303520" cy="365760"/>
          </a:xfrm>
          <a:prstGeom prst="rect">
            <a:avLst/>
          </a:prstGeom>
          <a:noFill/>
          <a:ln/>
        </p:spPr>
        <p:txBody>
          <a:bodyPr wrap="square" lIns="0" tIns="0" rIns="0" bIns="0" rtlCol="0" anchor="ctr"/>
          <a:lstStyle/>
          <a:p>
            <a:pPr indent="0" marL="0">
              <a:buNone/>
            </a:pPr>
            <a:r>
              <a:rPr lang="en-US" sz="1800" b="1" dirty="0">
                <a:solidFill>
                  <a:srgbClr val="004387"/>
                </a:solidFill>
                <a:latin typeface="Arial" pitchFamily="34" charset="0"/>
                <a:ea typeface="Arial" pitchFamily="34" charset="-122"/>
                <a:cs typeface="Arial" pitchFamily="34" charset="-120"/>
              </a:rPr>
              <a:t>Why iterative</a:t>
            </a:r>
            <a:endParaRPr lang="en-US" sz="1800" dirty="0"/>
          </a:p>
        </p:txBody>
      </p:sp>
      <p:sp>
        <p:nvSpPr>
          <p:cNvPr id="5" name="Card"/>
          <p:cNvSpPr/>
          <p:nvPr/>
        </p:nvSpPr>
        <p:spPr>
          <a:xfrm>
            <a:off x="457200" y="2011680"/>
            <a:ext cx="5303520" cy="914400"/>
          </a:xfrm>
          <a:prstGeom prst="rect">
            <a:avLst/>
          </a:prstGeom>
          <a:solidFill>
            <a:srgbClr val="E3ECF3"/>
          </a:solidFill>
          <a:ln/>
        </p:spPr>
      </p:sp>
      <p:sp>
        <p:nvSpPr>
          <p:cNvPr id="6" name="Text 4"/>
          <p:cNvSpPr txBox="1"/>
          <p:nvPr/>
        </p:nvSpPr>
        <p:spPr>
          <a:xfrm>
            <a:off x="585216" y="2011680"/>
            <a:ext cx="5047488" cy="91440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1 Answers pending</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Client figures arrive later</a:t>
            </a:r>
            <a:endParaRPr lang="en-US" sz="1800" dirty="0"/>
          </a:p>
        </p:txBody>
      </p:sp>
      <p:sp>
        <p:nvSpPr>
          <p:cNvPr id="7" name="Card"/>
          <p:cNvSpPr/>
          <p:nvPr/>
        </p:nvSpPr>
        <p:spPr>
          <a:xfrm>
            <a:off x="457200" y="3035808"/>
            <a:ext cx="5303520" cy="914400"/>
          </a:xfrm>
          <a:prstGeom prst="rect">
            <a:avLst/>
          </a:prstGeom>
          <a:solidFill>
            <a:srgbClr val="E3ECF3"/>
          </a:solidFill>
          <a:ln/>
        </p:spPr>
      </p:sp>
      <p:sp>
        <p:nvSpPr>
          <p:cNvPr id="8" name="Text 6"/>
          <p:cNvSpPr txBox="1"/>
          <p:nvPr/>
        </p:nvSpPr>
        <p:spPr>
          <a:xfrm>
            <a:off x="585216" y="3035808"/>
            <a:ext cx="5047488" cy="91440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2 One shared Order</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Six use cases grow one record</a:t>
            </a:r>
            <a:endParaRPr lang="en-US" sz="1800" dirty="0"/>
          </a:p>
        </p:txBody>
      </p:sp>
      <p:sp>
        <p:nvSpPr>
          <p:cNvPr id="9" name="Card"/>
          <p:cNvSpPr/>
          <p:nvPr/>
        </p:nvSpPr>
        <p:spPr>
          <a:xfrm>
            <a:off x="457200" y="4059936"/>
            <a:ext cx="5303520" cy="914400"/>
          </a:xfrm>
          <a:prstGeom prst="rect">
            <a:avLst/>
          </a:prstGeom>
          <a:solidFill>
            <a:srgbClr val="E3ECF3"/>
          </a:solidFill>
          <a:ln/>
        </p:spPr>
      </p:sp>
      <p:sp>
        <p:nvSpPr>
          <p:cNvPr id="10" name="Text 8"/>
          <p:cNvSpPr txBox="1"/>
          <p:nvPr/>
        </p:nvSpPr>
        <p:spPr>
          <a:xfrm>
            <a:off x="585216" y="4059936"/>
            <a:ext cx="5047488" cy="91440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3 Fixed deadlines</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Three presentations; team of three</a:t>
            </a:r>
            <a:endParaRPr lang="en-US" sz="1800" dirty="0"/>
          </a:p>
        </p:txBody>
      </p:sp>
      <p:sp>
        <p:nvSpPr>
          <p:cNvPr id="11" name="Card"/>
          <p:cNvSpPr/>
          <p:nvPr/>
        </p:nvSpPr>
        <p:spPr>
          <a:xfrm>
            <a:off x="457200" y="5084064"/>
            <a:ext cx="5303520" cy="914400"/>
          </a:xfrm>
          <a:prstGeom prst="rect">
            <a:avLst/>
          </a:prstGeom>
          <a:solidFill>
            <a:srgbClr val="E3ECF3"/>
          </a:solidFill>
          <a:ln/>
        </p:spPr>
      </p:sp>
      <p:sp>
        <p:nvSpPr>
          <p:cNvPr id="12" name="Text 10"/>
          <p:cNvSpPr txBox="1"/>
          <p:nvPr/>
        </p:nvSpPr>
        <p:spPr>
          <a:xfrm>
            <a:off x="585216" y="5084064"/>
            <a:ext cx="5047488" cy="91440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4 Riskiest first</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Capacity in I2, payment in I3</a:t>
            </a:r>
            <a:endParaRPr lang="en-US" sz="1800" dirty="0"/>
          </a:p>
        </p:txBody>
      </p:sp>
      <p:sp>
        <p:nvSpPr>
          <p:cNvPr id="13" name="Text 11"/>
          <p:cNvSpPr txBox="1"/>
          <p:nvPr/>
        </p:nvSpPr>
        <p:spPr>
          <a:xfrm>
            <a:off x="6217920" y="1600200"/>
            <a:ext cx="5516575" cy="365760"/>
          </a:xfrm>
          <a:prstGeom prst="rect">
            <a:avLst/>
          </a:prstGeom>
          <a:noFill/>
          <a:ln/>
        </p:spPr>
        <p:txBody>
          <a:bodyPr wrap="square" lIns="0" tIns="0" rIns="0" bIns="0" rtlCol="0" anchor="ctr"/>
          <a:lstStyle/>
          <a:p>
            <a:pPr indent="0" marL="0">
              <a:buNone/>
            </a:pPr>
            <a:r>
              <a:rPr lang="en-US" sz="1800" b="1" dirty="0">
                <a:solidFill>
                  <a:srgbClr val="004387"/>
                </a:solidFill>
                <a:latin typeface="Arial" pitchFamily="34" charset="0"/>
                <a:ea typeface="Arial" pitchFamily="34" charset="-122"/>
                <a:cs typeface="Arial" pitchFamily="34" charset="-120"/>
              </a:rPr>
              <a:t>Stack and three layers (team choice)</a:t>
            </a:r>
            <a:endParaRPr lang="en-US" sz="1800" dirty="0"/>
          </a:p>
        </p:txBody>
      </p:sp>
      <p:sp>
        <p:nvSpPr>
          <p:cNvPr id="14" name="Layer label"/>
          <p:cNvSpPr/>
          <p:nvPr/>
        </p:nvSpPr>
        <p:spPr>
          <a:xfrm>
            <a:off x="6217920" y="2011680"/>
            <a:ext cx="1645920" cy="603504"/>
          </a:xfrm>
          <a:prstGeom prst="rect">
            <a:avLst/>
          </a:prstGeom>
          <a:solidFill>
            <a:srgbClr val="004387"/>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View</a:t>
            </a:r>
            <a:endParaRPr lang="en-US" sz="1800" dirty="0"/>
          </a:p>
        </p:txBody>
      </p:sp>
      <p:sp>
        <p:nvSpPr>
          <p:cNvPr id="15" name="Layer text"/>
          <p:cNvSpPr/>
          <p:nvPr/>
        </p:nvSpPr>
        <p:spPr>
          <a:xfrm>
            <a:off x="7863840" y="2011680"/>
            <a:ext cx="3870655" cy="603504"/>
          </a:xfrm>
          <a:prstGeom prst="rect">
            <a:avLst/>
          </a:prstGeom>
          <a:solidFill>
            <a:srgbClr val="E3ECF3"/>
          </a:solidFill>
          <a:ln/>
        </p:spPr>
        <p:txBody>
          <a:bodyPr wrap="square" lIns="0" tIns="1524" rIns="1524" bIns="0" rtlCol="0" anchor="ctr"/>
          <a:lstStyle/>
          <a:p>
            <a:pPr algn="l" indent="0" marL="0">
              <a:buNone/>
            </a:pPr>
            <a:r>
              <a:rPr lang="en-US" sz="1800" dirty="0">
                <a:solidFill>
                  <a:srgbClr val="1F2937"/>
                </a:solidFill>
                <a:latin typeface="Arial" pitchFamily="34" charset="0"/>
                <a:ea typeface="Arial" pitchFamily="34" charset="-122"/>
                <a:cs typeface="Arial" pitchFamily="34" charset="-120"/>
              </a:rPr>
              <a:t>Flask + Jinja2 templates</a:t>
            </a:r>
            <a:endParaRPr lang="en-US" sz="1800" dirty="0"/>
          </a:p>
        </p:txBody>
      </p:sp>
      <p:sp>
        <p:nvSpPr>
          <p:cNvPr id="16" name="Layer label"/>
          <p:cNvSpPr/>
          <p:nvPr/>
        </p:nvSpPr>
        <p:spPr>
          <a:xfrm>
            <a:off x="6217920" y="2724912"/>
            <a:ext cx="1645920" cy="603504"/>
          </a:xfrm>
          <a:prstGeom prst="rect">
            <a:avLst/>
          </a:prstGeom>
          <a:solidFill>
            <a:srgbClr val="004387"/>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Controller</a:t>
            </a:r>
            <a:endParaRPr lang="en-US" sz="1800" dirty="0"/>
          </a:p>
        </p:txBody>
      </p:sp>
      <p:sp>
        <p:nvSpPr>
          <p:cNvPr id="17" name="Layer text"/>
          <p:cNvSpPr/>
          <p:nvPr/>
        </p:nvSpPr>
        <p:spPr>
          <a:xfrm>
            <a:off x="7863840" y="2724912"/>
            <a:ext cx="3870655" cy="603504"/>
          </a:xfrm>
          <a:prstGeom prst="rect">
            <a:avLst/>
          </a:prstGeom>
          <a:solidFill>
            <a:srgbClr val="E3ECF3"/>
          </a:solidFill>
          <a:ln/>
        </p:spPr>
        <p:txBody>
          <a:bodyPr wrap="square" lIns="0" tIns="1524" rIns="1524" bIns="0" rtlCol="0" anchor="ctr"/>
          <a:lstStyle/>
          <a:p>
            <a:pPr algn="l" indent="0" marL="0">
              <a:buNone/>
            </a:pPr>
            <a:r>
              <a:rPr lang="en-US" sz="1800" dirty="0">
                <a:solidFill>
                  <a:srgbClr val="1F2937"/>
                </a:solidFill>
                <a:latin typeface="Arial" pitchFamily="34" charset="0"/>
                <a:ea typeface="Arial" pitchFamily="34" charset="-122"/>
                <a:cs typeface="Arial" pitchFamily="34" charset="-120"/>
              </a:rPr>
              <a:t>One per use case</a:t>
            </a:r>
            <a:endParaRPr lang="en-US" sz="1800" dirty="0"/>
          </a:p>
        </p:txBody>
      </p:sp>
      <p:sp>
        <p:nvSpPr>
          <p:cNvPr id="18" name="Layer label"/>
          <p:cNvSpPr/>
          <p:nvPr/>
        </p:nvSpPr>
        <p:spPr>
          <a:xfrm>
            <a:off x="6217920" y="3438144"/>
            <a:ext cx="1645920" cy="603504"/>
          </a:xfrm>
          <a:prstGeom prst="rect">
            <a:avLst/>
          </a:prstGeom>
          <a:solidFill>
            <a:srgbClr val="004387"/>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Domain</a:t>
            </a:r>
            <a:endParaRPr lang="en-US" sz="1800" dirty="0"/>
          </a:p>
        </p:txBody>
      </p:sp>
      <p:sp>
        <p:nvSpPr>
          <p:cNvPr id="19" name="Layer text"/>
          <p:cNvSpPr/>
          <p:nvPr/>
        </p:nvSpPr>
        <p:spPr>
          <a:xfrm>
            <a:off x="7863840" y="3438144"/>
            <a:ext cx="3870655" cy="603504"/>
          </a:xfrm>
          <a:prstGeom prst="rect">
            <a:avLst/>
          </a:prstGeom>
          <a:solidFill>
            <a:srgbClr val="E3ECF3"/>
          </a:solidFill>
          <a:ln/>
        </p:spPr>
        <p:txBody>
          <a:bodyPr wrap="square" lIns="0" tIns="1524" rIns="1524" bIns="0" rtlCol="0" anchor="ctr"/>
          <a:lstStyle/>
          <a:p>
            <a:pPr algn="l" indent="0" marL="0">
              <a:buNone/>
            </a:pPr>
            <a:r>
              <a:rPr lang="en-US" sz="1800" dirty="0">
                <a:solidFill>
                  <a:srgbClr val="1F2937"/>
                </a:solidFill>
                <a:latin typeface="Arial" pitchFamily="34" charset="0"/>
                <a:ea typeface="Arial" pitchFamily="34" charset="-122"/>
                <a:cs typeface="Arial" pitchFamily="34" charset="-120"/>
              </a:rPr>
              <a:t>Order, Hub, Payment, MenuItem</a:t>
            </a:r>
            <a:endParaRPr lang="en-US" sz="1800" dirty="0"/>
          </a:p>
        </p:txBody>
      </p:sp>
      <p:sp>
        <p:nvSpPr>
          <p:cNvPr id="20" name="Layer label"/>
          <p:cNvSpPr/>
          <p:nvPr/>
        </p:nvSpPr>
        <p:spPr>
          <a:xfrm>
            <a:off x="6217920" y="4151376"/>
            <a:ext cx="1645920" cy="603504"/>
          </a:xfrm>
          <a:prstGeom prst="rect">
            <a:avLst/>
          </a:prstGeom>
          <a:solidFill>
            <a:srgbClr val="004387"/>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DAO</a:t>
            </a:r>
            <a:endParaRPr lang="en-US" sz="1800" dirty="0"/>
          </a:p>
        </p:txBody>
      </p:sp>
      <p:sp>
        <p:nvSpPr>
          <p:cNvPr id="21" name="Layer text"/>
          <p:cNvSpPr/>
          <p:nvPr/>
        </p:nvSpPr>
        <p:spPr>
          <a:xfrm>
            <a:off x="7863840" y="4151376"/>
            <a:ext cx="3870655" cy="603504"/>
          </a:xfrm>
          <a:prstGeom prst="rect">
            <a:avLst/>
          </a:prstGeom>
          <a:solidFill>
            <a:srgbClr val="E3ECF3"/>
          </a:solidFill>
          <a:ln/>
        </p:spPr>
        <p:txBody>
          <a:bodyPr wrap="square" lIns="0" tIns="1524" rIns="1524" bIns="0" rtlCol="0" anchor="ctr"/>
          <a:lstStyle/>
          <a:p>
            <a:pPr algn="l" indent="0" marL="0">
              <a:buNone/>
            </a:pPr>
            <a:r>
              <a:rPr lang="en-US" sz="1800" dirty="0">
                <a:solidFill>
                  <a:srgbClr val="1F2937"/>
                </a:solidFill>
                <a:latin typeface="Arial" pitchFamily="34" charset="0"/>
                <a:ea typeface="Arial" pitchFamily="34" charset="-122"/>
                <a:cs typeface="Arial" pitchFamily="34" charset="-120"/>
              </a:rPr>
              <a:t>sqlite3, hand-written SQL</a:t>
            </a:r>
            <a:endParaRPr lang="en-US" sz="1800" dirty="0"/>
          </a:p>
        </p:txBody>
      </p:sp>
      <p:sp>
        <p:nvSpPr>
          <p:cNvPr id="22" name="Layer label"/>
          <p:cNvSpPr/>
          <p:nvPr/>
        </p:nvSpPr>
        <p:spPr>
          <a:xfrm>
            <a:off x="6217920" y="4864608"/>
            <a:ext cx="1645920" cy="603504"/>
          </a:xfrm>
          <a:prstGeom prst="rect">
            <a:avLst/>
          </a:prstGeom>
          <a:solidFill>
            <a:srgbClr val="004387"/>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Database</a:t>
            </a:r>
            <a:endParaRPr lang="en-US" sz="1800" dirty="0"/>
          </a:p>
        </p:txBody>
      </p:sp>
      <p:sp>
        <p:nvSpPr>
          <p:cNvPr id="23" name="Layer text"/>
          <p:cNvSpPr/>
          <p:nvPr/>
        </p:nvSpPr>
        <p:spPr>
          <a:xfrm>
            <a:off x="7863840" y="4864608"/>
            <a:ext cx="3870655" cy="603504"/>
          </a:xfrm>
          <a:prstGeom prst="rect">
            <a:avLst/>
          </a:prstGeom>
          <a:solidFill>
            <a:srgbClr val="E3ECF3"/>
          </a:solidFill>
          <a:ln/>
        </p:spPr>
        <p:txBody>
          <a:bodyPr wrap="square" lIns="0" tIns="1524" rIns="1524" bIns="0" rtlCol="0" anchor="ctr"/>
          <a:lstStyle/>
          <a:p>
            <a:pPr algn="l" indent="0" marL="0">
              <a:buNone/>
            </a:pPr>
            <a:r>
              <a:rPr lang="en-US" sz="1800" dirty="0">
                <a:solidFill>
                  <a:srgbClr val="1F2937"/>
                </a:solidFill>
                <a:latin typeface="Arial" pitchFamily="34" charset="0"/>
                <a:ea typeface="Arial" pitchFamily="34" charset="-122"/>
                <a:cs typeface="Arial" pitchFamily="34" charset="-120"/>
              </a:rPr>
              <a:t>SQLite, one database</a:t>
            </a:r>
            <a:endParaRPr lang="en-US" sz="1800" dirty="0"/>
          </a:p>
        </p:txBody>
      </p:sp>
      <p:sp>
        <p:nvSpPr>
          <p:cNvPr id="24" name="Card"/>
          <p:cNvSpPr/>
          <p:nvPr/>
        </p:nvSpPr>
        <p:spPr>
          <a:xfrm>
            <a:off x="6217920" y="5596128"/>
            <a:ext cx="5516575" cy="713232"/>
          </a:xfrm>
          <a:prstGeom prst="rect">
            <a:avLst/>
          </a:prstGeom>
          <a:solidFill>
            <a:srgbClr val="F3F5F7"/>
          </a:solidFill>
          <a:ln/>
        </p:spPr>
      </p:sp>
      <p:sp>
        <p:nvSpPr>
          <p:cNvPr id="25" name="Text 23"/>
          <p:cNvSpPr txBox="1"/>
          <p:nvPr/>
        </p:nvSpPr>
        <p:spPr>
          <a:xfrm>
            <a:off x="6345936" y="5596128"/>
            <a:ext cx="5260543" cy="713232"/>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Python 3.13 · pytest · Flask-Login</a:t>
            </a:r>
            <a:endParaRPr lang="en-US" sz="1800" dirty="0"/>
          </a:p>
          <a:p>
            <a:pPr algn="l" indent="0" marL="0">
              <a:buNone/>
            </a:pPr>
            <a:r>
              <a:rPr lang="en-US" sz="1800" dirty="0">
                <a:solidFill>
                  <a:srgbClr val="1F2937"/>
                </a:solidFill>
                <a:latin typeface="Arial" pitchFamily="34" charset="0"/>
                <a:ea typeface="Arial" pitchFamily="34" charset="-122"/>
                <a:cs typeface="Arial" pitchFamily="34" charset="-120"/>
              </a:rPr>
              <a:t>Team choice; pending lecturer confirmation (L4)</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Six iterations; Part 2 never depends on the last one</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Weekly view; red marks are decision points.</a:t>
            </a:r>
            <a:endParaRPr lang="en-US" sz="1800" dirty="0"/>
          </a:p>
        </p:txBody>
      </p:sp>
      <p:sp>
        <p:nvSpPr>
          <p:cNvPr id="4" name="Axis band"/>
          <p:cNvSpPr/>
          <p:nvPr/>
        </p:nvSpPr>
        <p:spPr>
          <a:xfrm>
            <a:off x="457200" y="1572768"/>
            <a:ext cx="11277295" cy="365760"/>
          </a:xfrm>
          <a:prstGeom prst="rect">
            <a:avLst/>
          </a:prstGeom>
          <a:solidFill>
            <a:srgbClr val="F3F5F7"/>
          </a:solidFill>
          <a:ln/>
        </p:spPr>
      </p:sp>
      <p:sp>
        <p:nvSpPr>
          <p:cNvPr id="5" name="Text 3"/>
          <p:cNvSpPr txBox="1"/>
          <p:nvPr/>
        </p:nvSpPr>
        <p:spPr>
          <a:xfrm>
            <a:off x="530352" y="1572768"/>
            <a:ext cx="3931920" cy="365760"/>
          </a:xfrm>
          <a:prstGeom prst="rect">
            <a:avLst/>
          </a:prstGeom>
          <a:noFill/>
          <a:ln/>
        </p:spPr>
        <p:txBody>
          <a:bodyPr wrap="squar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Iteration or milestone</a:t>
            </a:r>
            <a:endParaRPr lang="en-US" sz="1600" dirty="0"/>
          </a:p>
        </p:txBody>
      </p:sp>
      <p:sp>
        <p:nvSpPr>
          <p:cNvPr id="6" name="Row band"/>
          <p:cNvSpPr/>
          <p:nvPr/>
        </p:nvSpPr>
        <p:spPr>
          <a:xfrm>
            <a:off x="457200" y="2011680"/>
            <a:ext cx="11277295" cy="265176"/>
          </a:xfrm>
          <a:prstGeom prst="rect">
            <a:avLst/>
          </a:prstGeom>
          <a:solidFill>
            <a:srgbClr val="F8FAFC"/>
          </a:solidFill>
          <a:ln/>
        </p:spPr>
      </p:sp>
      <p:sp>
        <p:nvSpPr>
          <p:cNvPr id="7" name="Row band"/>
          <p:cNvSpPr/>
          <p:nvPr/>
        </p:nvSpPr>
        <p:spPr>
          <a:xfrm>
            <a:off x="457200" y="2542032"/>
            <a:ext cx="11277295" cy="265176"/>
          </a:xfrm>
          <a:prstGeom prst="rect">
            <a:avLst/>
          </a:prstGeom>
          <a:solidFill>
            <a:srgbClr val="F8FAFC"/>
          </a:solidFill>
          <a:ln/>
        </p:spPr>
      </p:sp>
      <p:sp>
        <p:nvSpPr>
          <p:cNvPr id="8" name="Row band"/>
          <p:cNvSpPr/>
          <p:nvPr/>
        </p:nvSpPr>
        <p:spPr>
          <a:xfrm>
            <a:off x="457200" y="3072384"/>
            <a:ext cx="11277295" cy="265176"/>
          </a:xfrm>
          <a:prstGeom prst="rect">
            <a:avLst/>
          </a:prstGeom>
          <a:solidFill>
            <a:srgbClr val="F8FAFC"/>
          </a:solidFill>
          <a:ln/>
        </p:spPr>
      </p:sp>
      <p:sp>
        <p:nvSpPr>
          <p:cNvPr id="9" name="Row band"/>
          <p:cNvSpPr/>
          <p:nvPr/>
        </p:nvSpPr>
        <p:spPr>
          <a:xfrm>
            <a:off x="457200" y="3602736"/>
            <a:ext cx="11277295" cy="265176"/>
          </a:xfrm>
          <a:prstGeom prst="rect">
            <a:avLst/>
          </a:prstGeom>
          <a:solidFill>
            <a:srgbClr val="F8FAFC"/>
          </a:solidFill>
          <a:ln/>
        </p:spPr>
      </p:sp>
      <p:sp>
        <p:nvSpPr>
          <p:cNvPr id="10" name="Row band"/>
          <p:cNvSpPr/>
          <p:nvPr/>
        </p:nvSpPr>
        <p:spPr>
          <a:xfrm>
            <a:off x="457200" y="4133088"/>
            <a:ext cx="11277295" cy="265176"/>
          </a:xfrm>
          <a:prstGeom prst="rect">
            <a:avLst/>
          </a:prstGeom>
          <a:solidFill>
            <a:srgbClr val="F8FAFC"/>
          </a:solidFill>
          <a:ln/>
        </p:spPr>
      </p:sp>
      <p:sp>
        <p:nvSpPr>
          <p:cNvPr id="11" name="Row band"/>
          <p:cNvSpPr/>
          <p:nvPr/>
        </p:nvSpPr>
        <p:spPr>
          <a:xfrm>
            <a:off x="457200" y="4663440"/>
            <a:ext cx="11277295" cy="265176"/>
          </a:xfrm>
          <a:prstGeom prst="rect">
            <a:avLst/>
          </a:prstGeom>
          <a:solidFill>
            <a:srgbClr val="F8FAFC"/>
          </a:solidFill>
          <a:ln/>
        </p:spPr>
      </p:sp>
      <p:sp>
        <p:nvSpPr>
          <p:cNvPr id="12" name="Row band"/>
          <p:cNvSpPr/>
          <p:nvPr/>
        </p:nvSpPr>
        <p:spPr>
          <a:xfrm>
            <a:off x="457200" y="5193792"/>
            <a:ext cx="11277295" cy="265176"/>
          </a:xfrm>
          <a:prstGeom prst="rect">
            <a:avLst/>
          </a:prstGeom>
          <a:solidFill>
            <a:srgbClr val="F8FAFC"/>
          </a:solidFill>
          <a:ln/>
        </p:spPr>
      </p:sp>
      <p:sp>
        <p:nvSpPr>
          <p:cNvPr id="13" name="Row band"/>
          <p:cNvSpPr/>
          <p:nvPr/>
        </p:nvSpPr>
        <p:spPr>
          <a:xfrm>
            <a:off x="457200" y="5724144"/>
            <a:ext cx="11277295" cy="265176"/>
          </a:xfrm>
          <a:prstGeom prst="rect">
            <a:avLst/>
          </a:prstGeom>
          <a:solidFill>
            <a:srgbClr val="F8FAFC"/>
          </a:solidFill>
          <a:ln/>
        </p:spPr>
      </p:sp>
      <p:sp>
        <p:nvSpPr>
          <p:cNvPr id="14" name="Gridline"/>
          <p:cNvSpPr/>
          <p:nvPr/>
        </p:nvSpPr>
        <p:spPr>
          <a:xfrm>
            <a:off x="4480560" y="2011680"/>
            <a:ext cx="0" cy="3977640"/>
          </a:xfrm>
          <a:prstGeom prst="line">
            <a:avLst/>
          </a:prstGeom>
          <a:noFill/>
          <a:ln w="9525">
            <a:solidFill>
              <a:srgbClr val="C9D3DC"/>
            </a:solidFill>
            <a:prstDash val="dash"/>
          </a:ln>
        </p:spPr>
      </p:sp>
      <p:sp>
        <p:nvSpPr>
          <p:cNvPr id="15" name="Text 13"/>
          <p:cNvSpPr txBox="1"/>
          <p:nvPr/>
        </p:nvSpPr>
        <p:spPr>
          <a:xfrm>
            <a:off x="4114800"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17/10</a:t>
            </a:r>
            <a:endParaRPr lang="en-US" sz="1600" dirty="0"/>
          </a:p>
        </p:txBody>
      </p:sp>
      <p:sp>
        <p:nvSpPr>
          <p:cNvPr id="16" name="Gridline"/>
          <p:cNvSpPr/>
          <p:nvPr/>
        </p:nvSpPr>
        <p:spPr>
          <a:xfrm>
            <a:off x="5604256" y="2011680"/>
            <a:ext cx="0" cy="3977640"/>
          </a:xfrm>
          <a:prstGeom prst="line">
            <a:avLst/>
          </a:prstGeom>
          <a:noFill/>
          <a:ln w="9525">
            <a:solidFill>
              <a:srgbClr val="C9D3DC"/>
            </a:solidFill>
            <a:prstDash val="dash"/>
          </a:ln>
        </p:spPr>
      </p:sp>
      <p:sp>
        <p:nvSpPr>
          <p:cNvPr id="17" name="Text 15"/>
          <p:cNvSpPr txBox="1"/>
          <p:nvPr/>
        </p:nvSpPr>
        <p:spPr>
          <a:xfrm>
            <a:off x="5238496"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24/10</a:t>
            </a:r>
            <a:endParaRPr lang="en-US" sz="1600" dirty="0"/>
          </a:p>
        </p:txBody>
      </p:sp>
      <p:sp>
        <p:nvSpPr>
          <p:cNvPr id="18" name="Gridline"/>
          <p:cNvSpPr/>
          <p:nvPr/>
        </p:nvSpPr>
        <p:spPr>
          <a:xfrm>
            <a:off x="6727952" y="2011680"/>
            <a:ext cx="0" cy="3977640"/>
          </a:xfrm>
          <a:prstGeom prst="line">
            <a:avLst/>
          </a:prstGeom>
          <a:noFill/>
          <a:ln w="9525">
            <a:solidFill>
              <a:srgbClr val="C9D3DC"/>
            </a:solidFill>
            <a:prstDash val="dash"/>
          </a:ln>
        </p:spPr>
      </p:sp>
      <p:sp>
        <p:nvSpPr>
          <p:cNvPr id="19" name="Text 17"/>
          <p:cNvSpPr txBox="1"/>
          <p:nvPr/>
        </p:nvSpPr>
        <p:spPr>
          <a:xfrm>
            <a:off x="6362192"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31/10</a:t>
            </a:r>
            <a:endParaRPr lang="en-US" sz="1600" dirty="0"/>
          </a:p>
        </p:txBody>
      </p:sp>
      <p:sp>
        <p:nvSpPr>
          <p:cNvPr id="20" name="Gridline"/>
          <p:cNvSpPr/>
          <p:nvPr/>
        </p:nvSpPr>
        <p:spPr>
          <a:xfrm>
            <a:off x="7851648" y="2011680"/>
            <a:ext cx="0" cy="3977640"/>
          </a:xfrm>
          <a:prstGeom prst="line">
            <a:avLst/>
          </a:prstGeom>
          <a:noFill/>
          <a:ln w="9525">
            <a:solidFill>
              <a:srgbClr val="C9D3DC"/>
            </a:solidFill>
            <a:prstDash val="dash"/>
          </a:ln>
        </p:spPr>
      </p:sp>
      <p:sp>
        <p:nvSpPr>
          <p:cNvPr id="21" name="Text 19"/>
          <p:cNvSpPr txBox="1"/>
          <p:nvPr/>
        </p:nvSpPr>
        <p:spPr>
          <a:xfrm>
            <a:off x="7485888"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07/11</a:t>
            </a:r>
            <a:endParaRPr lang="en-US" sz="1600" dirty="0"/>
          </a:p>
        </p:txBody>
      </p:sp>
      <p:sp>
        <p:nvSpPr>
          <p:cNvPr id="22" name="Gridline"/>
          <p:cNvSpPr/>
          <p:nvPr/>
        </p:nvSpPr>
        <p:spPr>
          <a:xfrm>
            <a:off x="8975344" y="2011680"/>
            <a:ext cx="0" cy="3977640"/>
          </a:xfrm>
          <a:prstGeom prst="line">
            <a:avLst/>
          </a:prstGeom>
          <a:noFill/>
          <a:ln w="9525">
            <a:solidFill>
              <a:srgbClr val="C9D3DC"/>
            </a:solidFill>
            <a:prstDash val="dash"/>
          </a:ln>
        </p:spPr>
      </p:sp>
      <p:sp>
        <p:nvSpPr>
          <p:cNvPr id="23" name="Text 21"/>
          <p:cNvSpPr txBox="1"/>
          <p:nvPr/>
        </p:nvSpPr>
        <p:spPr>
          <a:xfrm>
            <a:off x="8609584"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14/11</a:t>
            </a:r>
            <a:endParaRPr lang="en-US" sz="1600" dirty="0"/>
          </a:p>
        </p:txBody>
      </p:sp>
      <p:sp>
        <p:nvSpPr>
          <p:cNvPr id="24" name="Gridline"/>
          <p:cNvSpPr/>
          <p:nvPr/>
        </p:nvSpPr>
        <p:spPr>
          <a:xfrm>
            <a:off x="10099040" y="2011680"/>
            <a:ext cx="0" cy="3977640"/>
          </a:xfrm>
          <a:prstGeom prst="line">
            <a:avLst/>
          </a:prstGeom>
          <a:noFill/>
          <a:ln w="9525">
            <a:solidFill>
              <a:srgbClr val="C9D3DC"/>
            </a:solidFill>
            <a:prstDash val="dash"/>
          </a:ln>
        </p:spPr>
      </p:sp>
      <p:sp>
        <p:nvSpPr>
          <p:cNvPr id="25" name="Text 23"/>
          <p:cNvSpPr txBox="1"/>
          <p:nvPr/>
        </p:nvSpPr>
        <p:spPr>
          <a:xfrm>
            <a:off x="9733280"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21/11</a:t>
            </a:r>
            <a:endParaRPr lang="en-US" sz="1600" dirty="0"/>
          </a:p>
        </p:txBody>
      </p:sp>
      <p:sp>
        <p:nvSpPr>
          <p:cNvPr id="26" name="Gridline"/>
          <p:cNvSpPr/>
          <p:nvPr/>
        </p:nvSpPr>
        <p:spPr>
          <a:xfrm>
            <a:off x="11222736" y="2011680"/>
            <a:ext cx="0" cy="3977640"/>
          </a:xfrm>
          <a:prstGeom prst="line">
            <a:avLst/>
          </a:prstGeom>
          <a:noFill/>
          <a:ln w="9525">
            <a:solidFill>
              <a:srgbClr val="C9D3DC"/>
            </a:solidFill>
            <a:prstDash val="dash"/>
          </a:ln>
        </p:spPr>
      </p:sp>
      <p:sp>
        <p:nvSpPr>
          <p:cNvPr id="27" name="Text 25"/>
          <p:cNvSpPr txBox="1"/>
          <p:nvPr/>
        </p:nvSpPr>
        <p:spPr>
          <a:xfrm>
            <a:off x="10856976" y="1572768"/>
            <a:ext cx="731520" cy="365760"/>
          </a:xfrm>
          <a:prstGeom prst="rect">
            <a:avLst/>
          </a:prstGeom>
          <a:noFill/>
          <a:ln/>
        </p:spPr>
        <p:txBody>
          <a:bodyPr wrap="square" lIns="0" tIns="0" rIns="0" bIns="0" rtlCol="0" anchor="ctr"/>
          <a:lstStyle/>
          <a:p>
            <a:pPr algn="ctr" indent="0" marL="0">
              <a:buNone/>
            </a:pPr>
            <a:r>
              <a:rPr lang="en-US" sz="1600" b="1" dirty="0">
                <a:solidFill>
                  <a:srgbClr val="004387"/>
                </a:solidFill>
                <a:latin typeface="Arial" pitchFamily="34" charset="0"/>
                <a:ea typeface="Arial" pitchFamily="34" charset="-122"/>
                <a:cs typeface="Arial" pitchFamily="34" charset="-120"/>
              </a:rPr>
              <a:t>28/11</a:t>
            </a:r>
            <a:endParaRPr lang="en-US" sz="1600" dirty="0"/>
          </a:p>
        </p:txBody>
      </p:sp>
      <p:sp>
        <p:nvSpPr>
          <p:cNvPr id="28" name="Text 26"/>
          <p:cNvSpPr txBox="1"/>
          <p:nvPr/>
        </p:nvSpPr>
        <p:spPr>
          <a:xfrm>
            <a:off x="530352" y="2011680"/>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I1 Persisted COD order</a:t>
            </a:r>
            <a:endParaRPr lang="en-US" sz="1600" dirty="0"/>
          </a:p>
        </p:txBody>
      </p:sp>
      <p:sp>
        <p:nvSpPr>
          <p:cNvPr id="29" name="Bar"/>
          <p:cNvSpPr/>
          <p:nvPr/>
        </p:nvSpPr>
        <p:spPr>
          <a:xfrm>
            <a:off x="4480560" y="2048256"/>
            <a:ext cx="963168" cy="192024"/>
          </a:xfrm>
          <a:prstGeom prst="rect">
            <a:avLst/>
          </a:prstGeom>
          <a:solidFill>
            <a:srgbClr val="004387"/>
          </a:solidFill>
          <a:ln/>
        </p:spPr>
      </p:sp>
      <p:sp>
        <p:nvSpPr>
          <p:cNvPr id="30" name="Text 28"/>
          <p:cNvSpPr txBox="1"/>
          <p:nvPr/>
        </p:nvSpPr>
        <p:spPr>
          <a:xfrm>
            <a:off x="530352" y="2276856"/>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Part 1 packaging</a:t>
            </a:r>
            <a:endParaRPr lang="en-US" sz="1600" dirty="0"/>
          </a:p>
        </p:txBody>
      </p:sp>
      <p:sp>
        <p:nvSpPr>
          <p:cNvPr id="31" name="Bar"/>
          <p:cNvSpPr/>
          <p:nvPr/>
        </p:nvSpPr>
        <p:spPr>
          <a:xfrm>
            <a:off x="5443728" y="2313432"/>
            <a:ext cx="481584" cy="192024"/>
          </a:xfrm>
          <a:prstGeom prst="rect">
            <a:avLst/>
          </a:prstGeom>
          <a:solidFill>
            <a:srgbClr val="5B87B5"/>
          </a:solidFill>
          <a:ln/>
        </p:spPr>
      </p:sp>
      <p:sp>
        <p:nvSpPr>
          <p:cNvPr id="32" name="Text 30"/>
          <p:cNvSpPr txBox="1"/>
          <p:nvPr/>
        </p:nvSpPr>
        <p:spPr>
          <a:xfrm>
            <a:off x="530352" y="2542032"/>
            <a:ext cx="3931920" cy="265176"/>
          </a:xfrm>
          <a:prstGeom prst="rect">
            <a:avLst/>
          </a:prstGeom>
          <a:noFill/>
          <a:ln/>
        </p:spPr>
        <p:txBody>
          <a:bodyPr wrap="none" lIns="0" tIns="0" rIns="0" bIns="0" rtlCol="0" anchor="ctr"/>
          <a:lstStyle/>
          <a:p>
            <a:pPr indent="0" marL="0">
              <a:buNone/>
            </a:pPr>
            <a:r>
              <a:rPr lang="en-US" sz="1600" dirty="0">
                <a:solidFill>
                  <a:srgbClr val="1F2937"/>
                </a:solidFill>
                <a:latin typeface="Arial" pitchFamily="34" charset="0"/>
                <a:ea typeface="Arial" pitchFamily="34" charset="-122"/>
                <a:cs typeface="Arial" pitchFamily="34" charset="-120"/>
              </a:rPr>
              <a:t>Part 1 live presentation</a:t>
            </a:r>
            <a:endParaRPr lang="en-US" sz="1600" dirty="0"/>
          </a:p>
        </p:txBody>
      </p:sp>
      <p:sp>
        <p:nvSpPr>
          <p:cNvPr id="33" name="Milestone"/>
          <p:cNvSpPr/>
          <p:nvPr/>
        </p:nvSpPr>
        <p:spPr>
          <a:xfrm>
            <a:off x="5914136" y="2583180"/>
            <a:ext cx="182880" cy="182880"/>
          </a:xfrm>
          <a:prstGeom prst="diamond">
            <a:avLst/>
          </a:prstGeom>
          <a:solidFill>
            <a:srgbClr val="004387"/>
          </a:solidFill>
          <a:ln/>
        </p:spPr>
      </p:sp>
      <p:sp>
        <p:nvSpPr>
          <p:cNvPr id="34" name="Text 32"/>
          <p:cNvSpPr txBox="1"/>
          <p:nvPr/>
        </p:nvSpPr>
        <p:spPr>
          <a:xfrm>
            <a:off x="6170168" y="2542032"/>
            <a:ext cx="662940" cy="265176"/>
          </a:xfrm>
          <a:prstGeom prst="rect">
            <a:avLst/>
          </a:prstGeom>
          <a:noFill/>
          <a:ln/>
        </p:spPr>
        <p:txBody>
          <a:bodyPr wrap="none" lIns="0" tIns="0" rIns="0" bIns="0" rtlCol="0" anchor="ctr"/>
          <a:lstStyle/>
          <a:p>
            <a:pPr algn="l" indent="0" marL="0">
              <a:buNone/>
            </a:pPr>
            <a:r>
              <a:rPr lang="en-US" sz="1600" dirty="0">
                <a:solidFill>
                  <a:srgbClr val="1F2937"/>
                </a:solidFill>
                <a:latin typeface="Arial" pitchFamily="34" charset="0"/>
                <a:ea typeface="Arial" pitchFamily="34" charset="-122"/>
                <a:cs typeface="Arial" pitchFamily="34" charset="-120"/>
              </a:rPr>
              <a:t>26/10</a:t>
            </a:r>
            <a:endParaRPr lang="en-US" sz="1600" dirty="0"/>
          </a:p>
        </p:txBody>
      </p:sp>
      <p:sp>
        <p:nvSpPr>
          <p:cNvPr id="35" name="Text 33"/>
          <p:cNvSpPr txBox="1"/>
          <p:nvPr/>
        </p:nvSpPr>
        <p:spPr>
          <a:xfrm>
            <a:off x="530352" y="2807208"/>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I2 Hubs, capacity, kitchen</a:t>
            </a:r>
            <a:endParaRPr lang="en-US" sz="1600" dirty="0"/>
          </a:p>
        </p:txBody>
      </p:sp>
      <p:sp>
        <p:nvSpPr>
          <p:cNvPr id="36" name="Bar"/>
          <p:cNvSpPr/>
          <p:nvPr/>
        </p:nvSpPr>
        <p:spPr>
          <a:xfrm>
            <a:off x="6085840" y="2843784"/>
            <a:ext cx="802640" cy="192024"/>
          </a:xfrm>
          <a:prstGeom prst="rect">
            <a:avLst/>
          </a:prstGeom>
          <a:solidFill>
            <a:srgbClr val="004387"/>
          </a:solidFill>
          <a:ln/>
        </p:spPr>
      </p:sp>
      <p:sp>
        <p:nvSpPr>
          <p:cNvPr id="37" name="Text 35"/>
          <p:cNvSpPr txBox="1"/>
          <p:nvPr/>
        </p:nvSpPr>
        <p:spPr>
          <a:xfrm>
            <a:off x="530352" y="3072384"/>
            <a:ext cx="3931920" cy="265176"/>
          </a:xfrm>
          <a:prstGeom prst="rect">
            <a:avLst/>
          </a:prstGeom>
          <a:noFill/>
          <a:ln/>
        </p:spPr>
        <p:txBody>
          <a:bodyPr wrap="non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Lecturer answers needed</a:t>
            </a:r>
            <a:endParaRPr lang="en-US" sz="1600" dirty="0"/>
          </a:p>
        </p:txBody>
      </p:sp>
      <p:sp>
        <p:nvSpPr>
          <p:cNvPr id="38" name="Milestone"/>
          <p:cNvSpPr/>
          <p:nvPr/>
        </p:nvSpPr>
        <p:spPr>
          <a:xfrm>
            <a:off x="6716776" y="3113532"/>
            <a:ext cx="182880" cy="182880"/>
          </a:xfrm>
          <a:prstGeom prst="diamond">
            <a:avLst/>
          </a:prstGeom>
          <a:solidFill>
            <a:srgbClr val="C95B55"/>
          </a:solidFill>
          <a:ln/>
        </p:spPr>
      </p:sp>
      <p:sp>
        <p:nvSpPr>
          <p:cNvPr id="39" name="Text 37"/>
          <p:cNvSpPr txBox="1"/>
          <p:nvPr/>
        </p:nvSpPr>
        <p:spPr>
          <a:xfrm>
            <a:off x="6972808" y="3072384"/>
            <a:ext cx="662940" cy="265176"/>
          </a:xfrm>
          <a:prstGeom prst="rect">
            <a:avLst/>
          </a:prstGeom>
          <a:noFill/>
          <a:ln/>
        </p:spPr>
        <p:txBody>
          <a:bodyPr wrap="none" lIns="0" tIns="0" rIns="0" bIns="0" rtlCol="0" anchor="ctr"/>
          <a:lstStyle/>
          <a:p>
            <a:pPr algn="l" indent="0" marL="0">
              <a:buNone/>
            </a:pPr>
            <a:r>
              <a:rPr lang="en-US" sz="1600" dirty="0">
                <a:solidFill>
                  <a:srgbClr val="1F2937"/>
                </a:solidFill>
                <a:latin typeface="Arial" pitchFamily="34" charset="0"/>
                <a:ea typeface="Arial" pitchFamily="34" charset="-122"/>
                <a:cs typeface="Arial" pitchFamily="34" charset="-120"/>
              </a:rPr>
              <a:t>31/10</a:t>
            </a:r>
            <a:endParaRPr lang="en-US" sz="1600" dirty="0"/>
          </a:p>
        </p:txBody>
      </p:sp>
      <p:sp>
        <p:nvSpPr>
          <p:cNvPr id="40" name="Text 38"/>
          <p:cNvSpPr txBox="1"/>
          <p:nvPr/>
        </p:nvSpPr>
        <p:spPr>
          <a:xfrm>
            <a:off x="530352" y="3337560"/>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I3 Ordering, delivery, menus</a:t>
            </a:r>
            <a:endParaRPr lang="en-US" sz="1600" dirty="0"/>
          </a:p>
        </p:txBody>
      </p:sp>
      <p:sp>
        <p:nvSpPr>
          <p:cNvPr id="41" name="Bar"/>
          <p:cNvSpPr/>
          <p:nvPr/>
        </p:nvSpPr>
        <p:spPr>
          <a:xfrm>
            <a:off x="6888480" y="3374136"/>
            <a:ext cx="802640" cy="192024"/>
          </a:xfrm>
          <a:prstGeom prst="rect">
            <a:avLst/>
          </a:prstGeom>
          <a:solidFill>
            <a:srgbClr val="004387"/>
          </a:solidFill>
          <a:ln/>
        </p:spPr>
      </p:sp>
      <p:sp>
        <p:nvSpPr>
          <p:cNvPr id="42" name="Text 40"/>
          <p:cNvSpPr txBox="1"/>
          <p:nvPr/>
        </p:nvSpPr>
        <p:spPr>
          <a:xfrm>
            <a:off x="530352" y="3602736"/>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I4 Reports, demo, Figma</a:t>
            </a:r>
            <a:endParaRPr lang="en-US" sz="1600" dirty="0"/>
          </a:p>
        </p:txBody>
      </p:sp>
      <p:sp>
        <p:nvSpPr>
          <p:cNvPr id="43" name="Bar"/>
          <p:cNvSpPr/>
          <p:nvPr/>
        </p:nvSpPr>
        <p:spPr>
          <a:xfrm>
            <a:off x="7691120" y="3639312"/>
            <a:ext cx="802640" cy="192024"/>
          </a:xfrm>
          <a:prstGeom prst="rect">
            <a:avLst/>
          </a:prstGeom>
          <a:solidFill>
            <a:srgbClr val="004387"/>
          </a:solidFill>
          <a:ln/>
        </p:spPr>
      </p:sp>
      <p:sp>
        <p:nvSpPr>
          <p:cNvPr id="44" name="Text 42"/>
          <p:cNvSpPr txBox="1"/>
          <p:nvPr/>
        </p:nvSpPr>
        <p:spPr>
          <a:xfrm>
            <a:off x="530352" y="3867912"/>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I5 Models, tests, Part 2 report</a:t>
            </a:r>
            <a:endParaRPr lang="en-US" sz="1600" dirty="0"/>
          </a:p>
        </p:txBody>
      </p:sp>
      <p:sp>
        <p:nvSpPr>
          <p:cNvPr id="45" name="Bar"/>
          <p:cNvSpPr/>
          <p:nvPr/>
        </p:nvSpPr>
        <p:spPr>
          <a:xfrm>
            <a:off x="8493760" y="3904488"/>
            <a:ext cx="802640" cy="192024"/>
          </a:xfrm>
          <a:prstGeom prst="rect">
            <a:avLst/>
          </a:prstGeom>
          <a:solidFill>
            <a:srgbClr val="004387"/>
          </a:solidFill>
          <a:ln/>
        </p:spPr>
      </p:sp>
      <p:sp>
        <p:nvSpPr>
          <p:cNvPr id="46" name="Text 44"/>
          <p:cNvSpPr txBox="1"/>
          <p:nvPr/>
        </p:nvSpPr>
        <p:spPr>
          <a:xfrm>
            <a:off x="530352" y="4133088"/>
            <a:ext cx="3931920" cy="265176"/>
          </a:xfrm>
          <a:prstGeom prst="rect">
            <a:avLst/>
          </a:prstGeom>
          <a:noFill/>
          <a:ln/>
        </p:spPr>
        <p:txBody>
          <a:bodyPr wrap="non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Feature freeze</a:t>
            </a:r>
            <a:endParaRPr lang="en-US" sz="1600" dirty="0"/>
          </a:p>
        </p:txBody>
      </p:sp>
      <p:sp>
        <p:nvSpPr>
          <p:cNvPr id="47" name="Milestone"/>
          <p:cNvSpPr/>
          <p:nvPr/>
        </p:nvSpPr>
        <p:spPr>
          <a:xfrm>
            <a:off x="8643112" y="4174236"/>
            <a:ext cx="182880" cy="182880"/>
          </a:xfrm>
          <a:prstGeom prst="diamond">
            <a:avLst/>
          </a:prstGeom>
          <a:solidFill>
            <a:srgbClr val="C95B55"/>
          </a:solidFill>
          <a:ln/>
        </p:spPr>
      </p:sp>
      <p:sp>
        <p:nvSpPr>
          <p:cNvPr id="48" name="Text 46"/>
          <p:cNvSpPr txBox="1"/>
          <p:nvPr/>
        </p:nvSpPr>
        <p:spPr>
          <a:xfrm>
            <a:off x="8899144" y="4133088"/>
            <a:ext cx="662940" cy="265176"/>
          </a:xfrm>
          <a:prstGeom prst="rect">
            <a:avLst/>
          </a:prstGeom>
          <a:noFill/>
          <a:ln/>
        </p:spPr>
        <p:txBody>
          <a:bodyPr wrap="none" lIns="0" tIns="0" rIns="0" bIns="0" rtlCol="0" anchor="ctr"/>
          <a:lstStyle/>
          <a:p>
            <a:pPr algn="l" indent="0" marL="0">
              <a:buNone/>
            </a:pPr>
            <a:r>
              <a:rPr lang="en-US" sz="1600" dirty="0">
                <a:solidFill>
                  <a:srgbClr val="1F2937"/>
                </a:solidFill>
                <a:latin typeface="Arial" pitchFamily="34" charset="0"/>
                <a:ea typeface="Arial" pitchFamily="34" charset="-122"/>
                <a:cs typeface="Arial" pitchFamily="34" charset="-120"/>
              </a:rPr>
              <a:t>12/11</a:t>
            </a:r>
            <a:endParaRPr lang="en-US" sz="1600" dirty="0"/>
          </a:p>
        </p:txBody>
      </p:sp>
      <p:sp>
        <p:nvSpPr>
          <p:cNvPr id="49" name="Text 47"/>
          <p:cNvSpPr txBox="1"/>
          <p:nvPr/>
        </p:nvSpPr>
        <p:spPr>
          <a:xfrm>
            <a:off x="530352" y="4398264"/>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I5 buffer day</a:t>
            </a:r>
            <a:endParaRPr lang="en-US" sz="1600" dirty="0"/>
          </a:p>
        </p:txBody>
      </p:sp>
      <p:sp>
        <p:nvSpPr>
          <p:cNvPr id="50" name="Bar"/>
          <p:cNvSpPr/>
          <p:nvPr/>
        </p:nvSpPr>
        <p:spPr>
          <a:xfrm>
            <a:off x="8814816" y="4434840"/>
            <a:ext cx="160528" cy="192024"/>
          </a:xfrm>
          <a:prstGeom prst="rect">
            <a:avLst/>
          </a:prstGeom>
          <a:solidFill>
            <a:srgbClr val="C95B55"/>
          </a:solidFill>
          <a:ln/>
        </p:spPr>
      </p:sp>
      <p:sp>
        <p:nvSpPr>
          <p:cNvPr id="51" name="Text 49"/>
          <p:cNvSpPr txBox="1"/>
          <p:nvPr/>
        </p:nvSpPr>
        <p:spPr>
          <a:xfrm>
            <a:off x="9048496" y="4398264"/>
            <a:ext cx="662940" cy="265176"/>
          </a:xfrm>
          <a:prstGeom prst="rect">
            <a:avLst/>
          </a:prstGeom>
          <a:noFill/>
          <a:ln/>
        </p:spPr>
        <p:txBody>
          <a:bodyPr wrap="none" lIns="0" tIns="0" rIns="0" bIns="0" rtlCol="0" anchor="ctr"/>
          <a:lstStyle/>
          <a:p>
            <a:pPr algn="l" indent="0" marL="0">
              <a:buNone/>
            </a:pPr>
            <a:r>
              <a:rPr lang="en-US" sz="1600" dirty="0">
                <a:solidFill>
                  <a:srgbClr val="1F2937"/>
                </a:solidFill>
                <a:latin typeface="Arial" pitchFamily="34" charset="0"/>
                <a:ea typeface="Arial" pitchFamily="34" charset="-122"/>
                <a:cs typeface="Arial" pitchFamily="34" charset="-120"/>
              </a:rPr>
              <a:t>13/11</a:t>
            </a:r>
            <a:endParaRPr lang="en-US" sz="1600" dirty="0"/>
          </a:p>
        </p:txBody>
      </p:sp>
      <p:sp>
        <p:nvSpPr>
          <p:cNvPr id="52" name="Text 50"/>
          <p:cNvSpPr txBox="1"/>
          <p:nvPr/>
        </p:nvSpPr>
        <p:spPr>
          <a:xfrm>
            <a:off x="530352" y="4663440"/>
            <a:ext cx="3931920" cy="265176"/>
          </a:xfrm>
          <a:prstGeom prst="rect">
            <a:avLst/>
          </a:prstGeom>
          <a:noFill/>
          <a:ln/>
        </p:spPr>
        <p:txBody>
          <a:bodyPr wrap="none" lIns="0" tIns="0" rIns="0" bIns="0" rtlCol="0" anchor="ctr"/>
          <a:lstStyle/>
          <a:p>
            <a:pPr indent="0" marL="0">
              <a:buNone/>
            </a:pPr>
            <a:r>
              <a:rPr lang="en-US" sz="1600" dirty="0">
                <a:solidFill>
                  <a:srgbClr val="1F2937"/>
                </a:solidFill>
                <a:latin typeface="Arial" pitchFamily="34" charset="0"/>
                <a:ea typeface="Arial" pitchFamily="34" charset="-122"/>
                <a:cs typeface="Arial" pitchFamily="34" charset="-120"/>
              </a:rPr>
              <a:t>Part 2 submission</a:t>
            </a:r>
            <a:endParaRPr lang="en-US" sz="1600" dirty="0"/>
          </a:p>
        </p:txBody>
      </p:sp>
      <p:sp>
        <p:nvSpPr>
          <p:cNvPr id="53" name="Milestone"/>
          <p:cNvSpPr/>
          <p:nvPr/>
        </p:nvSpPr>
        <p:spPr>
          <a:xfrm>
            <a:off x="9124696" y="4704588"/>
            <a:ext cx="182880" cy="182880"/>
          </a:xfrm>
          <a:prstGeom prst="diamond">
            <a:avLst/>
          </a:prstGeom>
          <a:solidFill>
            <a:srgbClr val="004387"/>
          </a:solidFill>
          <a:ln/>
        </p:spPr>
      </p:sp>
      <p:sp>
        <p:nvSpPr>
          <p:cNvPr id="54" name="Text 52"/>
          <p:cNvSpPr txBox="1"/>
          <p:nvPr/>
        </p:nvSpPr>
        <p:spPr>
          <a:xfrm>
            <a:off x="9380728" y="4663440"/>
            <a:ext cx="662940" cy="265176"/>
          </a:xfrm>
          <a:prstGeom prst="rect">
            <a:avLst/>
          </a:prstGeom>
          <a:noFill/>
          <a:ln/>
        </p:spPr>
        <p:txBody>
          <a:bodyPr wrap="none" lIns="0" tIns="0" rIns="0" bIns="0" rtlCol="0" anchor="ctr"/>
          <a:lstStyle/>
          <a:p>
            <a:pPr algn="l" indent="0" marL="0">
              <a:buNone/>
            </a:pPr>
            <a:r>
              <a:rPr lang="en-US" sz="1600" dirty="0">
                <a:solidFill>
                  <a:srgbClr val="1F2937"/>
                </a:solidFill>
                <a:latin typeface="Arial" pitchFamily="34" charset="0"/>
                <a:ea typeface="Arial" pitchFamily="34" charset="-122"/>
                <a:cs typeface="Arial" pitchFamily="34" charset="-120"/>
              </a:rPr>
              <a:t>15/11</a:t>
            </a:r>
            <a:endParaRPr lang="en-US" sz="1600" dirty="0"/>
          </a:p>
        </p:txBody>
      </p:sp>
      <p:sp>
        <p:nvSpPr>
          <p:cNvPr id="55" name="Text 53"/>
          <p:cNvSpPr txBox="1"/>
          <p:nvPr/>
        </p:nvSpPr>
        <p:spPr>
          <a:xfrm>
            <a:off x="530352" y="4928616"/>
            <a:ext cx="3931920" cy="265176"/>
          </a:xfrm>
          <a:prstGeom prst="rect">
            <a:avLst/>
          </a:prstGeom>
          <a:noFill/>
          <a:ln/>
        </p:spPr>
        <p:txBody>
          <a:bodyPr wrap="none" lIns="0" tIns="0" rIns="0" bIns="0" rtlCol="0" anchor="ctr"/>
          <a:lstStyle/>
          <a:p>
            <a:pPr indent="0" marL="0">
              <a:buNone/>
            </a:pPr>
            <a:r>
              <a:rPr lang="en-US" sz="1600" dirty="0">
                <a:solidFill>
                  <a:srgbClr val="1F2937"/>
                </a:solidFill>
                <a:latin typeface="Arial" pitchFamily="34" charset="0"/>
                <a:ea typeface="Arial" pitchFamily="34" charset="-122"/>
                <a:cs typeface="Arial" pitchFamily="34" charset="-120"/>
              </a:rPr>
              <a:t>Part 2 presentation</a:t>
            </a:r>
            <a:endParaRPr lang="en-US" sz="1600" dirty="0"/>
          </a:p>
        </p:txBody>
      </p:sp>
      <p:sp>
        <p:nvSpPr>
          <p:cNvPr id="56" name="Milestone"/>
          <p:cNvSpPr/>
          <p:nvPr/>
        </p:nvSpPr>
        <p:spPr>
          <a:xfrm>
            <a:off x="9285224" y="4969764"/>
            <a:ext cx="182880" cy="182880"/>
          </a:xfrm>
          <a:prstGeom prst="diamond">
            <a:avLst/>
          </a:prstGeom>
          <a:solidFill>
            <a:srgbClr val="004387"/>
          </a:solidFill>
          <a:ln/>
        </p:spPr>
      </p:sp>
      <p:sp>
        <p:nvSpPr>
          <p:cNvPr id="57" name="Text 55"/>
          <p:cNvSpPr txBox="1"/>
          <p:nvPr/>
        </p:nvSpPr>
        <p:spPr>
          <a:xfrm>
            <a:off x="9541256" y="4928616"/>
            <a:ext cx="662940" cy="265176"/>
          </a:xfrm>
          <a:prstGeom prst="rect">
            <a:avLst/>
          </a:prstGeom>
          <a:noFill/>
          <a:ln/>
        </p:spPr>
        <p:txBody>
          <a:bodyPr wrap="none" lIns="0" tIns="0" rIns="0" bIns="0" rtlCol="0" anchor="ctr"/>
          <a:lstStyle/>
          <a:p>
            <a:pPr algn="l" indent="0" marL="0">
              <a:buNone/>
            </a:pPr>
            <a:r>
              <a:rPr lang="en-US" sz="1600" dirty="0">
                <a:solidFill>
                  <a:srgbClr val="1F2937"/>
                </a:solidFill>
                <a:latin typeface="Arial" pitchFamily="34" charset="0"/>
                <a:ea typeface="Arial" pitchFamily="34" charset="-122"/>
                <a:cs typeface="Arial" pitchFamily="34" charset="-120"/>
              </a:rPr>
              <a:t>16/11</a:t>
            </a:r>
            <a:endParaRPr lang="en-US" sz="1600" dirty="0"/>
          </a:p>
        </p:txBody>
      </p:sp>
      <p:sp>
        <p:nvSpPr>
          <p:cNvPr id="58" name="Text 56"/>
          <p:cNvSpPr txBox="1"/>
          <p:nvPr/>
        </p:nvSpPr>
        <p:spPr>
          <a:xfrm>
            <a:off x="530352" y="5193792"/>
            <a:ext cx="3931920" cy="265176"/>
          </a:xfrm>
          <a:prstGeom prst="rect">
            <a:avLst/>
          </a:prstGeom>
          <a:noFill/>
          <a:ln/>
        </p:spPr>
        <p:txBody>
          <a:bodyPr wrap="none" lIns="0" tIns="0" rIns="0" bIns="0" rtlCol="0" anchor="ctr"/>
          <a:lstStyle/>
          <a:p>
            <a:pPr indent="0" marL="0">
              <a:buNone/>
            </a:pPr>
            <a:r>
              <a:rPr lang="en-US" sz="1600" b="1" dirty="0">
                <a:solidFill>
                  <a:srgbClr val="004387"/>
                </a:solidFill>
                <a:latin typeface="Arial" pitchFamily="34" charset="0"/>
                <a:ea typeface="Arial" pitchFamily="34" charset="-122"/>
                <a:cs typeface="Arial" pitchFamily="34" charset="-120"/>
              </a:rPr>
              <a:t>I6 Feedback, v1.0-final, Part 3</a:t>
            </a:r>
            <a:endParaRPr lang="en-US" sz="1600" dirty="0"/>
          </a:p>
        </p:txBody>
      </p:sp>
      <p:sp>
        <p:nvSpPr>
          <p:cNvPr id="59" name="Bar"/>
          <p:cNvSpPr/>
          <p:nvPr/>
        </p:nvSpPr>
        <p:spPr>
          <a:xfrm>
            <a:off x="9456928" y="5230368"/>
            <a:ext cx="2086864" cy="192024"/>
          </a:xfrm>
          <a:prstGeom prst="rect">
            <a:avLst/>
          </a:prstGeom>
          <a:solidFill>
            <a:srgbClr val="004387"/>
          </a:solidFill>
          <a:ln/>
        </p:spPr>
      </p:sp>
      <p:sp>
        <p:nvSpPr>
          <p:cNvPr id="60" name="Text 58"/>
          <p:cNvSpPr txBox="1"/>
          <p:nvPr/>
        </p:nvSpPr>
        <p:spPr>
          <a:xfrm>
            <a:off x="530352" y="5458968"/>
            <a:ext cx="3931920" cy="265176"/>
          </a:xfrm>
          <a:prstGeom prst="rect">
            <a:avLst/>
          </a:prstGeom>
          <a:noFill/>
          <a:ln/>
        </p:spPr>
        <p:txBody>
          <a:bodyPr wrap="none" lIns="0" tIns="0" rIns="0" bIns="0" rtlCol="0" anchor="ctr"/>
          <a:lstStyle/>
          <a:p>
            <a:pPr indent="0" marL="0">
              <a:buNone/>
            </a:pPr>
            <a:r>
              <a:rPr lang="en-US" sz="1600" dirty="0">
                <a:solidFill>
                  <a:srgbClr val="1F2937"/>
                </a:solidFill>
                <a:latin typeface="Arial" pitchFamily="34" charset="0"/>
                <a:ea typeface="Arial" pitchFamily="34" charset="-122"/>
                <a:cs typeface="Arial" pitchFamily="34" charset="-120"/>
              </a:rPr>
              <a:t>Part 3 submission</a:t>
            </a:r>
            <a:endParaRPr lang="en-US" sz="1600" dirty="0"/>
          </a:p>
        </p:txBody>
      </p:sp>
      <p:sp>
        <p:nvSpPr>
          <p:cNvPr id="61" name="Milestone"/>
          <p:cNvSpPr/>
          <p:nvPr/>
        </p:nvSpPr>
        <p:spPr>
          <a:xfrm>
            <a:off x="11372088" y="5500116"/>
            <a:ext cx="182880" cy="182880"/>
          </a:xfrm>
          <a:prstGeom prst="diamond">
            <a:avLst/>
          </a:prstGeom>
          <a:solidFill>
            <a:srgbClr val="004387"/>
          </a:solidFill>
          <a:ln/>
        </p:spPr>
      </p:sp>
      <p:sp>
        <p:nvSpPr>
          <p:cNvPr id="62" name="Text 60"/>
          <p:cNvSpPr txBox="1"/>
          <p:nvPr/>
        </p:nvSpPr>
        <p:spPr>
          <a:xfrm>
            <a:off x="10635996" y="5458968"/>
            <a:ext cx="662940" cy="265176"/>
          </a:xfrm>
          <a:prstGeom prst="rect">
            <a:avLst/>
          </a:prstGeom>
          <a:noFill/>
          <a:ln/>
        </p:spPr>
        <p:txBody>
          <a:bodyPr wrap="none" lIns="0" tIns="0" rIns="0" bIns="0" rtlCol="0" anchor="ctr"/>
          <a:lstStyle/>
          <a:p>
            <a:pPr algn="r" indent="0" marL="0">
              <a:buNone/>
            </a:pPr>
            <a:r>
              <a:rPr lang="en-US" sz="1600" dirty="0">
                <a:solidFill>
                  <a:srgbClr val="1F2937"/>
                </a:solidFill>
                <a:latin typeface="Arial" pitchFamily="34" charset="0"/>
                <a:ea typeface="Arial" pitchFamily="34" charset="-122"/>
                <a:cs typeface="Arial" pitchFamily="34" charset="-120"/>
              </a:rPr>
              <a:t>29/11</a:t>
            </a:r>
            <a:endParaRPr lang="en-US" sz="1600" dirty="0"/>
          </a:p>
        </p:txBody>
      </p:sp>
      <p:sp>
        <p:nvSpPr>
          <p:cNvPr id="63" name="Text 61"/>
          <p:cNvSpPr txBox="1"/>
          <p:nvPr/>
        </p:nvSpPr>
        <p:spPr>
          <a:xfrm>
            <a:off x="530352" y="5724144"/>
            <a:ext cx="3931920" cy="265176"/>
          </a:xfrm>
          <a:prstGeom prst="rect">
            <a:avLst/>
          </a:prstGeom>
          <a:noFill/>
          <a:ln/>
        </p:spPr>
        <p:txBody>
          <a:bodyPr wrap="none" lIns="0" tIns="0" rIns="0" bIns="0" rtlCol="0" anchor="ctr"/>
          <a:lstStyle/>
          <a:p>
            <a:pPr indent="0" marL="0">
              <a:buNone/>
            </a:pPr>
            <a:r>
              <a:rPr lang="en-US" sz="1600" dirty="0">
                <a:solidFill>
                  <a:srgbClr val="1F2937"/>
                </a:solidFill>
                <a:latin typeface="Arial" pitchFamily="34" charset="0"/>
                <a:ea typeface="Arial" pitchFamily="34" charset="-122"/>
                <a:cs typeface="Arial" pitchFamily="34" charset="-120"/>
              </a:rPr>
              <a:t>Part 3 presentation</a:t>
            </a:r>
            <a:endParaRPr lang="en-US" sz="1600" dirty="0"/>
          </a:p>
        </p:txBody>
      </p:sp>
      <p:sp>
        <p:nvSpPr>
          <p:cNvPr id="64" name="Milestone"/>
          <p:cNvSpPr/>
          <p:nvPr/>
        </p:nvSpPr>
        <p:spPr>
          <a:xfrm>
            <a:off x="11532616" y="5765292"/>
            <a:ext cx="182880" cy="182880"/>
          </a:xfrm>
          <a:prstGeom prst="diamond">
            <a:avLst/>
          </a:prstGeom>
          <a:solidFill>
            <a:srgbClr val="004387"/>
          </a:solidFill>
          <a:ln/>
        </p:spPr>
      </p:sp>
      <p:sp>
        <p:nvSpPr>
          <p:cNvPr id="65" name="Text 63"/>
          <p:cNvSpPr txBox="1"/>
          <p:nvPr/>
        </p:nvSpPr>
        <p:spPr>
          <a:xfrm>
            <a:off x="10796524" y="5724144"/>
            <a:ext cx="662940" cy="265176"/>
          </a:xfrm>
          <a:prstGeom prst="rect">
            <a:avLst/>
          </a:prstGeom>
          <a:noFill/>
          <a:ln/>
        </p:spPr>
        <p:txBody>
          <a:bodyPr wrap="none" lIns="0" tIns="0" rIns="0" bIns="0" rtlCol="0" anchor="ctr"/>
          <a:lstStyle/>
          <a:p>
            <a:pPr algn="r" indent="0" marL="0">
              <a:buNone/>
            </a:pPr>
            <a:r>
              <a:rPr lang="en-US" sz="1600" dirty="0">
                <a:solidFill>
                  <a:srgbClr val="1F2937"/>
                </a:solidFill>
                <a:latin typeface="Arial" pitchFamily="34" charset="0"/>
                <a:ea typeface="Arial" pitchFamily="34" charset="-122"/>
                <a:cs typeface="Arial" pitchFamily="34" charset="-120"/>
              </a:rPr>
              <a:t>30/11</a:t>
            </a:r>
            <a:endParaRPr lang="en-US" sz="1600" dirty="0"/>
          </a:p>
        </p:txBody>
      </p:sp>
      <p:sp>
        <p:nvSpPr>
          <p:cNvPr id="66" name="Card"/>
          <p:cNvSpPr/>
          <p:nvPr/>
        </p:nvSpPr>
        <p:spPr>
          <a:xfrm>
            <a:off x="457200" y="6035040"/>
            <a:ext cx="11277295" cy="365760"/>
          </a:xfrm>
          <a:prstGeom prst="rect">
            <a:avLst/>
          </a:prstGeom>
          <a:solidFill>
            <a:srgbClr val="FBE9E7"/>
          </a:solidFill>
          <a:ln/>
        </p:spPr>
      </p:sp>
      <p:sp>
        <p:nvSpPr>
          <p:cNvPr id="67" name="Text 65"/>
          <p:cNvSpPr txBox="1"/>
          <p:nvPr/>
        </p:nvSpPr>
        <p:spPr>
          <a:xfrm>
            <a:off x="585216" y="6035040"/>
            <a:ext cx="11021263" cy="365760"/>
          </a:xfrm>
          <a:prstGeom prst="rect">
            <a:avLst/>
          </a:prstGeom>
          <a:noFill/>
          <a:ln/>
        </p:spPr>
        <p:txBody>
          <a:bodyPr wrap="square" lIns="0" tIns="0" rIns="0" bIns="0" rtlCol="0" anchor="ctr"/>
          <a:lstStyle/>
          <a:p>
            <a:pPr algn="l" indent="0" marL="0">
              <a:buNone/>
            </a:pPr>
            <a:r>
              <a:rPr lang="en-US" sz="1800" b="1" dirty="0">
                <a:solidFill>
                  <a:srgbClr val="C95B55"/>
                </a:solidFill>
                <a:latin typeface="Arial" pitchFamily="34" charset="0"/>
                <a:ea typeface="Arial" pitchFamily="34" charset="-122"/>
                <a:cs typeface="Arial" pitchFamily="34" charset="-120"/>
              </a:rPr>
              <a:t>Contingency  </a:t>
            </a:r>
            <a:pPr algn="l" indent="0" marL="0">
              <a:buNone/>
            </a:pPr>
            <a:r>
              <a:rPr lang="en-US" sz="1800" dirty="0">
                <a:solidFill>
                  <a:srgbClr val="1F2937"/>
                </a:solidFill>
                <a:latin typeface="Arial" pitchFamily="34" charset="0"/>
                <a:ea typeface="Arial" pitchFamily="34" charset="-122"/>
                <a:cs typeface="Arial" pitchFamily="34" charset="-120"/>
              </a:rPr>
              <a:t>decide scope by 31/10 · freeze 12/11 · buffer day 13/11 · I6 only for feedback</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Iteration 1 runs the six core processes in six days</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17–22/10, two people, about 4 focused hours each per day (48 person-hours).</a:t>
            </a:r>
            <a:endParaRPr lang="en-US" sz="1800" dirty="0"/>
          </a:p>
        </p:txBody>
      </p:sp>
      <p:graphicFrame>
        <p:nvGraphicFramePr>
          <p:cNvPr id="13" name="I1 day plan table"/>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822960"/>
                <a:gridCol w="2651760"/>
                <a:gridCol w="2743200"/>
                <a:gridCol w="2743200"/>
                <a:gridCol w="2316175"/>
              </a:tblGrid>
              <a:tr h="411480">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Day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Core process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Dat (UC-01)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Quan L. (foundation)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Evidence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r>
              <a:tr h="71323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D1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CP1–2 Identify, plan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3ECF3"/>
                    </a:solidFill>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Vision, backlog, UC-01 stories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Repo, skeleton, events, actors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Skeleton runs; backlog v1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71323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D2</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CP3 Discover details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3ECF3"/>
                    </a:solidFill>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UC-01 description, process diagram</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Domain model, CRUD inventory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Names fixed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71323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D3</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CP3–4 Design components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3ECF3"/>
                    </a:solidFill>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Activity, SSD, Order states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Schema, seed, UC-02 draft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SSD and schema agree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71323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D4</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CP4–5 Build, test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3ECF3"/>
                    </a:solidFill>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Controller, Order code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DAOs, OrderDAO insert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COD order saved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71323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D5</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CP5 Integrate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3ECF3"/>
                    </a:solidFill>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Checkout page, pytest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Role checks, README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pytest run recorded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713232">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D6</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CP6 Test, deploy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E3ECF3"/>
                    </a:solidFill>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Fix defects, acceptance run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Second-machine run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Result; I1 review</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Iteration 1: a COD order saved end to end; 9 of 9 criteria met</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As of 20/10, from the repository and the pytest output.</a:t>
            </a:r>
            <a:endParaRPr lang="en-US" sz="1800" dirty="0"/>
          </a:p>
        </p:txBody>
      </p:sp>
      <p:graphicFrame>
        <p:nvGraphicFramePr>
          <p:cNvPr id="14" name="Plan vs actual table"/>
          <p:cNvGraphicFramePr>
            <a:graphicFrameLocks noGrp="1"/>
          </p:cNvGraphicFramePr>
          <p:nvPr>
            <p:extLst>
              <p:ext uri="{D42A27DB-BD31-4B8C-83A1-F6EECF244321}">
                <p14:modId xmlns:p14="http://schemas.microsoft.com/office/powerpoint/2010/main" val="1579011935"/>
              </p:ext>
            </p:extLst>
          </p:nvPr>
        </p:nvGraphicFramePr>
        <p:xfrm>
          <a:off x="457200" y="1600200"/>
          <a:ext cx="7040880" cy="914400"/>
        </p:xfrm>
        <a:graphic>
          <a:graphicData uri="http://schemas.openxmlformats.org/drawingml/2006/table">
            <a:tbl>
              <a:tblPr/>
              <a:tblGrid>
                <a:gridCol w="1645920"/>
                <a:gridCol w="1463040"/>
                <a:gridCol w="3931920"/>
              </a:tblGrid>
              <a:tr h="411480">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Measure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Plan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Actual</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r>
              <a:tr h="512064">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Criteria met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9 of 9</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9 of 9</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12064">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Tests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AC-4 to AC-8</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93 passed, 0 failed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12064">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Second machine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Passes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Mac (Docker): app and tests pass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12064">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Code review</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On D6</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20/10: 3 defects found, all fixed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12064">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Person-hours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48</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Not logged per day</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512064">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Roadmap change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None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Third member from I2</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5" name="Screenshot frame"/>
          <p:cNvSpPr/>
          <p:nvPr/>
        </p:nvSpPr>
        <p:spPr>
          <a:xfrm>
            <a:off x="7662672" y="1627632"/>
            <a:ext cx="4090111" cy="2230254"/>
          </a:xfrm>
          <a:prstGeom prst="rect">
            <a:avLst/>
          </a:prstGeom>
          <a:solidFill>
            <a:srgbClr val="FFFFFF"/>
          </a:solidFill>
          <a:ln w="12700">
            <a:solidFill>
              <a:srgbClr val="004387"/>
            </a:solidFill>
            <a:prstDash val="solid"/>
          </a:ln>
        </p:spPr>
      </p:sp>
      <p:pic>
        <p:nvPicPr>
          <p:cNvPr id="6" name="I1 order confirmation screenshot" descr="Order confirmation page: order 1 PLACED, COD, total 160,000 VND">    </p:cNvPr>
          <p:cNvPicPr>
            <a:picLocks noChangeAspect="1"/>
          </p:cNvPicPr>
          <p:nvPr/>
        </p:nvPicPr>
        <p:blipFill>
          <a:blip r:embed="rId1"/>
          <a:stretch>
            <a:fillRect/>
          </a:stretch>
        </p:blipFill>
        <p:spPr>
          <a:xfrm>
            <a:off x="7680960" y="1645920"/>
            <a:ext cx="4053535" cy="2193678"/>
          </a:xfrm>
          <a:prstGeom prst="rect">
            <a:avLst/>
          </a:prstGeom>
        </p:spPr>
      </p:pic>
      <p:sp>
        <p:nvSpPr>
          <p:cNvPr id="7" name="Text 3"/>
          <p:cNvSpPr txBox="1"/>
          <p:nvPr/>
        </p:nvSpPr>
        <p:spPr>
          <a:xfrm>
            <a:off x="7680960" y="3931038"/>
            <a:ext cx="4053535" cy="685800"/>
          </a:xfrm>
          <a:prstGeom prst="rect">
            <a:avLst/>
          </a:prstGeom>
          <a:noFill/>
          <a:ln/>
        </p:spPr>
        <p:txBody>
          <a:bodyPr wrap="square" lIns="0" tIns="0" rIns="0" bIns="0" rtlCol="0" anchor="ctr"/>
          <a:lstStyle/>
          <a:p>
            <a:pPr indent="0" marL="0">
              <a:buNone/>
            </a:pPr>
            <a:r>
              <a:rPr lang="en-US" sz="1600" dirty="0">
                <a:solidFill>
                  <a:srgbClr val="5B6472"/>
                </a:solidFill>
                <a:latin typeface="Arial" pitchFamily="34" charset="0"/>
                <a:ea typeface="Arial" pitchFamily="34" charset="-122"/>
                <a:cs typeface="Arial" pitchFamily="34" charset="-120"/>
              </a:rPr>
              <a:t>Saved order: ID 1, PLACED, COD, total 160,000 VND</a:t>
            </a:r>
            <a:endParaRPr lang="en-US" sz="1600" dirty="0"/>
          </a:p>
        </p:txBody>
      </p:sp>
      <p:sp>
        <p:nvSpPr>
          <p:cNvPr id="8" name="Card"/>
          <p:cNvSpPr/>
          <p:nvPr/>
        </p:nvSpPr>
        <p:spPr>
          <a:xfrm>
            <a:off x="457200" y="5413248"/>
            <a:ext cx="11277295" cy="420624"/>
          </a:xfrm>
          <a:prstGeom prst="rect">
            <a:avLst/>
          </a:prstGeom>
          <a:solidFill>
            <a:srgbClr val="E3ECF3"/>
          </a:solidFill>
          <a:ln/>
        </p:spPr>
      </p:sp>
      <p:sp>
        <p:nvSpPr>
          <p:cNvPr id="9" name="Text 5"/>
          <p:cNvSpPr txBox="1"/>
          <p:nvPr/>
        </p:nvSpPr>
        <p:spPr>
          <a:xfrm>
            <a:off x="585216" y="5413248"/>
            <a:ext cx="11021263" cy="42062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Status  </a:t>
            </a:r>
            <a:pPr algn="l" indent="0" marL="0">
              <a:buNone/>
            </a:pPr>
            <a:r>
              <a:rPr lang="en-US" sz="1800" dirty="0">
                <a:solidFill>
                  <a:srgbClr val="1F2937"/>
                </a:solidFill>
                <a:latin typeface="Arial" pitchFamily="34" charset="0"/>
                <a:ea typeface="Arial" pitchFamily="34" charset="-122"/>
                <a:cs typeface="Arial" pitchFamily="34" charset="-120"/>
              </a:rPr>
              <a:t>Built: UC-01 subset only; the other five use cases are planned for Part 2. AI use: Appendix A.</a:t>
            </a:r>
            <a:endParaRPr lang="en-US" sz="1800" dirty="0"/>
          </a:p>
        </p:txBody>
      </p:sp>
      <p:sp>
        <p:nvSpPr>
          <p:cNvPr id="10" name="Card"/>
          <p:cNvSpPr/>
          <p:nvPr/>
        </p:nvSpPr>
        <p:spPr>
          <a:xfrm>
            <a:off x="457200" y="5888736"/>
            <a:ext cx="11277295" cy="420624"/>
          </a:xfrm>
          <a:prstGeom prst="rect">
            <a:avLst/>
          </a:prstGeom>
          <a:solidFill>
            <a:srgbClr val="E3ECF3"/>
          </a:solidFill>
          <a:ln/>
        </p:spPr>
      </p:sp>
      <p:sp>
        <p:nvSpPr>
          <p:cNvPr id="11" name="Text 7"/>
          <p:cNvSpPr txBox="1"/>
          <p:nvPr/>
        </p:nvSpPr>
        <p:spPr>
          <a:xfrm>
            <a:off x="585216" y="5888736"/>
            <a:ext cx="11021263" cy="42062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Lesson  </a:t>
            </a:r>
            <a:pPr algn="l" indent="0" marL="0">
              <a:buNone/>
            </a:pPr>
            <a:r>
              <a:rPr lang="en-US" sz="1800" dirty="0">
                <a:solidFill>
                  <a:srgbClr val="1F2937"/>
                </a:solidFill>
                <a:latin typeface="Arial" pitchFamily="34" charset="0"/>
                <a:ea typeface="Arial" pitchFamily="34" charset="-122"/>
                <a:cs typeface="Arial" pitchFamily="34" charset="-120"/>
              </a:rPr>
              <a:t>Green tests are not proof: review found a bug 81 tests missed. Every finding now gets a test.</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Unconfirmed rules and the capacity race are the biggest risks</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Each risk has a warning sign we watch and one owner.</a:t>
            </a:r>
            <a:endParaRPr lang="en-US" sz="1800" dirty="0"/>
          </a:p>
        </p:txBody>
      </p:sp>
      <p:graphicFrame>
        <p:nvGraphicFramePr>
          <p:cNvPr id="15" name="Risk table"/>
          <p:cNvGraphicFramePr>
            <a:graphicFrameLocks noGrp="1"/>
          </p:cNvGraphicFramePr>
          <p:nvPr>
            <p:extLst>
              <p:ext uri="{D42A27DB-BD31-4B8C-83A1-F6EECF244321}">
                <p14:modId xmlns:p14="http://schemas.microsoft.com/office/powerpoint/2010/main" val="1579011935"/>
              </p:ext>
            </p:extLst>
          </p:nvPr>
        </p:nvGraphicFramePr>
        <p:xfrm>
          <a:off x="457200" y="1600200"/>
          <a:ext cx="11277295" cy="914400"/>
        </p:xfrm>
        <a:graphic>
          <a:graphicData uri="http://schemas.openxmlformats.org/drawingml/2006/table">
            <a:tbl>
              <a:tblPr/>
              <a:tblGrid>
                <a:gridCol w="822960"/>
                <a:gridCol w="3108960"/>
                <a:gridCol w="1554480"/>
                <a:gridCol w="914400"/>
                <a:gridCol w="4876495"/>
              </a:tblGrid>
              <a:tr h="457200">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ID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Risk</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L / I</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Owner</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c>
                  <a:txBody>
                    <a:bodyPr/>
                    <a:lstStyle/>
                    <a:p>
                      <a:pPr algn="l" indent="0" marL="0">
                        <a:buNone/>
                      </a:pPr>
                      <a:r>
                        <a:rPr lang="en-US" sz="1600" b="1" dirty="0">
                          <a:solidFill>
                            <a:srgbClr val="FFFFFF"/>
                          </a:solidFill>
                          <a:latin typeface="Arial" pitchFamily="34" charset="0"/>
                          <a:ea typeface="Arial" pitchFamily="34" charset="-122"/>
                          <a:cs typeface="Arial" pitchFamily="34" charset="-120"/>
                        </a:rPr>
                        <a:t>Mitigation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387"/>
                    </a:solidFill>
                  </a:tcPr>
                </a:tc>
              </a:tr>
              <a:tr h="676656">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R-01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1F2937"/>
                          </a:solidFill>
                          <a:latin typeface="Arial" pitchFamily="34" charset="0"/>
                          <a:ea typeface="Arial" pitchFamily="34" charset="-122"/>
                          <a:cs typeface="Arial" pitchFamily="34" charset="-120"/>
                        </a:rPr>
                        <a:t>CRUD coverage rejected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Med / High</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Decide by 31/10; reuse UC-06 admin pattern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76656">
                <a:tc>
                  <a:txBody>
                    <a:bodyPr/>
                    <a:lstStyle/>
                    <a:p>
                      <a:pPr algn="l" indent="0" marL="0">
                        <a:buNone/>
                      </a:pPr>
                      <a:r>
                        <a:rPr lang="en-US" sz="1600" b="1" dirty="0">
                          <a:solidFill>
                            <a:srgbClr val="C95B55"/>
                          </a:solidFill>
                          <a:latin typeface="Arial" pitchFamily="34" charset="0"/>
                          <a:ea typeface="Arial" pitchFamily="34" charset="-122"/>
                          <a:cs typeface="Arial" pitchFamily="34" charset="-120"/>
                        </a:rPr>
                        <a:t>R-02</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BE9E7"/>
                    </a:solidFill>
                  </a:tcPr>
                </a:tc>
                <a:tc>
                  <a:txBody>
                    <a:bodyPr/>
                    <a:lstStyle/>
                    <a:p>
                      <a:pPr algn="l" indent="0" marL="0">
                        <a:buNone/>
                      </a:pPr>
                      <a:r>
                        <a:rPr lang="en-US" sz="1600" b="1" dirty="0">
                          <a:solidFill>
                            <a:srgbClr val="1F2937"/>
                          </a:solidFill>
                          <a:latin typeface="Arial" pitchFamily="34" charset="0"/>
                          <a:ea typeface="Arial" pitchFamily="34" charset="-122"/>
                          <a:cs typeface="Arial" pitchFamily="34" charset="-120"/>
                        </a:rPr>
                        <a:t>Rules unconfirmed or changed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High / Med</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Assumption Log; values in configuration</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76656">
                <a:tc>
                  <a:txBody>
                    <a:bodyPr/>
                    <a:lstStyle/>
                    <a:p>
                      <a:pPr algn="l" indent="0" marL="0">
                        <a:buNone/>
                      </a:pPr>
                      <a:r>
                        <a:rPr lang="en-US" sz="1600" b="1" dirty="0">
                          <a:solidFill>
                            <a:srgbClr val="C95B55"/>
                          </a:solidFill>
                          <a:latin typeface="Arial" pitchFamily="34" charset="0"/>
                          <a:ea typeface="Arial" pitchFamily="34" charset="-122"/>
                          <a:cs typeface="Arial" pitchFamily="34" charset="-120"/>
                        </a:rPr>
                        <a:t>R-03</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BE9E7"/>
                    </a:solidFill>
                  </a:tcPr>
                </a:tc>
                <a:tc>
                  <a:txBody>
                    <a:bodyPr/>
                    <a:lstStyle/>
                    <a:p>
                      <a:pPr algn="l" indent="0" marL="0">
                        <a:buNone/>
                      </a:pPr>
                      <a:r>
                        <a:rPr lang="en-US" sz="1600" b="1" dirty="0">
                          <a:solidFill>
                            <a:srgbClr val="1F2937"/>
                          </a:solidFill>
                          <a:latin typeface="Arial" pitchFamily="34" charset="0"/>
                          <a:ea typeface="Arial" pitchFamily="34" charset="-122"/>
                          <a:cs typeface="Arial" pitchFamily="34" charset="-120"/>
                        </a:rPr>
                        <a:t>Peak-hour capacity race</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Med / High</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One BEGIN IMMEDIATE transaction; boundary test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76656">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R-04</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1F2937"/>
                          </a:solidFill>
                          <a:latin typeface="Arial" pitchFamily="34" charset="0"/>
                          <a:ea typeface="Arial" pitchFamily="34" charset="-122"/>
                          <a:cs typeface="Arial" pitchFamily="34" charset="-120"/>
                        </a:rPr>
                        <a:t>Integration drift between use cases</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Med / High</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Shared schema, seed; demo at I3, I4</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676656">
                <a:tc>
                  <a:txBody>
                    <a:bodyPr/>
                    <a:lstStyle/>
                    <a:p>
                      <a:pPr algn="l" indent="0" marL="0">
                        <a:buNone/>
                      </a:pPr>
                      <a:r>
                        <a:rPr lang="en-US" sz="1600" b="1" dirty="0">
                          <a:solidFill>
                            <a:srgbClr val="004387"/>
                          </a:solidFill>
                          <a:latin typeface="Arial" pitchFamily="34" charset="0"/>
                          <a:ea typeface="Arial" pitchFamily="34" charset="-122"/>
                          <a:cs typeface="Arial" pitchFamily="34" charset="-120"/>
                        </a:rPr>
                        <a:t>R-05</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b="1" dirty="0">
                          <a:solidFill>
                            <a:srgbClr val="1F2937"/>
                          </a:solidFill>
                          <a:latin typeface="Arial" pitchFamily="34" charset="0"/>
                          <a:ea typeface="Arial" pitchFamily="34" charset="-122"/>
                          <a:cs typeface="Arial" pitchFamily="34" charset="-120"/>
                        </a:rPr>
                        <a:t>Member absent; new member ramping up</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Med / High</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Dat</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algn="l" indent="0" marL="0">
                        <a:buNone/>
                      </a:pPr>
                      <a:r>
                        <a:rPr lang="en-US" sz="1600" dirty="0">
                          <a:solidFill>
                            <a:srgbClr val="1F2937"/>
                          </a:solidFill>
                          <a:latin typeface="Arial" pitchFamily="34" charset="0"/>
                          <a:ea typeface="Arial" pitchFamily="34" charset="-122"/>
                          <a:cs typeface="Arial" pitchFamily="34" charset="-120"/>
                        </a:rPr>
                        <a:t>Pairing in I2; buffer day 13/11</a:t>
                      </a:r>
                      <a:endParaRPr lang="en-US" sz="1600" dirty="0">
                        <a:latin typeface="Arial" charset="0"/>
                        <a:ea typeface="Arial" charset="0"/>
                        <a:cs typeface="Arial" charset="0"/>
                      </a:endParaRPr>
                    </a:p>
                  </a:txBody>
                  <a:tcPr marL="91440" marR="91440" marT="36576" marB="36576"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164592"/>
            <a:ext cx="11277295" cy="822960"/>
          </a:xfrm>
          <a:prstGeom prst="rect">
            <a:avLst/>
          </a:prstGeom>
          <a:noFill/>
          <a:ln/>
        </p:spPr>
        <p:txBody>
          <a:bodyPr wrap="square" lIns="0" tIns="0" rIns="0" bIns="0" rtlCol="0" anchor="ctr"/>
          <a:lstStyle/>
          <a:p>
            <a:pPr algn="l" indent="0" marL="0">
              <a:buNone/>
            </a:pPr>
            <a:r>
              <a:rPr lang="en-US" sz="2600" b="1" dirty="0">
                <a:solidFill>
                  <a:srgbClr val="185695"/>
                </a:solidFill>
                <a:latin typeface="Arial" pitchFamily="34" charset="0"/>
                <a:ea typeface="Arial" pitchFamily="34" charset="-122"/>
                <a:cs typeface="Arial" pitchFamily="34" charset="-120"/>
              </a:rPr>
              <a:t>What we need from you</a:t>
            </a:r>
            <a:endParaRPr lang="en-US" sz="2600" dirty="0"/>
          </a:p>
        </p:txBody>
      </p:sp>
      <p:sp>
        <p:nvSpPr>
          <p:cNvPr id="3" name="Framing sentence"/>
          <p:cNvSpPr txBox="1"/>
          <p:nvPr/>
        </p:nvSpPr>
        <p:spPr>
          <a:xfrm>
            <a:off x="457200" y="1097280"/>
            <a:ext cx="11277295" cy="365760"/>
          </a:xfrm>
          <a:prstGeom prst="rect">
            <a:avLst/>
          </a:prstGeom>
          <a:noFill/>
          <a:ln/>
        </p:spPr>
        <p:txBody>
          <a:bodyPr wrap="square" lIns="0" tIns="0" rIns="0" bIns="0" rtlCol="0" anchor="ctr"/>
          <a:lstStyle/>
          <a:p>
            <a:pPr algn="l" indent="0" marL="0">
              <a:buNone/>
            </a:pPr>
            <a:r>
              <a:rPr lang="en-US" sz="1800" dirty="0">
                <a:solidFill>
                  <a:srgbClr val="5B6472"/>
                </a:solidFill>
                <a:latin typeface="Arial" pitchFamily="34" charset="0"/>
                <a:ea typeface="Arial" pitchFamily="34" charset="-122"/>
                <a:cs typeface="Arial" pitchFamily="34" charset="-120"/>
              </a:rPr>
              <a:t>We keep building on our defaults until the answers arrive.</a:t>
            </a:r>
            <a:endParaRPr lang="en-US" sz="1800" dirty="0"/>
          </a:p>
        </p:txBody>
      </p:sp>
      <p:sp>
        <p:nvSpPr>
          <p:cNvPr id="4" name="Text 2"/>
          <p:cNvSpPr txBox="1"/>
          <p:nvPr/>
        </p:nvSpPr>
        <p:spPr>
          <a:xfrm>
            <a:off x="457200" y="1554480"/>
            <a:ext cx="6858000" cy="365760"/>
          </a:xfrm>
          <a:prstGeom prst="rect">
            <a:avLst/>
          </a:prstGeom>
          <a:noFill/>
          <a:ln/>
        </p:spPr>
        <p:txBody>
          <a:bodyPr wrap="square" lIns="0" tIns="0" rIns="0" bIns="0" rtlCol="0" anchor="ctr"/>
          <a:lstStyle/>
          <a:p>
            <a:pPr indent="0" marL="0">
              <a:buNone/>
            </a:pPr>
            <a:r>
              <a:rPr lang="en-US" sz="1800" b="1" dirty="0">
                <a:solidFill>
                  <a:srgbClr val="004387"/>
                </a:solidFill>
                <a:latin typeface="Arial" pitchFamily="34" charset="0"/>
                <a:ea typeface="Arial" pitchFamily="34" charset="-122"/>
                <a:cs typeface="Arial" pitchFamily="34" charset="-120"/>
              </a:rPr>
              <a:t>Client questions (with our default)</a:t>
            </a:r>
            <a:endParaRPr lang="en-US" sz="1800" dirty="0"/>
          </a:p>
        </p:txBody>
      </p:sp>
      <p:sp>
        <p:nvSpPr>
          <p:cNvPr id="5" name="Card"/>
          <p:cNvSpPr/>
          <p:nvPr/>
        </p:nvSpPr>
        <p:spPr>
          <a:xfrm>
            <a:off x="457200" y="1965960"/>
            <a:ext cx="6858000" cy="603504"/>
          </a:xfrm>
          <a:prstGeom prst="rect">
            <a:avLst/>
          </a:prstGeom>
          <a:solidFill>
            <a:srgbClr val="E3ECF3"/>
          </a:solidFill>
          <a:ln/>
        </p:spPr>
      </p:sp>
      <p:sp>
        <p:nvSpPr>
          <p:cNvPr id="6" name="Text 4"/>
          <p:cNvSpPr txBox="1"/>
          <p:nvPr/>
        </p:nvSpPr>
        <p:spPr>
          <a:xfrm>
            <a:off x="585216" y="1965960"/>
            <a:ext cx="6601968"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Q1 Workload   </a:t>
            </a:r>
            <a:pPr algn="l" indent="0" marL="0">
              <a:buNone/>
            </a:pPr>
            <a:r>
              <a:rPr lang="en-US" sz="1800" dirty="0">
                <a:solidFill>
                  <a:srgbClr val="1F2937"/>
                </a:solidFill>
                <a:latin typeface="Arial" pitchFamily="34" charset="0"/>
                <a:ea typeface="Arial" pitchFamily="34" charset="-122"/>
                <a:cs typeface="Arial" pitchFamily="34" charset="-120"/>
              </a:rPr>
              <a:t>Busy and quiet hub? Default: at capacity; quiet gets 5,000 VND off.</a:t>
            </a:r>
            <a:endParaRPr lang="en-US" sz="1800" dirty="0"/>
          </a:p>
        </p:txBody>
      </p:sp>
      <p:sp>
        <p:nvSpPr>
          <p:cNvPr id="7" name="Card"/>
          <p:cNvSpPr/>
          <p:nvPr/>
        </p:nvSpPr>
        <p:spPr>
          <a:xfrm>
            <a:off x="457200" y="2633472"/>
            <a:ext cx="6858000" cy="603504"/>
          </a:xfrm>
          <a:prstGeom prst="rect">
            <a:avLst/>
          </a:prstGeom>
          <a:solidFill>
            <a:srgbClr val="E3ECF3"/>
          </a:solidFill>
          <a:ln/>
        </p:spPr>
      </p:sp>
      <p:sp>
        <p:nvSpPr>
          <p:cNvPr id="8" name="Text 6"/>
          <p:cNvSpPr txBox="1"/>
          <p:nvPr/>
        </p:nvSpPr>
        <p:spPr>
          <a:xfrm>
            <a:off x="585216" y="2633472"/>
            <a:ext cx="6601968"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Q2 Delivery   </a:t>
            </a:r>
            <a:pPr algn="l" indent="0" marL="0">
              <a:buNone/>
            </a:pPr>
            <a:r>
              <a:rPr lang="en-US" sz="1800" dirty="0">
                <a:solidFill>
                  <a:srgbClr val="1F2937"/>
                </a:solidFill>
                <a:latin typeface="Arial" pitchFamily="34" charset="0"/>
                <a:ea typeface="Arial" pitchFamily="34" charset="-122"/>
                <a:cs typeface="Arial" pitchFamily="34" charset="-120"/>
              </a:rPr>
              <a:t>Distance, fee? Default: base + per km.</a:t>
            </a:r>
            <a:endParaRPr lang="en-US" sz="1800" dirty="0"/>
          </a:p>
        </p:txBody>
      </p:sp>
      <p:sp>
        <p:nvSpPr>
          <p:cNvPr id="9" name="Card"/>
          <p:cNvSpPr/>
          <p:nvPr/>
        </p:nvSpPr>
        <p:spPr>
          <a:xfrm>
            <a:off x="457200" y="3300984"/>
            <a:ext cx="6858000" cy="603504"/>
          </a:xfrm>
          <a:prstGeom prst="rect">
            <a:avLst/>
          </a:prstGeom>
          <a:solidFill>
            <a:srgbClr val="E3ECF3"/>
          </a:solidFill>
          <a:ln/>
        </p:spPr>
      </p:sp>
      <p:sp>
        <p:nvSpPr>
          <p:cNvPr id="10" name="Text 8"/>
          <p:cNvSpPr txBox="1"/>
          <p:nvPr/>
        </p:nvSpPr>
        <p:spPr>
          <a:xfrm>
            <a:off x="585216" y="3300984"/>
            <a:ext cx="6601968"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Q3 Cancel   </a:t>
            </a:r>
            <a:pPr algn="l" indent="0" marL="0">
              <a:buNone/>
            </a:pPr>
            <a:r>
              <a:rPr lang="en-US" sz="1800" dirty="0">
                <a:solidFill>
                  <a:srgbClr val="1F2937"/>
                </a:solidFill>
                <a:latin typeface="Arial" pitchFamily="34" charset="0"/>
                <a:ea typeface="Arial" pitchFamily="34" charset="-122"/>
                <a:cs typeface="Arial" pitchFamily="34" charset="-120"/>
              </a:rPr>
              <a:t>Until when? Default: before cooking; refund in full.</a:t>
            </a:r>
            <a:endParaRPr lang="en-US" sz="1800" dirty="0"/>
          </a:p>
        </p:txBody>
      </p:sp>
      <p:sp>
        <p:nvSpPr>
          <p:cNvPr id="11" name="Card"/>
          <p:cNvSpPr/>
          <p:nvPr/>
        </p:nvSpPr>
        <p:spPr>
          <a:xfrm>
            <a:off x="457200" y="3968496"/>
            <a:ext cx="6858000" cy="603504"/>
          </a:xfrm>
          <a:prstGeom prst="rect">
            <a:avLst/>
          </a:prstGeom>
          <a:solidFill>
            <a:srgbClr val="E3ECF3"/>
          </a:solidFill>
          <a:ln/>
        </p:spPr>
      </p:sp>
      <p:sp>
        <p:nvSpPr>
          <p:cNvPr id="12" name="Text 10"/>
          <p:cNvSpPr txBox="1"/>
          <p:nvPr/>
        </p:nvSpPr>
        <p:spPr>
          <a:xfrm>
            <a:off x="585216" y="3968496"/>
            <a:ext cx="6601968"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Q4 Payment   </a:t>
            </a:r>
            <a:pPr algn="l" indent="0" marL="0">
              <a:buNone/>
            </a:pPr>
            <a:r>
              <a:rPr lang="en-US" sz="1800" dirty="0">
                <a:solidFill>
                  <a:srgbClr val="1F2937"/>
                </a:solidFill>
                <a:latin typeface="Arial" pitchFamily="34" charset="0"/>
                <a:ea typeface="Arial" pitchFamily="34" charset="-122"/>
                <a:cs typeface="Arial" pitchFamily="34" charset="-120"/>
              </a:rPr>
              <a:t>Online options? Default: wallet, card.</a:t>
            </a:r>
            <a:endParaRPr lang="en-US" sz="1800" dirty="0"/>
          </a:p>
        </p:txBody>
      </p:sp>
      <p:sp>
        <p:nvSpPr>
          <p:cNvPr id="13" name="Card"/>
          <p:cNvSpPr/>
          <p:nvPr/>
        </p:nvSpPr>
        <p:spPr>
          <a:xfrm>
            <a:off x="457200" y="4636008"/>
            <a:ext cx="6858000" cy="603504"/>
          </a:xfrm>
          <a:prstGeom prst="rect">
            <a:avLst/>
          </a:prstGeom>
          <a:solidFill>
            <a:srgbClr val="E3ECF3"/>
          </a:solidFill>
          <a:ln/>
        </p:spPr>
      </p:sp>
      <p:sp>
        <p:nvSpPr>
          <p:cNvPr id="14" name="Text 12"/>
          <p:cNvSpPr txBox="1"/>
          <p:nvPr/>
        </p:nvSpPr>
        <p:spPr>
          <a:xfrm>
            <a:off x="585216" y="4636008"/>
            <a:ext cx="6601968"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Q5 Reports   </a:t>
            </a:r>
            <a:pPr algn="l" indent="0" marL="0">
              <a:buNone/>
            </a:pPr>
            <a:r>
              <a:rPr lang="en-US" sz="1800" dirty="0">
                <a:solidFill>
                  <a:srgbClr val="1F2937"/>
                </a:solidFill>
                <a:latin typeface="Arial" pitchFamily="34" charset="0"/>
                <a:ea typeface="Arial" pitchFamily="34" charset="-122"/>
                <a:cs typeface="Arial" pitchFamily="34" charset="-120"/>
              </a:rPr>
              <a:t>Which date? Default: delivered date.</a:t>
            </a:r>
            <a:endParaRPr lang="en-US" sz="1800" dirty="0"/>
          </a:p>
        </p:txBody>
      </p:sp>
      <p:sp>
        <p:nvSpPr>
          <p:cNvPr id="15" name="Text 13"/>
          <p:cNvSpPr txBox="1"/>
          <p:nvPr/>
        </p:nvSpPr>
        <p:spPr>
          <a:xfrm>
            <a:off x="7589520" y="1554480"/>
            <a:ext cx="4144975" cy="365760"/>
          </a:xfrm>
          <a:prstGeom prst="rect">
            <a:avLst/>
          </a:prstGeom>
          <a:noFill/>
          <a:ln/>
        </p:spPr>
        <p:txBody>
          <a:bodyPr wrap="square" lIns="0" tIns="0" rIns="0" bIns="0" rtlCol="0" anchor="ctr"/>
          <a:lstStyle/>
          <a:p>
            <a:pPr indent="0" marL="0">
              <a:buNone/>
            </a:pPr>
            <a:r>
              <a:rPr lang="en-US" sz="1800" b="1" dirty="0">
                <a:solidFill>
                  <a:srgbClr val="004387"/>
                </a:solidFill>
                <a:latin typeface="Arial" pitchFamily="34" charset="0"/>
                <a:ea typeface="Arial" pitchFamily="34" charset="-122"/>
                <a:cs typeface="Arial" pitchFamily="34" charset="-120"/>
              </a:rPr>
              <a:t>Questions for the lecturer</a:t>
            </a:r>
            <a:endParaRPr lang="en-US" sz="1800" dirty="0"/>
          </a:p>
        </p:txBody>
      </p:sp>
      <p:sp>
        <p:nvSpPr>
          <p:cNvPr id="16" name="Card"/>
          <p:cNvSpPr/>
          <p:nvPr/>
        </p:nvSpPr>
        <p:spPr>
          <a:xfrm>
            <a:off x="7589520" y="1965960"/>
            <a:ext cx="4144975" cy="603504"/>
          </a:xfrm>
          <a:prstGeom prst="rect">
            <a:avLst/>
          </a:prstGeom>
          <a:solidFill>
            <a:srgbClr val="E3ECF3"/>
          </a:solidFill>
          <a:ln/>
        </p:spPr>
      </p:sp>
      <p:sp>
        <p:nvSpPr>
          <p:cNvPr id="17" name="Text 15"/>
          <p:cNvSpPr txBox="1"/>
          <p:nvPr/>
        </p:nvSpPr>
        <p:spPr>
          <a:xfrm>
            <a:off x="7717536" y="1965960"/>
            <a:ext cx="3888943"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L1   </a:t>
            </a:r>
            <a:pPr algn="l" indent="0" marL="0">
              <a:buNone/>
            </a:pPr>
            <a:r>
              <a:rPr lang="en-US" sz="1800" dirty="0">
                <a:solidFill>
                  <a:srgbClr val="1F2937"/>
                </a:solidFill>
                <a:latin typeface="Arial" pitchFamily="34" charset="0"/>
                <a:ea typeface="Arial" pitchFamily="34" charset="-122"/>
                <a:cs typeface="Arial" pitchFamily="34" charset="-120"/>
              </a:rPr>
              <a:t>Analysis plus seed data enough for CRUD?</a:t>
            </a:r>
            <a:endParaRPr lang="en-US" sz="1800" dirty="0"/>
          </a:p>
        </p:txBody>
      </p:sp>
      <p:sp>
        <p:nvSpPr>
          <p:cNvPr id="18" name="Card"/>
          <p:cNvSpPr/>
          <p:nvPr/>
        </p:nvSpPr>
        <p:spPr>
          <a:xfrm>
            <a:off x="7589520" y="2633472"/>
            <a:ext cx="4144975" cy="603504"/>
          </a:xfrm>
          <a:prstGeom prst="rect">
            <a:avLst/>
          </a:prstGeom>
          <a:solidFill>
            <a:srgbClr val="E3ECF3"/>
          </a:solidFill>
          <a:ln/>
        </p:spPr>
      </p:sp>
      <p:sp>
        <p:nvSpPr>
          <p:cNvPr id="19" name="Text 17"/>
          <p:cNvSpPr txBox="1"/>
          <p:nvPr/>
        </p:nvSpPr>
        <p:spPr>
          <a:xfrm>
            <a:off x="7717536" y="2633472"/>
            <a:ext cx="3888943"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L2   </a:t>
            </a:r>
            <a:pPr algn="l" indent="0" marL="0">
              <a:buNone/>
            </a:pPr>
            <a:r>
              <a:rPr lang="en-US" sz="1800" dirty="0">
                <a:solidFill>
                  <a:srgbClr val="1F2937"/>
                </a:solidFill>
                <a:latin typeface="Arial" pitchFamily="34" charset="0"/>
                <a:ea typeface="Arial" pitchFamily="34" charset="-122"/>
                <a:cs typeface="Arial" pitchFamily="34" charset="-120"/>
              </a:rPr>
              <a:t>Team-built payment stub acceptable?</a:t>
            </a:r>
            <a:endParaRPr lang="en-US" sz="1800" dirty="0"/>
          </a:p>
        </p:txBody>
      </p:sp>
      <p:sp>
        <p:nvSpPr>
          <p:cNvPr id="20" name="Card"/>
          <p:cNvSpPr/>
          <p:nvPr/>
        </p:nvSpPr>
        <p:spPr>
          <a:xfrm>
            <a:off x="7589520" y="3300984"/>
            <a:ext cx="4144975" cy="603504"/>
          </a:xfrm>
          <a:prstGeom prst="rect">
            <a:avLst/>
          </a:prstGeom>
          <a:solidFill>
            <a:srgbClr val="E3ECF3"/>
          </a:solidFill>
          <a:ln/>
        </p:spPr>
      </p:sp>
      <p:sp>
        <p:nvSpPr>
          <p:cNvPr id="21" name="Text 19"/>
          <p:cNvSpPr txBox="1"/>
          <p:nvPr/>
        </p:nvSpPr>
        <p:spPr>
          <a:xfrm>
            <a:off x="7717536" y="3300984"/>
            <a:ext cx="3888943"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L3   </a:t>
            </a:r>
            <a:pPr algn="l" indent="0" marL="0">
              <a:buNone/>
            </a:pPr>
            <a:r>
              <a:rPr lang="en-US" sz="1800" dirty="0">
                <a:solidFill>
                  <a:srgbClr val="1F2937"/>
                </a:solidFill>
                <a:latin typeface="Arial" pitchFamily="34" charset="0"/>
                <a:ea typeface="Arial" pitchFamily="34" charset="-122"/>
                <a:cs typeface="Arial" pitchFamily="34" charset="-120"/>
              </a:rPr>
              <a:t>Defer complaint, refund, rating?</a:t>
            </a:r>
            <a:endParaRPr lang="en-US" sz="1800" dirty="0"/>
          </a:p>
        </p:txBody>
      </p:sp>
      <p:sp>
        <p:nvSpPr>
          <p:cNvPr id="22" name="Card"/>
          <p:cNvSpPr/>
          <p:nvPr/>
        </p:nvSpPr>
        <p:spPr>
          <a:xfrm>
            <a:off x="7589520" y="3968496"/>
            <a:ext cx="4144975" cy="603504"/>
          </a:xfrm>
          <a:prstGeom prst="rect">
            <a:avLst/>
          </a:prstGeom>
          <a:solidFill>
            <a:srgbClr val="E3ECF3"/>
          </a:solidFill>
          <a:ln/>
        </p:spPr>
      </p:sp>
      <p:sp>
        <p:nvSpPr>
          <p:cNvPr id="23" name="Text 21"/>
          <p:cNvSpPr txBox="1"/>
          <p:nvPr/>
        </p:nvSpPr>
        <p:spPr>
          <a:xfrm>
            <a:off x="7717536" y="3968496"/>
            <a:ext cx="3888943"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L4   </a:t>
            </a:r>
            <a:pPr algn="l" indent="0" marL="0">
              <a:buNone/>
            </a:pPr>
            <a:r>
              <a:rPr lang="en-US" sz="1800" dirty="0">
                <a:solidFill>
                  <a:srgbClr val="1F2937"/>
                </a:solidFill>
                <a:latin typeface="Arial" pitchFamily="34" charset="0"/>
                <a:ea typeface="Arial" pitchFamily="34" charset="-122"/>
                <a:cs typeface="Arial" pitchFamily="34" charset="-120"/>
              </a:rPr>
              <a:t>Python with Flask acceptable?</a:t>
            </a:r>
            <a:endParaRPr lang="en-US" sz="1800" dirty="0"/>
          </a:p>
        </p:txBody>
      </p:sp>
      <p:sp>
        <p:nvSpPr>
          <p:cNvPr id="24" name="Card"/>
          <p:cNvSpPr/>
          <p:nvPr/>
        </p:nvSpPr>
        <p:spPr>
          <a:xfrm>
            <a:off x="7589520" y="4636008"/>
            <a:ext cx="4144975" cy="603504"/>
          </a:xfrm>
          <a:prstGeom prst="rect">
            <a:avLst/>
          </a:prstGeom>
          <a:solidFill>
            <a:srgbClr val="E3ECF3"/>
          </a:solidFill>
          <a:ln/>
        </p:spPr>
      </p:sp>
      <p:sp>
        <p:nvSpPr>
          <p:cNvPr id="25" name="Text 23"/>
          <p:cNvSpPr txBox="1"/>
          <p:nvPr/>
        </p:nvSpPr>
        <p:spPr>
          <a:xfrm>
            <a:off x="7717536" y="4636008"/>
            <a:ext cx="3888943" cy="603504"/>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L5   </a:t>
            </a:r>
            <a:pPr algn="l" indent="0" marL="0">
              <a:buNone/>
            </a:pPr>
            <a:r>
              <a:rPr lang="en-US" sz="1800" dirty="0">
                <a:solidFill>
                  <a:srgbClr val="1F2937"/>
                </a:solidFill>
                <a:latin typeface="Arial" pitchFamily="34" charset="0"/>
                <a:ea typeface="Arial" pitchFamily="34" charset="-122"/>
                <a:cs typeface="Arial" pitchFamily="34" charset="-120"/>
              </a:rPr>
              <a:t>Third member, UC-05 and UC-06 accepted?</a:t>
            </a:r>
            <a:endParaRPr lang="en-US" sz="1800" dirty="0"/>
          </a:p>
        </p:txBody>
      </p:sp>
      <p:sp>
        <p:nvSpPr>
          <p:cNvPr id="26" name="Card"/>
          <p:cNvSpPr/>
          <p:nvPr/>
        </p:nvSpPr>
        <p:spPr>
          <a:xfrm>
            <a:off x="457200" y="5532120"/>
            <a:ext cx="11277295" cy="777240"/>
          </a:xfrm>
          <a:prstGeom prst="rect">
            <a:avLst/>
          </a:prstGeom>
          <a:solidFill>
            <a:srgbClr val="E3ECF3"/>
          </a:solidFill>
          <a:ln/>
        </p:spPr>
      </p:sp>
      <p:sp>
        <p:nvSpPr>
          <p:cNvPr id="27" name="Text 25"/>
          <p:cNvSpPr txBox="1"/>
          <p:nvPr/>
        </p:nvSpPr>
        <p:spPr>
          <a:xfrm>
            <a:off x="585216" y="5532120"/>
            <a:ext cx="11021263" cy="777240"/>
          </a:xfrm>
          <a:prstGeom prst="rect">
            <a:avLst/>
          </a:prstGeom>
          <a:noFill/>
          <a:ln/>
        </p:spPr>
        <p:txBody>
          <a:bodyPr wrap="square" lIns="0" tIns="0" rIns="0" bIns="0" rtlCol="0" anchor="ctr"/>
          <a:lstStyle/>
          <a:p>
            <a:pPr algn="l" indent="0" marL="0">
              <a:buNone/>
            </a:pPr>
            <a:r>
              <a:rPr lang="en-US" sz="1800" b="1" dirty="0">
                <a:solidFill>
                  <a:srgbClr val="004387"/>
                </a:solidFill>
                <a:latin typeface="Arial" pitchFamily="34" charset="0"/>
                <a:ea typeface="Arial" pitchFamily="34" charset="-122"/>
                <a:cs typeface="Arial" pitchFamily="34" charset="-120"/>
              </a:rPr>
              <a:t>Close  </a:t>
            </a:r>
            <a:pPr algn="l" indent="0" marL="0">
              <a:buNone/>
            </a:pPr>
            <a:r>
              <a:rPr lang="en-US" sz="1800" dirty="0">
                <a:solidFill>
                  <a:srgbClr val="1F2937"/>
                </a:solidFill>
                <a:latin typeface="Arial" pitchFamily="34" charset="0"/>
                <a:ea typeface="Arial" pitchFamily="34" charset="-122"/>
                <a:cs typeface="Arial" pitchFamily="34" charset="-120"/>
              </a:rPr>
              <a:t>Please answer by 31/10. Iteration 2 starts on 27/10.</a:t>
            </a:r>
            <a:endParaRPr lang="en-US" sz="1800" dirty="0"/>
          </a:p>
        </p:txBody>
      </p:sp>
      <p:sp>
        <p:nvSpPr>
          <p:cNvPr id="25" name="Slide Number Placeholder 0"/>
          <p:cNvSpPr>
            <a:spLocks noGrp="1"/>
          </p:cNvSpPr>
          <p:nvPr>
            <p:ph type="sldNum" sz="quarter" idx="4294967295"/>
          </p:nvPr>
        </p:nvSpPr>
        <p:spPr>
          <a:xfrm>
            <a:off x="10820095" y="6446520"/>
            <a:ext cx="914400" cy="32004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600">
                <a:solidFill>
                  <a:srgbClr val="5B6472"/>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SaigonBite Project Proposal (Part 1)</dc:title>
  <dc:subject>PptxGenJS Presentation</dc:subject>
  <dc:creator>Team02</dc:creator>
  <cp:lastModifiedBy>Team02</cp:lastModifiedBy>
  <cp:revision>1</cp:revision>
  <dcterms:created xsi:type="dcterms:W3CDTF">2026-10-22T07:37:24Z</dcterms:created>
  <dcterms:modified xsi:type="dcterms:W3CDTF">2026-10-22T07:37:24Z</dcterms:modified>
</cp:coreProperties>
</file>