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Dat
Time: 0:00-0:25
- Introduce both names and the case: SaigonBite, cloud kitchens in Ho Chi Minh City.
- The next eight minutes cover the business process, ownership, six iterations, the Iteration 1 plan and result, risks and questions.
- Quan takes the business process and the actors.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Dat
Time: 0:25-1:15
- Lunch peak: customers wait an hour at one hub while a nearby hub is almost idle; nobody outside the kitchen can see the load.
- Menus change but the apps do not, so staff phone customers. Cash reaches the hub at day end, sometimes with mistakes. Tourists cannot order at all.
- Vision: one order record, visible workload, clear hand-overs, reports from the same data.
- Say plainly that the benefits are targets; the system records timestamps from Iteration 3 so they can be measured.
- HAND-OVER 1 (Dat to Quan): now Quan takes the business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Quan
Time: 1:15-1:35
- Framing: orientation map; zones A to D run left to right, and the next four slides zoom into each zone.
- Quan takes over. One order record that every role can see.
- The whole process on one slide: five lanes, Customer, OFDH platform, Kitchen staff, Shipper, Office staff / Manager. No need to read it.
- Four zones, A to D, each shown next for about 25 seconds. Red marks failure or exception paths; grey marks actions that are in the process but not built in this release (A-08, A-09). The small framed activity at the bottom left is the reports activity, part of zone D.
- Caption: AI-assisted, owner Quan 523K0049 (Appendix 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Quan
Time: 1:35-2:00
- Framing: Order, quote and payment: a failed online payment returns to retry or COD.
- Customer browses, picks a hub and adds items. The first merge joins the start and the loop back from the quieter-hub suggestion.
- If the hub is busy the platform suggests a quieter hub and the customer chooses again. Not busy: quote with delivery fee and voucher, then cash on delivery or the online stub.
- A failed online payment returns to retry or COD, so no order is created. Otherwise the platform creates the order as PLACED and notifies the hub.
- Quan prep, merge vs join: a merge brings alternative paths together and nothing waits; a join waits for every parallel flow. A decision node takes one incoming flow, so paths merge first. Dat backs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Quan
Time: 2:00-2:25
- Framing: Kitchen: out of stock means replace with consent, or reject.
- Kitchen checks stock. An item that ran out: the kitchen offers a replacement and the customer decides, in the Customer lane. If the customer declines, the order is rejected.
- Kitchen confirms or rejects. Both rejects merge, then Reject order: void COD, online to REFUND_PENDING (Q3). Confirmed: prepare food, mark READY.
- Cancel order is a separate small activity (Part E, strip under the figure; proposal Figure 1e), allowed while the order is PLACED or CONFIRMED, refused once PREPARING. Analysed only, like the other supporting use cases (A-08).
- Quan prep, cancel as a separate activity: a customer can ask at any time, so it is not a step of the main flow. The state check and the change happen in one transaction with a conditional update, so a cancel and a kitchen confirm cannot both win. Dat backs up.
- Quan prep, Flow Final vs Activity Final: flow final ends one path while the order may still run; activity final ends the whole activity, used only where nothing else can run, such as reject before preparation.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Quan
Time: 2:25-2:50
- Framing: Delivery and cash: collected at the door, reconciled at the end of the shift.
- Shipper picks up the ready order and delivers it.
- Success with COD: the shipper records the cash collection and the order is DELIVERED. At the end of the shift the shipper hands the cash to the hub and office staff reconcile it.
- Success and paid online: DELIVERED and a receipt. DELIVERED is the order state; PAID is the payment state.
- Failure: report it and return the food; the platform then marks DELIVERY_FAILED (zone D): a COD payment is voided and that path ends, nothing was paid; an online payment becomes REFUND_PENDING and reaches the refund decision.
- Quan prep, collection vs reconciliation: collection happens at the door, one order, the shipper, payment becomes PAID. Reconciliation happens at shift end, office staff compare the handed-over cash with the per-order records. Different people, time and lane. Dat backs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Quan
Time: 2:50-3:15
- Framing: Complaint and refund stay in the process but are not built in this release.
- Delivered orders: the platform marks DELIVERED and issues a receipt; the customer may rate the order, or complain about a wrong or late order. A failed delivery is marked DELIVERY_FAILED here, with COD voided.
- Complaint and the failed online delivery meet at a merge, then office staff decide Refund approved? A COD customer after a failed delivery never reaches it: nothing was paid.
- Say what is built: complaint, refund and rating are grey, in the process but deferred (A-09).
- Reports are a separate activity with its own start and Activity Final, reading the same shared records.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Quan
Time: 3:15-3:45
- Customer comes in two types, local and tourist, with different online options; both can pay cash.
- Kitchen staff are the gate: they reject when an item is gone, and marking ready makes the order visible to shippers.
- The shipper records COD collection and hands the cash to the hub; office staff reconcile it at the end of the shift. Delivered is not paid.
- Admin sets the capacity the busy rule reads. Manager reads the same records, not a copy. The payment provider is our stub.
- Quan prep, answer if asked: collection vs reconciliation, merge vs join, Flow Final vs Activity Final, cancel as a separate activity (see slides 4 to 7).
- HAND-OVER 2 (Quan to Dat): now Dat covers ownership and the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Dat
Time: 3:45-4:25
- Candidates #3, #10, #13, #16; exactly two each; groups ordering, fulfilment, full CRUD and report all covered.
- State machines: Dat Order and Hub, Quan Delivery. Part 3: Dat presents UC-01, Quan UC-02. Dat is integration lead; Quan keeps schema and seed.
- Minimum support: Kitchen board and role-based login with seeded users, so one order can travel from placement to delivery.
- Analysed only: the supporting use cases, including Cancel order (Figure 1e), with CRUD coverage by analysis and seed data, pending the lecturer (A-08, L1). Deferred core features: complaint, refund and rating stay in the process but are not built (A-09, L3).
- The demo uses a seeded hub with a menu; Create Hub is tested separately.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Dat
Time: 4:25-4:55
- Six iterations; each analyses, designs, builds and tests a working increment and ends with a joint review by both of us.
- Why iterative: capacity, fees and report definitions come from the client later; four use cases share one order; deadlines are fixed.
- Stack decided: Python 3.12 or later (the Iteration 1 code was tested on 3.13); both strongest in Python; hand-written SQL in DAOs supports the database mapping and SQL sections; SQLite needs no server.
- Three layers, four roles: View, Controller, Domain, DAO. One application, one database.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Dat
Time: 4:55-5:45
- One phrase per iteration: I1 persisted COD order; I2 hub CRUD, capacity rule, Kitchen board; I3 full ordering and delivery; I4 reports, integrated demo, Figma; I5 final models, tests, deployment, Part 2 report (tag v0.9-part2); I6 feedback fixes, v1.0-final, Part 3.
- Milestones: 26/10 live Part 1; 31/10 lecturer answers L1 to L4; 12/11 feature freeze; 13/11 I5 buffer day; 15/11 and 16/11 Part 2; 29/11 and 30/11 Part 3.
- Contingency before Part 2: if L1 is rejected the generic admin fallback (about 12 person-hours per class) is built in I3 and I4 from the I3 to I5 buffers. I6 is not a rescue buffer for Part 2 content.
- One exit check per iteration, for example the capacity boundary test in I2. Effort: 4 hours per student per day; Dat about 61 % of the build hours, Quan about 39 %.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Dat
Time: 5:45-6:35
- D1 Sat 17/10: identify the problem and plan. Dat writes the vision, backlog and UC-01 stories; Quan sets up the repository, Flask skeleton, init_db.py, events and actors.
- D2 and D3: discover, then design. Dat writes the UC-01 description, activity, SSD and Order state machine; Quan the domain model, CRUD inventory, schema, seed and UC-02 draft.
- D4 and D5: build, test, integrate. Controller, DAOs, checkout page; pytest including invalid input and a double submit; role checks on the server.
- D6 Thu 22/10: second-machine run on Quan's laptop and the Iteration 1 review.
- Acceptance: a COD order saved and read back with the same total on a second machine (AC-1 to AC-9).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Dat
Time: 6:35-7:15
- Real figures only. Say plainly: Iteration 1 was built early, on 19/10, with AI assistance (Claude), not over the six planned days; the team review of the code is still to do.
- Acceptance criteria: 7 of 9 met; AC-1 (same-machine clone only) and AC-9 (no activity diagram, no review) partial, 19/10
- pytest: 81 passed, 0 failed - 19/10/2026, commit 049673d (tag i1-evidence). The screenshot is the saved order read back: ID 1, PLACED, COD, total 160,000 VND.
- Second-machine run on Quan's laptop: ⟦ACTUAL second_machine_result: result and problems found on Quan's laptop⟧. Person-hours of the two of us: ⟦ACTUAL hours_human: hours logged by Dat and Quan⟧.
- Lesson that changed the plan: ⟦ACTUAL lesson_learned: lesson from Iteration 1⟧
- Use the real hours figure to re-check the Iteration 2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Dat
Time: 7:15-7:50
- R-03 capacity race: two orders accepted past capacity. Count and insert in one SQLite BEGIN IMMEDIATE transaction, plus a boundary test.
- R-02 rules unconfirmed: every rule is in the Assumption Log with its question; thresholds and fees sit in configuration.
- R-01 CRUD coverage: lecturer answers by 31/10; fallback is one generic admin pattern at about 12 person-hours per class, built in I3 and I4 from the I3 to I5 buffers.
- R-04 integration drift: Dat is integration lead and runs the demo scenario at the end of I3 and I4; Quan keeps the shared schema and seed. R-05: Quan; cross-review, both can run the repo, freeze 12/11, buffer day 13/11.
- US-15 quiet-hub incentive is a Must in minimal form: one configurable delivery-fee discount; advanced variants are Should.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Dat
Time: 7:50-8:30
- Ten assumptions are logged with owner and status: A-01 to A-09 proposed (A-02 to A-09 each tied to a client or lecturer question); A-10, the live presentation, confirmed verbally by the lecturer.
- Each client question asks for one decision with our default: Q1 busy at or above hub capacity, plus the quiet-hub incentive figures; Q2 straight-line km, base fee plus per km; Q3 cancel while PLACED or CONFIRMED, COD voided, online REFUND_PENDING; Q4 local e-wallet or bank QR, tourist card; Q5 delivered date.
- Ask the lecturer L1 to L4: CRUD by analysis plus seed (and which classes if not), the payment stub, deferral of complaint, refund and rating, and Python (3.12 or later; Iteration 1 tested on 3.13). We need the answers by Saturday 31/10 so any extra build fits before the Part 2 report.
- Close: Iteration 2 starts 27/10 with hub CRUD and the capacity rule. Thank the panel and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85695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Shape 0"/>
          <p:cNvSpPr/>
          <p:nvPr/>
        </p:nvSpPr>
        <p:spPr>
          <a:xfrm>
            <a:off x="457200" y="1005840"/>
            <a:ext cx="11277295" cy="0"/>
          </a:xfrm>
          <a:prstGeom prst="line">
            <a:avLst/>
          </a:prstGeom>
          <a:noFill/>
          <a:ln w="19050">
            <a:solidFill>
              <a:srgbClr val="00438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SaigonBite · Team02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6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09728"/>
            <a:ext cx="11277295" cy="62179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85695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Shape 0"/>
          <p:cNvSpPr/>
          <p:nvPr/>
        </p:nvSpPr>
        <p:spPr>
          <a:xfrm>
            <a:off x="457200" y="786384"/>
            <a:ext cx="11277295" cy="0"/>
          </a:xfrm>
          <a:prstGeom prst="line">
            <a:avLst/>
          </a:prstGeom>
          <a:noFill/>
          <a:ln w="19050">
            <a:solidFill>
              <a:srgbClr val="00438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SaigonBite · Team02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6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SaigonBite · Team02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6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6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 Sem01_2627  ·  PART 1 PROJECT PROPOSAL</a:t>
            </a:r>
            <a:endParaRPr lang="en-US" sz="1800" dirty="0"/>
          </a:p>
        </p:txBody>
      </p:sp>
      <p:sp>
        <p:nvSpPr>
          <p:cNvPr id="3" name="Title"/>
          <p:cNvSpPr txBox="1"/>
          <p:nvPr/>
        </p:nvSpPr>
        <p:spPr>
          <a:xfrm>
            <a:off x="822960" y="132588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SaigonBite: one platform to spread lunch-hour orders across hubs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Food Delivery Hub Platform (OFDH)</a:t>
            </a:r>
            <a:endParaRPr lang="en-US" sz="2000" dirty="0"/>
          </a:p>
        </p:txBody>
      </p:sp>
      <p:sp>
        <p:nvSpPr>
          <p:cNvPr id="5" name="Card"/>
          <p:cNvSpPr/>
          <p:nvPr/>
        </p:nvSpPr>
        <p:spPr>
          <a:xfrm>
            <a:off x="822960" y="3657600"/>
            <a:ext cx="5029200" cy="1325880"/>
          </a:xfrm>
          <a:prstGeom prst="rect">
            <a:avLst/>
          </a:prstGeom>
          <a:solidFill>
            <a:srgbClr val="E3ECF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50976" y="3657600"/>
            <a:ext cx="47731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Nguyen Thanh Dat · 722I0004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Owns UC-01 Place an order and UC-03 Manage hubs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6126480" y="3657600"/>
            <a:ext cx="5029200" cy="1325880"/>
          </a:xfrm>
          <a:prstGeom prst="rect">
            <a:avLst/>
          </a:prstGeom>
          <a:solidFill>
            <a:srgbClr val="E3ECF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54496" y="3657600"/>
            <a:ext cx="47731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Minh Quan · 523K0049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Owns UC-02 Deliver an order and UC-04 Reports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349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Team02  ·  Presented live on 26 October 2026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6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856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tickets hide the queue: one hub overloads, another idles</a:t>
            </a:r>
            <a:endParaRPr lang="en-US" sz="2600" dirty="0"/>
          </a:p>
        </p:txBody>
      </p:sp>
      <p:sp>
        <p:nvSpPr>
          <p:cNvPr id="3" name="Framing sentence"/>
          <p:cNvSpPr txBox="1"/>
          <p:nvPr/>
        </p:nvSpPr>
        <p:spPr>
          <a:xfrm>
            <a:off x="457200" y="10972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pains from the case map to five capabilities of one shared platform.</a:t>
            </a:r>
            <a:endParaRPr lang="en-US" sz="1800" dirty="0"/>
          </a:p>
        </p:txBody>
      </p:sp>
      <p:graphicFrame>
        <p:nvGraphicFramePr>
          <p:cNvPr id="3" name="Pain to capabilit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7295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542513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Pain (from the case)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Capability in this release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hub overloaded, another idle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Busy-hub block, quieter-hub suggestion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handed over late, with mistakes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recorded per order, reconciled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Ingredient runs out; staff phone customers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 or replace with consent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Tourists cannot register or pay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and tourist types; COD for all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reliable reports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Reports from shared records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457200" y="5440680"/>
            <a:ext cx="11277295" cy="868680"/>
          </a:xfrm>
          <a:prstGeom prst="rect">
            <a:avLst/>
          </a:prstGeom>
          <a:solidFill>
            <a:srgbClr val="E3ECF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85216" y="5440680"/>
            <a:ext cx="110212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 </a:t>
            </a:r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order record, visible workload, reports from the same data. Benefits are expected, not measured.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6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09728"/>
            <a:ext cx="112772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856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order crosses five roles, and every branch has an owner</a:t>
            </a:r>
            <a:endParaRPr lang="en-US" sz="2600" dirty="0"/>
          </a:p>
        </p:txBody>
      </p:sp>
      <p:sp>
        <p:nvSpPr>
          <p:cNvPr id="3" name="Zone label A"/>
          <p:cNvSpPr/>
          <p:nvPr/>
        </p:nvSpPr>
        <p:spPr>
          <a:xfrm>
            <a:off x="692074" y="1105761"/>
            <a:ext cx="3801669" cy="420624"/>
          </a:xfrm>
          <a:prstGeom prst="rect">
            <a:avLst/>
          </a:prstGeom>
          <a:solidFill>
            <a:srgbClr val="E3ECF3"/>
          </a:solidFill>
          <a:ln w="12700">
            <a:solidFill>
              <a:srgbClr val="004387"/>
            </a:solidFill>
            <a:prstDash val="solid"/>
          </a:ln>
        </p:spPr>
      </p:sp>
      <p:sp>
        <p:nvSpPr>
          <p:cNvPr id="4" name="Zone badge A"/>
          <p:cNvSpPr/>
          <p:nvPr/>
        </p:nvSpPr>
        <p:spPr>
          <a:xfrm>
            <a:off x="737794" y="1169769"/>
            <a:ext cx="292608" cy="292608"/>
          </a:xfrm>
          <a:prstGeom prst="ellipse">
            <a:avLst/>
          </a:prstGeom>
          <a:solidFill>
            <a:srgbClr val="00438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5" name="Zone text A"/>
          <p:cNvSpPr txBox="1"/>
          <p:nvPr/>
        </p:nvSpPr>
        <p:spPr>
          <a:xfrm>
            <a:off x="1140130" y="1105761"/>
            <a:ext cx="3335325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and pay</a:t>
            </a:r>
            <a:endParaRPr lang="en-US" sz="1800" dirty="0"/>
          </a:p>
        </p:txBody>
      </p:sp>
      <p:sp>
        <p:nvSpPr>
          <p:cNvPr id="6" name="Zone label B"/>
          <p:cNvSpPr/>
          <p:nvPr/>
        </p:nvSpPr>
        <p:spPr>
          <a:xfrm>
            <a:off x="4548607" y="1105761"/>
            <a:ext cx="2387293" cy="420624"/>
          </a:xfrm>
          <a:prstGeom prst="rect">
            <a:avLst/>
          </a:prstGeom>
          <a:solidFill>
            <a:srgbClr val="E3ECF3"/>
          </a:solidFill>
          <a:ln w="12700">
            <a:solidFill>
              <a:srgbClr val="004387"/>
            </a:solidFill>
            <a:prstDash val="solid"/>
          </a:ln>
        </p:spPr>
      </p:sp>
      <p:sp>
        <p:nvSpPr>
          <p:cNvPr id="7" name="Zone badge B"/>
          <p:cNvSpPr/>
          <p:nvPr/>
        </p:nvSpPr>
        <p:spPr>
          <a:xfrm>
            <a:off x="4594327" y="1169769"/>
            <a:ext cx="292608" cy="292608"/>
          </a:xfrm>
          <a:prstGeom prst="ellipse">
            <a:avLst/>
          </a:prstGeom>
          <a:solidFill>
            <a:srgbClr val="00438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8" name="Zone text B"/>
          <p:cNvSpPr txBox="1"/>
          <p:nvPr/>
        </p:nvSpPr>
        <p:spPr>
          <a:xfrm>
            <a:off x="4996663" y="1105761"/>
            <a:ext cx="1920949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Kitchen</a:t>
            </a:r>
            <a:endParaRPr lang="en-US" sz="1800" dirty="0"/>
          </a:p>
        </p:txBody>
      </p:sp>
      <p:sp>
        <p:nvSpPr>
          <p:cNvPr id="9" name="Zone label C"/>
          <p:cNvSpPr/>
          <p:nvPr/>
        </p:nvSpPr>
        <p:spPr>
          <a:xfrm>
            <a:off x="6990764" y="1105761"/>
            <a:ext cx="2076130" cy="420624"/>
          </a:xfrm>
          <a:prstGeom prst="rect">
            <a:avLst/>
          </a:prstGeom>
          <a:solidFill>
            <a:srgbClr val="E3ECF3"/>
          </a:solidFill>
          <a:ln w="12700">
            <a:solidFill>
              <a:srgbClr val="004387"/>
            </a:solidFill>
            <a:prstDash val="solid"/>
          </a:ln>
        </p:spPr>
      </p:sp>
      <p:sp>
        <p:nvSpPr>
          <p:cNvPr id="10" name="Zone badge C"/>
          <p:cNvSpPr/>
          <p:nvPr/>
        </p:nvSpPr>
        <p:spPr>
          <a:xfrm>
            <a:off x="7036484" y="1169769"/>
            <a:ext cx="292608" cy="292608"/>
          </a:xfrm>
          <a:prstGeom prst="ellipse">
            <a:avLst/>
          </a:prstGeom>
          <a:solidFill>
            <a:srgbClr val="00438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1" name="Zone text C"/>
          <p:cNvSpPr txBox="1"/>
          <p:nvPr/>
        </p:nvSpPr>
        <p:spPr>
          <a:xfrm>
            <a:off x="7438820" y="1105761"/>
            <a:ext cx="1609786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Delivery, cash</a:t>
            </a:r>
            <a:endParaRPr lang="en-US" sz="1800" dirty="0"/>
          </a:p>
        </p:txBody>
      </p:sp>
      <p:sp>
        <p:nvSpPr>
          <p:cNvPr id="12" name="Zone label D"/>
          <p:cNvSpPr/>
          <p:nvPr/>
        </p:nvSpPr>
        <p:spPr>
          <a:xfrm>
            <a:off x="9121758" y="1105761"/>
            <a:ext cx="2547589" cy="420624"/>
          </a:xfrm>
          <a:prstGeom prst="rect">
            <a:avLst/>
          </a:prstGeom>
          <a:solidFill>
            <a:srgbClr val="E3ECF3"/>
          </a:solidFill>
          <a:ln w="12700">
            <a:solidFill>
              <a:srgbClr val="004387"/>
            </a:solidFill>
            <a:prstDash val="solid"/>
          </a:ln>
        </p:spPr>
      </p:sp>
      <p:sp>
        <p:nvSpPr>
          <p:cNvPr id="13" name="Zone badge D"/>
          <p:cNvSpPr/>
          <p:nvPr/>
        </p:nvSpPr>
        <p:spPr>
          <a:xfrm>
            <a:off x="9167478" y="1169769"/>
            <a:ext cx="292608" cy="292608"/>
          </a:xfrm>
          <a:prstGeom prst="ellipse">
            <a:avLst/>
          </a:prstGeom>
          <a:solidFill>
            <a:srgbClr val="00438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14" name="Zone text D"/>
          <p:cNvSpPr txBox="1"/>
          <p:nvPr/>
        </p:nvSpPr>
        <p:spPr>
          <a:xfrm>
            <a:off x="9569814" y="1105761"/>
            <a:ext cx="2081245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Receipt, refund</a:t>
            </a:r>
            <a:endParaRPr lang="en-US" sz="1800" dirty="0"/>
          </a:p>
        </p:txBody>
      </p:sp>
      <p:pic>
        <p:nvPicPr>
          <p:cNvPr id="15" name="Figure 1 overall" descr="Overall business process, five swimla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17825"/>
            <a:ext cx="11277295" cy="4518461"/>
          </a:xfrm>
          <a:prstGeom prst="rect">
            <a:avLst/>
          </a:prstGeom>
        </p:spPr>
      </p:pic>
      <p:sp>
        <p:nvSpPr>
          <p:cNvPr id="16" name="Figure reference"/>
          <p:cNvSpPr txBox="1"/>
          <p:nvPr/>
        </p:nvSpPr>
        <p:spPr>
          <a:xfrm>
            <a:off x="2926080" y="6446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(proposal Section 3)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6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09728"/>
            <a:ext cx="112772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856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busy hub redirects the customer before any order exists</a:t>
            </a:r>
            <a:endParaRPr lang="en-US" sz="2600" dirty="0"/>
          </a:p>
        </p:txBody>
      </p:sp>
      <p:sp>
        <p:nvSpPr>
          <p:cNvPr id="3" name="Zone A"/>
          <p:cNvSpPr/>
          <p:nvPr/>
        </p:nvSpPr>
        <p:spPr>
          <a:xfrm>
            <a:off x="9786823" y="6469380"/>
            <a:ext cx="274320" cy="274320"/>
          </a:xfrm>
          <a:prstGeom prst="rect">
            <a:avLst/>
          </a:prstGeom>
          <a:solidFill>
            <a:srgbClr val="004387"/>
          </a:solidFill>
          <a:ln w="12700">
            <a:solidFill>
              <a:srgbClr val="00438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Zone B"/>
          <p:cNvSpPr/>
          <p:nvPr/>
        </p:nvSpPr>
        <p:spPr>
          <a:xfrm>
            <a:off x="10116007" y="6469380"/>
            <a:ext cx="274320" cy="274320"/>
          </a:xfrm>
          <a:prstGeom prst="rect">
            <a:avLst/>
          </a:prstGeom>
          <a:solidFill>
            <a:srgbClr val="E3ECF3"/>
          </a:solidFill>
          <a:ln w="12700">
            <a:solidFill>
              <a:srgbClr val="00438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5" name="Zone C"/>
          <p:cNvSpPr/>
          <p:nvPr/>
        </p:nvSpPr>
        <p:spPr>
          <a:xfrm>
            <a:off x="10445191" y="6469380"/>
            <a:ext cx="274320" cy="274320"/>
          </a:xfrm>
          <a:prstGeom prst="rect">
            <a:avLst/>
          </a:prstGeom>
          <a:solidFill>
            <a:srgbClr val="E3ECF3"/>
          </a:solidFill>
          <a:ln w="12700">
            <a:solidFill>
              <a:srgbClr val="00438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6" name="Zone D"/>
          <p:cNvSpPr/>
          <p:nvPr/>
        </p:nvSpPr>
        <p:spPr>
          <a:xfrm>
            <a:off x="10774375" y="6469380"/>
            <a:ext cx="274320" cy="274320"/>
          </a:xfrm>
          <a:prstGeom prst="rect">
            <a:avLst/>
          </a:prstGeom>
          <a:solidFill>
            <a:srgbClr val="E3ECF3"/>
          </a:solidFill>
          <a:ln w="12700">
            <a:solidFill>
              <a:srgbClr val="00438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pic>
        <p:nvPicPr>
          <p:cNvPr id="7" name="Figure 1 Part A" descr="Figure 1 Part 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06285"/>
            <a:ext cx="11277295" cy="4447765"/>
          </a:xfrm>
          <a:prstGeom prst="rect">
            <a:avLst/>
          </a:prstGeom>
        </p:spPr>
      </p:pic>
      <p:sp>
        <p:nvSpPr>
          <p:cNvPr id="8" name="Figure reference"/>
          <p:cNvSpPr txBox="1"/>
          <p:nvPr/>
        </p:nvSpPr>
        <p:spPr>
          <a:xfrm>
            <a:off x="2926080" y="6446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1a (proposal Section 3.1)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6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09728"/>
            <a:ext cx="112772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856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kitchen gates the order; cancelling is its own short activity</a:t>
            </a:r>
            <a:endParaRPr lang="en-US" sz="2600" dirty="0"/>
          </a:p>
        </p:txBody>
      </p:sp>
      <p:sp>
        <p:nvSpPr>
          <p:cNvPr id="3" name="Zone A"/>
          <p:cNvSpPr/>
          <p:nvPr/>
        </p:nvSpPr>
        <p:spPr>
          <a:xfrm>
            <a:off x="9786823" y="6469380"/>
            <a:ext cx="274320" cy="274320"/>
          </a:xfrm>
          <a:prstGeom prst="rect">
            <a:avLst/>
          </a:prstGeom>
          <a:solidFill>
            <a:srgbClr val="E3ECF3"/>
          </a:solidFill>
          <a:ln w="12700">
            <a:solidFill>
              <a:srgbClr val="00438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Zone B"/>
          <p:cNvSpPr/>
          <p:nvPr/>
        </p:nvSpPr>
        <p:spPr>
          <a:xfrm>
            <a:off x="10116007" y="6469380"/>
            <a:ext cx="274320" cy="274320"/>
          </a:xfrm>
          <a:prstGeom prst="rect">
            <a:avLst/>
          </a:prstGeom>
          <a:solidFill>
            <a:srgbClr val="004387"/>
          </a:solidFill>
          <a:ln w="12700">
            <a:solidFill>
              <a:srgbClr val="00438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5" name="Zone C"/>
          <p:cNvSpPr/>
          <p:nvPr/>
        </p:nvSpPr>
        <p:spPr>
          <a:xfrm>
            <a:off x="10445191" y="6469380"/>
            <a:ext cx="274320" cy="274320"/>
          </a:xfrm>
          <a:prstGeom prst="rect">
            <a:avLst/>
          </a:prstGeom>
          <a:solidFill>
            <a:srgbClr val="E3ECF3"/>
          </a:solidFill>
          <a:ln w="12700">
            <a:solidFill>
              <a:srgbClr val="00438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6" name="Zone D"/>
          <p:cNvSpPr/>
          <p:nvPr/>
        </p:nvSpPr>
        <p:spPr>
          <a:xfrm>
            <a:off x="10774375" y="6469380"/>
            <a:ext cx="274320" cy="274320"/>
          </a:xfrm>
          <a:prstGeom prst="rect">
            <a:avLst/>
          </a:prstGeom>
          <a:solidFill>
            <a:srgbClr val="E3ECF3"/>
          </a:solidFill>
          <a:ln w="12700">
            <a:solidFill>
              <a:srgbClr val="00438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pic>
        <p:nvPicPr>
          <p:cNvPr id="7" name="Figure 1 Part B" descr="Figure 1 Part 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9836" y="859536"/>
            <a:ext cx="8972023" cy="505663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457200" y="5971032"/>
            <a:ext cx="11277295" cy="429768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85216" y="5971032"/>
            <a:ext cx="11021263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E  </a:t>
            </a:r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 order is a separate activity (proposal Figure 1e): analysed only, A-08.</a:t>
            </a:r>
            <a:endParaRPr lang="en-US" sz="1800" dirty="0"/>
          </a:p>
        </p:txBody>
      </p:sp>
      <p:sp>
        <p:nvSpPr>
          <p:cNvPr id="10" name="Figure reference"/>
          <p:cNvSpPr txBox="1"/>
          <p:nvPr/>
        </p:nvSpPr>
        <p:spPr>
          <a:xfrm>
            <a:off x="2926080" y="6446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1b (proposal Section 3.1)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6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09728"/>
            <a:ext cx="112772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856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 is not paid: cash is collected, then reconciled</a:t>
            </a:r>
            <a:endParaRPr lang="en-US" sz="2600" dirty="0"/>
          </a:p>
        </p:txBody>
      </p:sp>
      <p:sp>
        <p:nvSpPr>
          <p:cNvPr id="3" name="Zone A"/>
          <p:cNvSpPr/>
          <p:nvPr/>
        </p:nvSpPr>
        <p:spPr>
          <a:xfrm>
            <a:off x="9786823" y="6469380"/>
            <a:ext cx="274320" cy="274320"/>
          </a:xfrm>
          <a:prstGeom prst="rect">
            <a:avLst/>
          </a:prstGeom>
          <a:solidFill>
            <a:srgbClr val="E3ECF3"/>
          </a:solidFill>
          <a:ln w="12700">
            <a:solidFill>
              <a:srgbClr val="00438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Zone B"/>
          <p:cNvSpPr/>
          <p:nvPr/>
        </p:nvSpPr>
        <p:spPr>
          <a:xfrm>
            <a:off x="10116007" y="6469380"/>
            <a:ext cx="274320" cy="274320"/>
          </a:xfrm>
          <a:prstGeom prst="rect">
            <a:avLst/>
          </a:prstGeom>
          <a:solidFill>
            <a:srgbClr val="E3ECF3"/>
          </a:solidFill>
          <a:ln w="12700">
            <a:solidFill>
              <a:srgbClr val="00438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5" name="Zone C"/>
          <p:cNvSpPr/>
          <p:nvPr/>
        </p:nvSpPr>
        <p:spPr>
          <a:xfrm>
            <a:off x="10445191" y="6469380"/>
            <a:ext cx="274320" cy="274320"/>
          </a:xfrm>
          <a:prstGeom prst="rect">
            <a:avLst/>
          </a:prstGeom>
          <a:solidFill>
            <a:srgbClr val="004387"/>
          </a:solidFill>
          <a:ln w="12700">
            <a:solidFill>
              <a:srgbClr val="00438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6" name="Zone D"/>
          <p:cNvSpPr/>
          <p:nvPr/>
        </p:nvSpPr>
        <p:spPr>
          <a:xfrm>
            <a:off x="10774375" y="6469380"/>
            <a:ext cx="274320" cy="274320"/>
          </a:xfrm>
          <a:prstGeom prst="rect">
            <a:avLst/>
          </a:prstGeom>
          <a:solidFill>
            <a:srgbClr val="E3ECF3"/>
          </a:solidFill>
          <a:ln w="12700">
            <a:solidFill>
              <a:srgbClr val="00438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pic>
        <p:nvPicPr>
          <p:cNvPr id="7" name="Figure 1 Part C" descr="Figure 1 Part 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5312" y="859536"/>
            <a:ext cx="9521072" cy="5541264"/>
          </a:xfrm>
          <a:prstGeom prst="rect">
            <a:avLst/>
          </a:prstGeom>
        </p:spPr>
      </p:pic>
      <p:sp>
        <p:nvSpPr>
          <p:cNvPr id="8" name="Figure reference"/>
          <p:cNvSpPr txBox="1"/>
          <p:nvPr/>
        </p:nvSpPr>
        <p:spPr>
          <a:xfrm>
            <a:off x="2926080" y="6446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1c (proposal Section 3.1)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6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09728"/>
            <a:ext cx="112772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856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complaints and paid-online failures reach the refund decision</a:t>
            </a:r>
            <a:endParaRPr lang="en-US" sz="2600" dirty="0"/>
          </a:p>
        </p:txBody>
      </p:sp>
      <p:sp>
        <p:nvSpPr>
          <p:cNvPr id="3" name="Zone A"/>
          <p:cNvSpPr/>
          <p:nvPr/>
        </p:nvSpPr>
        <p:spPr>
          <a:xfrm>
            <a:off x="9786823" y="6469380"/>
            <a:ext cx="274320" cy="274320"/>
          </a:xfrm>
          <a:prstGeom prst="rect">
            <a:avLst/>
          </a:prstGeom>
          <a:solidFill>
            <a:srgbClr val="E3ECF3"/>
          </a:solidFill>
          <a:ln w="12700">
            <a:solidFill>
              <a:srgbClr val="00438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Zone B"/>
          <p:cNvSpPr/>
          <p:nvPr/>
        </p:nvSpPr>
        <p:spPr>
          <a:xfrm>
            <a:off x="10116007" y="6469380"/>
            <a:ext cx="274320" cy="274320"/>
          </a:xfrm>
          <a:prstGeom prst="rect">
            <a:avLst/>
          </a:prstGeom>
          <a:solidFill>
            <a:srgbClr val="E3ECF3"/>
          </a:solidFill>
          <a:ln w="12700">
            <a:solidFill>
              <a:srgbClr val="00438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5" name="Zone C"/>
          <p:cNvSpPr/>
          <p:nvPr/>
        </p:nvSpPr>
        <p:spPr>
          <a:xfrm>
            <a:off x="10445191" y="6469380"/>
            <a:ext cx="274320" cy="274320"/>
          </a:xfrm>
          <a:prstGeom prst="rect">
            <a:avLst/>
          </a:prstGeom>
          <a:solidFill>
            <a:srgbClr val="E3ECF3"/>
          </a:solidFill>
          <a:ln w="12700">
            <a:solidFill>
              <a:srgbClr val="00438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6" name="Zone D"/>
          <p:cNvSpPr/>
          <p:nvPr/>
        </p:nvSpPr>
        <p:spPr>
          <a:xfrm>
            <a:off x="10774375" y="6469380"/>
            <a:ext cx="274320" cy="274320"/>
          </a:xfrm>
          <a:prstGeom prst="rect">
            <a:avLst/>
          </a:prstGeom>
          <a:solidFill>
            <a:srgbClr val="004387"/>
          </a:solidFill>
          <a:ln w="12700">
            <a:solidFill>
              <a:srgbClr val="00438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pic>
        <p:nvPicPr>
          <p:cNvPr id="7" name="Figure 1 Part D" descr="Figure 1 Part 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049" y="859536"/>
            <a:ext cx="10431596" cy="5541264"/>
          </a:xfrm>
          <a:prstGeom prst="rect">
            <a:avLst/>
          </a:prstGeom>
        </p:spPr>
      </p:pic>
      <p:sp>
        <p:nvSpPr>
          <p:cNvPr id="8" name="Figure reference"/>
          <p:cNvSpPr txBox="1"/>
          <p:nvPr/>
        </p:nvSpPr>
        <p:spPr>
          <a:xfrm>
            <a:off x="2926080" y="6446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1d (proposal Section 3.1)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6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856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actor decides one thing the order cannot move without</a:t>
            </a:r>
            <a:endParaRPr lang="en-US" sz="2600" dirty="0"/>
          </a:p>
        </p:txBody>
      </p:sp>
      <p:sp>
        <p:nvSpPr>
          <p:cNvPr id="3" name="Framing sentence"/>
          <p:cNvSpPr txBox="1"/>
          <p:nvPr/>
        </p:nvSpPr>
        <p:spPr>
          <a:xfrm>
            <a:off x="457200" y="1097280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shipper records COD collection and hands the cash to the hub; office staff reconcile it at the end of the shift.</a:t>
            </a:r>
            <a:endParaRPr lang="en-US" sz="1800" dirty="0"/>
          </a:p>
        </p:txBody>
      </p:sp>
      <p:graphicFrame>
        <p:nvGraphicFramePr>
          <p:cNvPr id="9" name="Acto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729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754880"/>
                <a:gridCol w="4327855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Actor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Decides or does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Without them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Picks hub, items, payment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order exists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Kitchen staff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Confirms or rejects, prepares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to deliver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Shipper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Delivers, records COD collection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and order stay open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hubs and capacity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Busy rule has no limit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Manager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Reads reports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Hubs cannot be compared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staff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Reconciles cash, decides refunds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and complaints unchecked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Payment stub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Returns the online result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Online path untestable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6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856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use cases cover all four required groups, two per student</a:t>
            </a:r>
            <a:endParaRPr lang="en-US" sz="2600" dirty="0"/>
          </a:p>
        </p:txBody>
      </p:sp>
      <p:sp>
        <p:nvSpPr>
          <p:cNvPr id="3" name="Framing sentence"/>
          <p:cNvSpPr txBox="1"/>
          <p:nvPr/>
        </p:nvSpPr>
        <p:spPr>
          <a:xfrm>
            <a:off x="457200" y="10972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owns two use cases and their state machines; five scope levels below.</a:t>
            </a:r>
            <a:endParaRPr lang="en-US" sz="1800" dirty="0"/>
          </a:p>
        </p:txBody>
      </p:sp>
      <p:graphicFrame>
        <p:nvGraphicFramePr>
          <p:cNvPr id="10" name="Ownership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7729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566160"/>
                <a:gridCol w="1554480"/>
                <a:gridCol w="2011680"/>
                <a:gridCol w="1005840"/>
                <a:gridCol w="2224735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case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Actor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Group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machine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UC-01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Place an order (#3)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(a) ordering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UC-02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Deliver an order (#10)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Shipper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(b) fulfilment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Delivery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UC-03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Manage hubs, capacity (#13)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(c) full CRUD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UC-04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Produce reports (#16)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Manager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(d) report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(read-only)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457200" y="3931920"/>
            <a:ext cx="11277295" cy="411480"/>
          </a:xfrm>
          <a:prstGeom prst="rect">
            <a:avLst/>
          </a:prstGeom>
          <a:solidFill>
            <a:srgbClr val="E3ECF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85216" y="3931920"/>
            <a:ext cx="110212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Built   </a:t>
            </a:r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UC-01 to UC-04 in one application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457200" y="4389120"/>
            <a:ext cx="11277295" cy="411480"/>
          </a:xfrm>
          <a:prstGeom prst="rect">
            <a:avLst/>
          </a:prstGeom>
          <a:solidFill>
            <a:srgbClr val="E3ECF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85216" y="4389120"/>
            <a:ext cx="110212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Minimum support   </a:t>
            </a:r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Kitchen board; login, seeded users</a:t>
            </a:r>
            <a:endParaRPr lang="en-US" sz="1800" dirty="0"/>
          </a:p>
        </p:txBody>
      </p:sp>
      <p:sp>
        <p:nvSpPr>
          <p:cNvPr id="9" name="Card"/>
          <p:cNvSpPr/>
          <p:nvPr/>
        </p:nvSpPr>
        <p:spPr>
          <a:xfrm>
            <a:off x="457200" y="4846320"/>
            <a:ext cx="11277295" cy="411480"/>
          </a:xfrm>
          <a:prstGeom prst="rect">
            <a:avLst/>
          </a:prstGeom>
          <a:solidFill>
            <a:srgbClr val="E3ECF3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85216" y="4846320"/>
            <a:ext cx="110212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Analysed only   </a:t>
            </a:r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use cases incl. cancel (A-08, L1)</a:t>
            </a:r>
            <a:endParaRPr lang="en-US" sz="1800" dirty="0"/>
          </a:p>
        </p:txBody>
      </p:sp>
      <p:sp>
        <p:nvSpPr>
          <p:cNvPr id="11" name="Card"/>
          <p:cNvSpPr/>
          <p:nvPr/>
        </p:nvSpPr>
        <p:spPr>
          <a:xfrm>
            <a:off x="457200" y="5303520"/>
            <a:ext cx="11277295" cy="411480"/>
          </a:xfrm>
          <a:prstGeom prst="rect">
            <a:avLst/>
          </a:prstGeom>
          <a:solidFill>
            <a:srgbClr val="E3ECF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85216" y="5303520"/>
            <a:ext cx="110212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Deferred   </a:t>
            </a:r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Complaint, refund, rating (A-09, L3)</a:t>
            </a:r>
            <a:endParaRPr lang="en-US" sz="1800" dirty="0"/>
          </a:p>
        </p:txBody>
      </p:sp>
      <p:sp>
        <p:nvSpPr>
          <p:cNvPr id="13" name="Card"/>
          <p:cNvSpPr/>
          <p:nvPr/>
        </p:nvSpPr>
        <p:spPr>
          <a:xfrm>
            <a:off x="457200" y="5760720"/>
            <a:ext cx="11277295" cy="411480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85216" y="5760720"/>
            <a:ext cx="110212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Future   </a:t>
            </a:r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Loyalty, subscriptions, group orders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6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856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Iterative Unified Process fits a case whose rules are still open</a:t>
            </a:r>
            <a:endParaRPr lang="en-US" sz="2600" dirty="0"/>
          </a:p>
        </p:txBody>
      </p:sp>
      <p:sp>
        <p:nvSpPr>
          <p:cNvPr id="3" name="Framing sentence"/>
          <p:cNvSpPr txBox="1"/>
          <p:nvPr/>
        </p:nvSpPr>
        <p:spPr>
          <a:xfrm>
            <a:off x="457200" y="10972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time-boxed iterations: analysis, design, build, test and a joint review.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iterative</a:t>
            </a:r>
            <a:endParaRPr lang="en-US" sz="1800" dirty="0"/>
          </a:p>
        </p:txBody>
      </p:sp>
      <p:sp>
        <p:nvSpPr>
          <p:cNvPr id="5" name="Card"/>
          <p:cNvSpPr/>
          <p:nvPr/>
        </p:nvSpPr>
        <p:spPr>
          <a:xfrm>
            <a:off x="457200" y="2011680"/>
            <a:ext cx="5303520" cy="914400"/>
          </a:xfrm>
          <a:prstGeom prst="rect">
            <a:avLst/>
          </a:prstGeom>
          <a:solidFill>
            <a:srgbClr val="E3ECF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85216" y="2011680"/>
            <a:ext cx="5047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Answers pending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figures arrive later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457200" y="3035808"/>
            <a:ext cx="5303520" cy="914400"/>
          </a:xfrm>
          <a:prstGeom prst="rect">
            <a:avLst/>
          </a:prstGeom>
          <a:solidFill>
            <a:srgbClr val="E3ECF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85216" y="3035808"/>
            <a:ext cx="5047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One shared Order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use cases grow one record</a:t>
            </a:r>
            <a:endParaRPr lang="en-US" sz="1800" dirty="0"/>
          </a:p>
        </p:txBody>
      </p:sp>
      <p:sp>
        <p:nvSpPr>
          <p:cNvPr id="9" name="Card"/>
          <p:cNvSpPr/>
          <p:nvPr/>
        </p:nvSpPr>
        <p:spPr>
          <a:xfrm>
            <a:off x="457200" y="4059936"/>
            <a:ext cx="5303520" cy="914400"/>
          </a:xfrm>
          <a:prstGeom prst="rect">
            <a:avLst/>
          </a:prstGeom>
          <a:solidFill>
            <a:srgbClr val="E3ECF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5216" y="4059936"/>
            <a:ext cx="5047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Fixed deadlines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26/10, 16/11, 30/11; team of two</a:t>
            </a:r>
            <a:endParaRPr lang="en-US" sz="1800" dirty="0"/>
          </a:p>
        </p:txBody>
      </p:sp>
      <p:sp>
        <p:nvSpPr>
          <p:cNvPr id="11" name="Card"/>
          <p:cNvSpPr/>
          <p:nvPr/>
        </p:nvSpPr>
        <p:spPr>
          <a:xfrm>
            <a:off x="457200" y="5084064"/>
            <a:ext cx="5303520" cy="914400"/>
          </a:xfrm>
          <a:prstGeom prst="rect">
            <a:avLst/>
          </a:prstGeom>
          <a:solidFill>
            <a:srgbClr val="E3ECF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5216" y="5084064"/>
            <a:ext cx="5047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Riskiest first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in I2, payment in I3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600200"/>
            <a:ext cx="5516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and three layers (decided)</a:t>
            </a:r>
            <a:endParaRPr lang="en-US" sz="1800" dirty="0"/>
          </a:p>
        </p:txBody>
      </p:sp>
      <p:sp>
        <p:nvSpPr>
          <p:cNvPr id="14" name="Layer label"/>
          <p:cNvSpPr/>
          <p:nvPr/>
        </p:nvSpPr>
        <p:spPr>
          <a:xfrm>
            <a:off x="6217920" y="2011680"/>
            <a:ext cx="1645920" cy="603504"/>
          </a:xfrm>
          <a:prstGeom prst="rect">
            <a:avLst/>
          </a:prstGeom>
          <a:solidFill>
            <a:srgbClr val="00438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1800" dirty="0"/>
          </a:p>
        </p:txBody>
      </p:sp>
      <p:sp>
        <p:nvSpPr>
          <p:cNvPr id="15" name="Layer text"/>
          <p:cNvSpPr/>
          <p:nvPr/>
        </p:nvSpPr>
        <p:spPr>
          <a:xfrm>
            <a:off x="7863840" y="2011680"/>
            <a:ext cx="3870655" cy="603504"/>
          </a:xfrm>
          <a:prstGeom prst="rect">
            <a:avLst/>
          </a:prstGeom>
          <a:solidFill>
            <a:srgbClr val="E3ECF3"/>
          </a:solidFill>
          <a:ln/>
        </p:spPr>
        <p:txBody>
          <a:bodyPr wrap="square" lIns="0" tIns="1524" rIns="1524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Flask + Jinja2 templates</a:t>
            </a:r>
            <a:endParaRPr lang="en-US" sz="1800" dirty="0"/>
          </a:p>
        </p:txBody>
      </p:sp>
      <p:sp>
        <p:nvSpPr>
          <p:cNvPr id="16" name="Layer label"/>
          <p:cNvSpPr/>
          <p:nvPr/>
        </p:nvSpPr>
        <p:spPr>
          <a:xfrm>
            <a:off x="6217920" y="2724912"/>
            <a:ext cx="1645920" cy="603504"/>
          </a:xfrm>
          <a:prstGeom prst="rect">
            <a:avLst/>
          </a:prstGeom>
          <a:solidFill>
            <a:srgbClr val="00438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1800" dirty="0"/>
          </a:p>
        </p:txBody>
      </p:sp>
      <p:sp>
        <p:nvSpPr>
          <p:cNvPr id="17" name="Layer text"/>
          <p:cNvSpPr/>
          <p:nvPr/>
        </p:nvSpPr>
        <p:spPr>
          <a:xfrm>
            <a:off x="7863840" y="2724912"/>
            <a:ext cx="3870655" cy="603504"/>
          </a:xfrm>
          <a:prstGeom prst="rect">
            <a:avLst/>
          </a:prstGeom>
          <a:solidFill>
            <a:srgbClr val="E3ECF3"/>
          </a:solidFill>
          <a:ln/>
        </p:spPr>
        <p:txBody>
          <a:bodyPr wrap="square" lIns="0" tIns="1524" rIns="1524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per use case</a:t>
            </a:r>
            <a:endParaRPr lang="en-US" sz="1800" dirty="0"/>
          </a:p>
        </p:txBody>
      </p:sp>
      <p:sp>
        <p:nvSpPr>
          <p:cNvPr id="18" name="Layer label"/>
          <p:cNvSpPr/>
          <p:nvPr/>
        </p:nvSpPr>
        <p:spPr>
          <a:xfrm>
            <a:off x="6217920" y="3438144"/>
            <a:ext cx="1645920" cy="603504"/>
          </a:xfrm>
          <a:prstGeom prst="rect">
            <a:avLst/>
          </a:prstGeom>
          <a:solidFill>
            <a:srgbClr val="00438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800" dirty="0"/>
          </a:p>
        </p:txBody>
      </p:sp>
      <p:sp>
        <p:nvSpPr>
          <p:cNvPr id="19" name="Layer text"/>
          <p:cNvSpPr/>
          <p:nvPr/>
        </p:nvSpPr>
        <p:spPr>
          <a:xfrm>
            <a:off x="7863840" y="3438144"/>
            <a:ext cx="3870655" cy="603504"/>
          </a:xfrm>
          <a:prstGeom prst="rect">
            <a:avLst/>
          </a:prstGeom>
          <a:solidFill>
            <a:srgbClr val="E3ECF3"/>
          </a:solidFill>
          <a:ln/>
        </p:spPr>
        <p:txBody>
          <a:bodyPr wrap="square" lIns="0" tIns="1524" rIns="1524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Order, Hub, Payment, Delivery</a:t>
            </a:r>
            <a:endParaRPr lang="en-US" sz="1800" dirty="0"/>
          </a:p>
        </p:txBody>
      </p:sp>
      <p:sp>
        <p:nvSpPr>
          <p:cNvPr id="20" name="Layer label"/>
          <p:cNvSpPr/>
          <p:nvPr/>
        </p:nvSpPr>
        <p:spPr>
          <a:xfrm>
            <a:off x="6217920" y="4151376"/>
            <a:ext cx="1645920" cy="603504"/>
          </a:xfrm>
          <a:prstGeom prst="rect">
            <a:avLst/>
          </a:prstGeom>
          <a:solidFill>
            <a:srgbClr val="00438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DAO</a:t>
            </a:r>
            <a:endParaRPr lang="en-US" sz="1800" dirty="0"/>
          </a:p>
        </p:txBody>
      </p:sp>
      <p:sp>
        <p:nvSpPr>
          <p:cNvPr id="21" name="Layer text"/>
          <p:cNvSpPr/>
          <p:nvPr/>
        </p:nvSpPr>
        <p:spPr>
          <a:xfrm>
            <a:off x="7863840" y="4151376"/>
            <a:ext cx="3870655" cy="603504"/>
          </a:xfrm>
          <a:prstGeom prst="rect">
            <a:avLst/>
          </a:prstGeom>
          <a:solidFill>
            <a:srgbClr val="E3ECF3"/>
          </a:solidFill>
          <a:ln/>
        </p:spPr>
        <p:txBody>
          <a:bodyPr wrap="square" lIns="0" tIns="1524" rIns="1524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sqlite3, hand-written SQL</a:t>
            </a:r>
            <a:endParaRPr lang="en-US" sz="1800" dirty="0"/>
          </a:p>
        </p:txBody>
      </p:sp>
      <p:sp>
        <p:nvSpPr>
          <p:cNvPr id="22" name="Layer label"/>
          <p:cNvSpPr/>
          <p:nvPr/>
        </p:nvSpPr>
        <p:spPr>
          <a:xfrm>
            <a:off x="6217920" y="4864608"/>
            <a:ext cx="1645920" cy="603504"/>
          </a:xfrm>
          <a:prstGeom prst="rect">
            <a:avLst/>
          </a:prstGeom>
          <a:solidFill>
            <a:srgbClr val="00438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800" dirty="0"/>
          </a:p>
        </p:txBody>
      </p:sp>
      <p:sp>
        <p:nvSpPr>
          <p:cNvPr id="23" name="Layer text"/>
          <p:cNvSpPr/>
          <p:nvPr/>
        </p:nvSpPr>
        <p:spPr>
          <a:xfrm>
            <a:off x="7863840" y="4864608"/>
            <a:ext cx="3870655" cy="603504"/>
          </a:xfrm>
          <a:prstGeom prst="rect">
            <a:avLst/>
          </a:prstGeom>
          <a:solidFill>
            <a:srgbClr val="E3ECF3"/>
          </a:solidFill>
          <a:ln/>
        </p:spPr>
        <p:txBody>
          <a:bodyPr wrap="square" lIns="0" tIns="1524" rIns="1524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SQLite, one database</a:t>
            </a:r>
            <a:endParaRPr lang="en-US" sz="1800" dirty="0"/>
          </a:p>
        </p:txBody>
      </p:sp>
      <p:sp>
        <p:nvSpPr>
          <p:cNvPr id="24" name="Card"/>
          <p:cNvSpPr/>
          <p:nvPr/>
        </p:nvSpPr>
        <p:spPr>
          <a:xfrm>
            <a:off x="6217920" y="5596128"/>
            <a:ext cx="5516575" cy="713232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45936" y="5596128"/>
            <a:ext cx="526054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3.12 or later (I1 tested on 3.13)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pytest · Flask-Login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6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856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iterations land Part 2 on 15/11, with a freeze and a buffer day</a:t>
            </a:r>
            <a:endParaRPr lang="en-US" sz="2600" dirty="0"/>
          </a:p>
        </p:txBody>
      </p:sp>
      <p:sp>
        <p:nvSpPr>
          <p:cNvPr id="3" name="Framing sentence"/>
          <p:cNvSpPr txBox="1"/>
          <p:nvPr/>
        </p:nvSpPr>
        <p:spPr>
          <a:xfrm>
            <a:off x="457200" y="10972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dates 17/10 to 30/11; Part 2 does not rely on I6.</a:t>
            </a:r>
            <a:endParaRPr lang="en-US" sz="1800" dirty="0"/>
          </a:p>
        </p:txBody>
      </p:sp>
      <p:sp>
        <p:nvSpPr>
          <p:cNvPr id="4" name="Axis band"/>
          <p:cNvSpPr/>
          <p:nvPr/>
        </p:nvSpPr>
        <p:spPr>
          <a:xfrm>
            <a:off x="457200" y="1572768"/>
            <a:ext cx="11277295" cy="365760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30352" y="15727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or milestone</a:t>
            </a:r>
            <a:endParaRPr lang="en-US" sz="1600" dirty="0"/>
          </a:p>
        </p:txBody>
      </p:sp>
      <p:sp>
        <p:nvSpPr>
          <p:cNvPr id="6" name="Row band"/>
          <p:cNvSpPr/>
          <p:nvPr/>
        </p:nvSpPr>
        <p:spPr>
          <a:xfrm>
            <a:off x="457200" y="2011680"/>
            <a:ext cx="11277295" cy="265176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7" name="Row band"/>
          <p:cNvSpPr/>
          <p:nvPr/>
        </p:nvSpPr>
        <p:spPr>
          <a:xfrm>
            <a:off x="457200" y="2542032"/>
            <a:ext cx="11277295" cy="265176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8" name="Row band"/>
          <p:cNvSpPr/>
          <p:nvPr/>
        </p:nvSpPr>
        <p:spPr>
          <a:xfrm>
            <a:off x="457200" y="3072384"/>
            <a:ext cx="11277295" cy="265176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" name="Row band"/>
          <p:cNvSpPr/>
          <p:nvPr/>
        </p:nvSpPr>
        <p:spPr>
          <a:xfrm>
            <a:off x="457200" y="3602736"/>
            <a:ext cx="11277295" cy="265176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0" name="Row band"/>
          <p:cNvSpPr/>
          <p:nvPr/>
        </p:nvSpPr>
        <p:spPr>
          <a:xfrm>
            <a:off x="457200" y="4133088"/>
            <a:ext cx="11277295" cy="265176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1" name="Row band"/>
          <p:cNvSpPr/>
          <p:nvPr/>
        </p:nvSpPr>
        <p:spPr>
          <a:xfrm>
            <a:off x="457200" y="4663440"/>
            <a:ext cx="11277295" cy="265176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2" name="Row band"/>
          <p:cNvSpPr/>
          <p:nvPr/>
        </p:nvSpPr>
        <p:spPr>
          <a:xfrm>
            <a:off x="457200" y="5193792"/>
            <a:ext cx="11277295" cy="265176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3" name="Row band"/>
          <p:cNvSpPr/>
          <p:nvPr/>
        </p:nvSpPr>
        <p:spPr>
          <a:xfrm>
            <a:off x="457200" y="5724144"/>
            <a:ext cx="11277295" cy="265176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4" name="Gridline"/>
          <p:cNvSpPr/>
          <p:nvPr/>
        </p:nvSpPr>
        <p:spPr>
          <a:xfrm>
            <a:off x="4480560" y="2011680"/>
            <a:ext cx="0" cy="3977640"/>
          </a:xfrm>
          <a:prstGeom prst="line">
            <a:avLst/>
          </a:prstGeom>
          <a:noFill/>
          <a:ln w="9525">
            <a:solidFill>
              <a:srgbClr val="C9D3DC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4114800" y="157276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17/10</a:t>
            </a:r>
            <a:endParaRPr lang="en-US" sz="1600" dirty="0"/>
          </a:p>
        </p:txBody>
      </p:sp>
      <p:sp>
        <p:nvSpPr>
          <p:cNvPr id="16" name="Gridline"/>
          <p:cNvSpPr/>
          <p:nvPr/>
        </p:nvSpPr>
        <p:spPr>
          <a:xfrm>
            <a:off x="5604256" y="2011680"/>
            <a:ext cx="0" cy="3977640"/>
          </a:xfrm>
          <a:prstGeom prst="line">
            <a:avLst/>
          </a:prstGeom>
          <a:noFill/>
          <a:ln w="9525">
            <a:solidFill>
              <a:srgbClr val="C9D3DC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5238496" y="157276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24/10</a:t>
            </a:r>
            <a:endParaRPr lang="en-US" sz="1600" dirty="0"/>
          </a:p>
        </p:txBody>
      </p:sp>
      <p:sp>
        <p:nvSpPr>
          <p:cNvPr id="18" name="Gridline"/>
          <p:cNvSpPr/>
          <p:nvPr/>
        </p:nvSpPr>
        <p:spPr>
          <a:xfrm>
            <a:off x="6727952" y="2011680"/>
            <a:ext cx="0" cy="3977640"/>
          </a:xfrm>
          <a:prstGeom prst="line">
            <a:avLst/>
          </a:prstGeom>
          <a:noFill/>
          <a:ln w="9525">
            <a:solidFill>
              <a:srgbClr val="C9D3DC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6362192" y="157276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31/10</a:t>
            </a:r>
            <a:endParaRPr lang="en-US" sz="1600" dirty="0"/>
          </a:p>
        </p:txBody>
      </p:sp>
      <p:sp>
        <p:nvSpPr>
          <p:cNvPr id="20" name="Gridline"/>
          <p:cNvSpPr/>
          <p:nvPr/>
        </p:nvSpPr>
        <p:spPr>
          <a:xfrm>
            <a:off x="7851648" y="2011680"/>
            <a:ext cx="0" cy="3977640"/>
          </a:xfrm>
          <a:prstGeom prst="line">
            <a:avLst/>
          </a:prstGeom>
          <a:noFill/>
          <a:ln w="9525">
            <a:solidFill>
              <a:srgbClr val="C9D3DC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7485888" y="157276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07/11</a:t>
            </a:r>
            <a:endParaRPr lang="en-US" sz="1600" dirty="0"/>
          </a:p>
        </p:txBody>
      </p:sp>
      <p:sp>
        <p:nvSpPr>
          <p:cNvPr id="22" name="Gridline"/>
          <p:cNvSpPr/>
          <p:nvPr/>
        </p:nvSpPr>
        <p:spPr>
          <a:xfrm>
            <a:off x="8975344" y="2011680"/>
            <a:ext cx="0" cy="3977640"/>
          </a:xfrm>
          <a:prstGeom prst="line">
            <a:avLst/>
          </a:prstGeom>
          <a:noFill/>
          <a:ln w="9525">
            <a:solidFill>
              <a:srgbClr val="C9D3DC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8609584" y="157276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14/11</a:t>
            </a:r>
            <a:endParaRPr lang="en-US" sz="1600" dirty="0"/>
          </a:p>
        </p:txBody>
      </p:sp>
      <p:sp>
        <p:nvSpPr>
          <p:cNvPr id="24" name="Gridline"/>
          <p:cNvSpPr/>
          <p:nvPr/>
        </p:nvSpPr>
        <p:spPr>
          <a:xfrm>
            <a:off x="10099040" y="2011680"/>
            <a:ext cx="0" cy="3977640"/>
          </a:xfrm>
          <a:prstGeom prst="line">
            <a:avLst/>
          </a:prstGeom>
          <a:noFill/>
          <a:ln w="9525">
            <a:solidFill>
              <a:srgbClr val="C9D3DC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9733280" y="157276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21/11</a:t>
            </a:r>
            <a:endParaRPr lang="en-US" sz="1600" dirty="0"/>
          </a:p>
        </p:txBody>
      </p:sp>
      <p:sp>
        <p:nvSpPr>
          <p:cNvPr id="26" name="Gridline"/>
          <p:cNvSpPr/>
          <p:nvPr/>
        </p:nvSpPr>
        <p:spPr>
          <a:xfrm>
            <a:off x="11222736" y="2011680"/>
            <a:ext cx="0" cy="3977640"/>
          </a:xfrm>
          <a:prstGeom prst="line">
            <a:avLst/>
          </a:prstGeom>
          <a:noFill/>
          <a:ln w="9525">
            <a:solidFill>
              <a:srgbClr val="C9D3DC"/>
            </a:solidFill>
            <a:prstDash val="dash"/>
          </a:ln>
        </p:spPr>
      </p:sp>
      <p:sp>
        <p:nvSpPr>
          <p:cNvPr id="27" name="Text 25"/>
          <p:cNvSpPr txBox="1"/>
          <p:nvPr/>
        </p:nvSpPr>
        <p:spPr>
          <a:xfrm>
            <a:off x="10856976" y="157276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28/11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30352" y="2011680"/>
            <a:ext cx="393192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 Persisted COD order</a:t>
            </a:r>
            <a:endParaRPr lang="en-US" sz="1600" dirty="0"/>
          </a:p>
        </p:txBody>
      </p:sp>
      <p:sp>
        <p:nvSpPr>
          <p:cNvPr id="29" name="Bar"/>
          <p:cNvSpPr/>
          <p:nvPr/>
        </p:nvSpPr>
        <p:spPr>
          <a:xfrm>
            <a:off x="4480560" y="2048256"/>
            <a:ext cx="963168" cy="192024"/>
          </a:xfrm>
          <a:prstGeom prst="rect">
            <a:avLst/>
          </a:prstGeom>
          <a:solidFill>
            <a:srgbClr val="00438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516880" y="2011680"/>
            <a:ext cx="169164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17/10 to 22/10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30352" y="2276856"/>
            <a:ext cx="393192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packaging</a:t>
            </a:r>
            <a:endParaRPr lang="en-US" sz="1600" dirty="0"/>
          </a:p>
        </p:txBody>
      </p:sp>
      <p:sp>
        <p:nvSpPr>
          <p:cNvPr id="32" name="Bar"/>
          <p:cNvSpPr/>
          <p:nvPr/>
        </p:nvSpPr>
        <p:spPr>
          <a:xfrm>
            <a:off x="5443728" y="2313432"/>
            <a:ext cx="481584" cy="192024"/>
          </a:xfrm>
          <a:prstGeom prst="rect">
            <a:avLst/>
          </a:prstGeom>
          <a:solidFill>
            <a:srgbClr val="5B87B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98464" y="2276856"/>
            <a:ext cx="169164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23/10 to 25/10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530352" y="2542032"/>
            <a:ext cx="393192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live presentation</a:t>
            </a:r>
            <a:endParaRPr lang="en-US" sz="1600" dirty="0"/>
          </a:p>
        </p:txBody>
      </p:sp>
      <p:sp>
        <p:nvSpPr>
          <p:cNvPr id="35" name="Milestone"/>
          <p:cNvSpPr/>
          <p:nvPr/>
        </p:nvSpPr>
        <p:spPr>
          <a:xfrm>
            <a:off x="5914136" y="2583180"/>
            <a:ext cx="182880" cy="182880"/>
          </a:xfrm>
          <a:prstGeom prst="diamond">
            <a:avLst/>
          </a:prstGeom>
          <a:solidFill>
            <a:srgbClr val="00438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170168" y="2542032"/>
            <a:ext cx="66294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26/10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530352" y="2807208"/>
            <a:ext cx="393192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 Hub CRUD, Kitchen board</a:t>
            </a:r>
            <a:endParaRPr lang="en-US" sz="1600" dirty="0"/>
          </a:p>
        </p:txBody>
      </p:sp>
      <p:sp>
        <p:nvSpPr>
          <p:cNvPr id="38" name="Bar"/>
          <p:cNvSpPr/>
          <p:nvPr/>
        </p:nvSpPr>
        <p:spPr>
          <a:xfrm>
            <a:off x="6085840" y="2843784"/>
            <a:ext cx="802640" cy="192024"/>
          </a:xfrm>
          <a:prstGeom prst="rect">
            <a:avLst/>
          </a:prstGeom>
          <a:solidFill>
            <a:srgbClr val="00438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961632" y="2807208"/>
            <a:ext cx="169164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27/10 to 31/10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530352" y="3072384"/>
            <a:ext cx="393192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to L4 answers needed</a:t>
            </a:r>
            <a:endParaRPr lang="en-US" sz="1600" dirty="0"/>
          </a:p>
        </p:txBody>
      </p:sp>
      <p:sp>
        <p:nvSpPr>
          <p:cNvPr id="41" name="Milestone"/>
          <p:cNvSpPr/>
          <p:nvPr/>
        </p:nvSpPr>
        <p:spPr>
          <a:xfrm>
            <a:off x="6716776" y="3113532"/>
            <a:ext cx="182880" cy="182880"/>
          </a:xfrm>
          <a:prstGeom prst="diamond">
            <a:avLst/>
          </a:prstGeom>
          <a:solidFill>
            <a:srgbClr val="C95B5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972808" y="3072384"/>
            <a:ext cx="66294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31/10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530352" y="3337560"/>
            <a:ext cx="393192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I3 Full ordering, delivery</a:t>
            </a:r>
            <a:endParaRPr lang="en-US" sz="1600" dirty="0"/>
          </a:p>
        </p:txBody>
      </p:sp>
      <p:sp>
        <p:nvSpPr>
          <p:cNvPr id="44" name="Bar"/>
          <p:cNvSpPr/>
          <p:nvPr/>
        </p:nvSpPr>
        <p:spPr>
          <a:xfrm>
            <a:off x="6888480" y="3374136"/>
            <a:ext cx="802640" cy="192024"/>
          </a:xfrm>
          <a:prstGeom prst="rect">
            <a:avLst/>
          </a:prstGeom>
          <a:solidFill>
            <a:srgbClr val="00438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764272" y="3337560"/>
            <a:ext cx="169164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01/11 to 05/11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530352" y="3602736"/>
            <a:ext cx="393192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I4 Reports, demo, Figma</a:t>
            </a:r>
            <a:endParaRPr lang="en-US" sz="1600" dirty="0"/>
          </a:p>
        </p:txBody>
      </p:sp>
      <p:sp>
        <p:nvSpPr>
          <p:cNvPr id="47" name="Bar"/>
          <p:cNvSpPr/>
          <p:nvPr/>
        </p:nvSpPr>
        <p:spPr>
          <a:xfrm>
            <a:off x="7691120" y="3639312"/>
            <a:ext cx="802640" cy="192024"/>
          </a:xfrm>
          <a:prstGeom prst="rect">
            <a:avLst/>
          </a:prstGeom>
          <a:solidFill>
            <a:srgbClr val="00438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8566912" y="3602736"/>
            <a:ext cx="169164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06/11 to 10/11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530352" y="3867912"/>
            <a:ext cx="393192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I5 Models, tests, Part 2 report</a:t>
            </a:r>
            <a:endParaRPr lang="en-US" sz="1600" dirty="0"/>
          </a:p>
        </p:txBody>
      </p:sp>
      <p:sp>
        <p:nvSpPr>
          <p:cNvPr id="50" name="Bar"/>
          <p:cNvSpPr/>
          <p:nvPr/>
        </p:nvSpPr>
        <p:spPr>
          <a:xfrm>
            <a:off x="8493760" y="3904488"/>
            <a:ext cx="802640" cy="192024"/>
          </a:xfrm>
          <a:prstGeom prst="rect">
            <a:avLst/>
          </a:prstGeom>
          <a:solidFill>
            <a:srgbClr val="004387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369552" y="3867912"/>
            <a:ext cx="169164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11/11 to 15/11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530352" y="4133088"/>
            <a:ext cx="393192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freeze</a:t>
            </a:r>
            <a:endParaRPr lang="en-US" sz="1600" dirty="0"/>
          </a:p>
        </p:txBody>
      </p:sp>
      <p:sp>
        <p:nvSpPr>
          <p:cNvPr id="53" name="Milestone"/>
          <p:cNvSpPr/>
          <p:nvPr/>
        </p:nvSpPr>
        <p:spPr>
          <a:xfrm>
            <a:off x="8643112" y="4174236"/>
            <a:ext cx="182880" cy="182880"/>
          </a:xfrm>
          <a:prstGeom prst="diamond">
            <a:avLst/>
          </a:prstGeom>
          <a:solidFill>
            <a:srgbClr val="C95B5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899144" y="4133088"/>
            <a:ext cx="66294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12/11</a:t>
            </a:r>
            <a:endParaRPr lang="en-US" sz="1600" dirty="0"/>
          </a:p>
        </p:txBody>
      </p:sp>
      <p:sp>
        <p:nvSpPr>
          <p:cNvPr id="55" name="Text 53"/>
          <p:cNvSpPr txBox="1"/>
          <p:nvPr/>
        </p:nvSpPr>
        <p:spPr>
          <a:xfrm>
            <a:off x="530352" y="4398264"/>
            <a:ext cx="393192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I5 buffer day</a:t>
            </a:r>
            <a:endParaRPr lang="en-US" sz="1600" dirty="0"/>
          </a:p>
        </p:txBody>
      </p:sp>
      <p:sp>
        <p:nvSpPr>
          <p:cNvPr id="56" name="Bar"/>
          <p:cNvSpPr/>
          <p:nvPr/>
        </p:nvSpPr>
        <p:spPr>
          <a:xfrm>
            <a:off x="8814816" y="4434840"/>
            <a:ext cx="160528" cy="192024"/>
          </a:xfrm>
          <a:prstGeom prst="rect">
            <a:avLst/>
          </a:prstGeom>
          <a:solidFill>
            <a:srgbClr val="C95B5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9048496" y="4398264"/>
            <a:ext cx="66294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13/11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30352" y="4663440"/>
            <a:ext cx="393192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submission</a:t>
            </a:r>
            <a:endParaRPr lang="en-US" sz="1600" dirty="0"/>
          </a:p>
        </p:txBody>
      </p:sp>
      <p:sp>
        <p:nvSpPr>
          <p:cNvPr id="59" name="Milestone"/>
          <p:cNvSpPr/>
          <p:nvPr/>
        </p:nvSpPr>
        <p:spPr>
          <a:xfrm>
            <a:off x="9124696" y="4704588"/>
            <a:ext cx="182880" cy="182880"/>
          </a:xfrm>
          <a:prstGeom prst="diamond">
            <a:avLst/>
          </a:prstGeom>
          <a:solidFill>
            <a:srgbClr val="00438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380728" y="4663440"/>
            <a:ext cx="66294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15/11</a:t>
            </a:r>
            <a:endParaRPr lang="en-US" sz="1600" dirty="0"/>
          </a:p>
        </p:txBody>
      </p:sp>
      <p:sp>
        <p:nvSpPr>
          <p:cNvPr id="61" name="Text 59"/>
          <p:cNvSpPr txBox="1"/>
          <p:nvPr/>
        </p:nvSpPr>
        <p:spPr>
          <a:xfrm>
            <a:off x="530352" y="4928616"/>
            <a:ext cx="393192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presentation</a:t>
            </a:r>
            <a:endParaRPr lang="en-US" sz="1600" dirty="0"/>
          </a:p>
        </p:txBody>
      </p:sp>
      <p:sp>
        <p:nvSpPr>
          <p:cNvPr id="62" name="Milestone"/>
          <p:cNvSpPr/>
          <p:nvPr/>
        </p:nvSpPr>
        <p:spPr>
          <a:xfrm>
            <a:off x="9285224" y="4969764"/>
            <a:ext cx="182880" cy="182880"/>
          </a:xfrm>
          <a:prstGeom prst="diamond">
            <a:avLst/>
          </a:prstGeom>
          <a:solidFill>
            <a:srgbClr val="004387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541256" y="4928616"/>
            <a:ext cx="66294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16/11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530352" y="5193792"/>
            <a:ext cx="393192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I6 Feedback, v1.0-final, Part 3</a:t>
            </a:r>
            <a:endParaRPr lang="en-US" sz="1600" dirty="0"/>
          </a:p>
        </p:txBody>
      </p:sp>
      <p:sp>
        <p:nvSpPr>
          <p:cNvPr id="65" name="Bar"/>
          <p:cNvSpPr/>
          <p:nvPr/>
        </p:nvSpPr>
        <p:spPr>
          <a:xfrm>
            <a:off x="9456928" y="5230368"/>
            <a:ext cx="2086864" cy="192024"/>
          </a:xfrm>
          <a:prstGeom prst="rect">
            <a:avLst/>
          </a:prstGeom>
          <a:solidFill>
            <a:srgbClr val="004387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7692136" y="5193792"/>
            <a:ext cx="169164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17/11 to 29/11</a:t>
            </a:r>
            <a:endParaRPr lang="en-US" sz="1600" dirty="0"/>
          </a:p>
        </p:txBody>
      </p:sp>
      <p:sp>
        <p:nvSpPr>
          <p:cNvPr id="67" name="Text 65"/>
          <p:cNvSpPr txBox="1"/>
          <p:nvPr/>
        </p:nvSpPr>
        <p:spPr>
          <a:xfrm>
            <a:off x="530352" y="5458968"/>
            <a:ext cx="393192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submission</a:t>
            </a:r>
            <a:endParaRPr lang="en-US" sz="1600" dirty="0"/>
          </a:p>
        </p:txBody>
      </p:sp>
      <p:sp>
        <p:nvSpPr>
          <p:cNvPr id="68" name="Milestone"/>
          <p:cNvSpPr/>
          <p:nvPr/>
        </p:nvSpPr>
        <p:spPr>
          <a:xfrm>
            <a:off x="11372088" y="5500116"/>
            <a:ext cx="182880" cy="182880"/>
          </a:xfrm>
          <a:prstGeom prst="diamond">
            <a:avLst/>
          </a:prstGeom>
          <a:solidFill>
            <a:srgbClr val="004387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635996" y="5458968"/>
            <a:ext cx="66294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29/11</a:t>
            </a:r>
            <a:endParaRPr lang="en-US" sz="1600" dirty="0"/>
          </a:p>
        </p:txBody>
      </p:sp>
      <p:sp>
        <p:nvSpPr>
          <p:cNvPr id="70" name="Text 68"/>
          <p:cNvSpPr txBox="1"/>
          <p:nvPr/>
        </p:nvSpPr>
        <p:spPr>
          <a:xfrm>
            <a:off x="530352" y="5724144"/>
            <a:ext cx="393192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presentation</a:t>
            </a:r>
            <a:endParaRPr lang="en-US" sz="1600" dirty="0"/>
          </a:p>
        </p:txBody>
      </p:sp>
      <p:sp>
        <p:nvSpPr>
          <p:cNvPr id="71" name="Milestone"/>
          <p:cNvSpPr/>
          <p:nvPr/>
        </p:nvSpPr>
        <p:spPr>
          <a:xfrm>
            <a:off x="11532616" y="5765292"/>
            <a:ext cx="182880" cy="182880"/>
          </a:xfrm>
          <a:prstGeom prst="diamond">
            <a:avLst/>
          </a:prstGeom>
          <a:solidFill>
            <a:srgbClr val="004387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0796524" y="5724144"/>
            <a:ext cx="662940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30/11</a:t>
            </a:r>
            <a:endParaRPr lang="en-US" sz="1600" dirty="0"/>
          </a:p>
        </p:txBody>
      </p:sp>
      <p:sp>
        <p:nvSpPr>
          <p:cNvPr id="73" name="Card"/>
          <p:cNvSpPr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solidFill>
            <a:srgbClr val="FBE9E7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85216" y="6035040"/>
            <a:ext cx="110212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95B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Contingency  </a:t>
            </a:r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31/10 · freeze 12/11 · buffer 13/11 · I6 is not a rescue buffer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6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856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1 runs the six core processes in six days</a:t>
            </a:r>
            <a:endParaRPr lang="en-US" sz="2600" dirty="0"/>
          </a:p>
        </p:txBody>
      </p:sp>
      <p:sp>
        <p:nvSpPr>
          <p:cNvPr id="3" name="Framing sentence"/>
          <p:cNvSpPr txBox="1"/>
          <p:nvPr/>
        </p:nvSpPr>
        <p:spPr>
          <a:xfrm>
            <a:off x="457200" y="10972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4 focused hours per student per day, 48 person-hours; setup is part of D1.</a:t>
            </a:r>
            <a:endParaRPr lang="en-US" sz="1800" dirty="0"/>
          </a:p>
        </p:txBody>
      </p:sp>
      <p:graphicFrame>
        <p:nvGraphicFramePr>
          <p:cNvPr id="13" name="I1 day pla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7729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377440"/>
                <a:gridCol w="2560320"/>
                <a:gridCol w="2651760"/>
                <a:gridCol w="2270455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process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 (UC-01)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 (foundation)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Sat 17/10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CP1–2 Identify, plan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Vision, backlog, UC-01 stories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Repo, skeleton, events, actors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Skeleton runs; backlog v1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 18/10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CP3 Discover details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UC-01 description, questions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 model, CRUD inventory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Names fixed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 19/10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CP3–4 Design components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Activity, SSD, Order states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Schema, seed, UC-02 draft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SSD and schema agree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Tue 20/10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CP4–5 Build, test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Controller, Order code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DAOs, OrderDAO insert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 order saved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Wed 21/10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CP5 Integrate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Checkout page, pytest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 checks, README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pytest run recorded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Thu 22/10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CP6 Test, deploy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 defects, acceptance run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Second-machine run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Result; I1 review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6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856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1: COD order persisted and tested; 7 of 9 criteria met</a:t>
            </a:r>
            <a:endParaRPr lang="en-US" sz="2600" dirty="0"/>
          </a:p>
        </p:txBody>
      </p:sp>
      <p:sp>
        <p:nvSpPr>
          <p:cNvPr id="3" name="Framing sentence"/>
          <p:cNvSpPr txBox="1"/>
          <p:nvPr/>
        </p:nvSpPr>
        <p:spPr>
          <a:xfrm>
            <a:off x="457200" y="10972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figures from the repository, the pytest output and the hours log.</a:t>
            </a:r>
            <a:endParaRPr lang="en-US" sz="1800" dirty="0"/>
          </a:p>
        </p:txBody>
      </p:sp>
      <p:graphicFrame>
        <p:nvGraphicFramePr>
          <p:cNvPr id="14" name="Plan vs actual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3152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40233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Days with evidence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D3–D5 scope built on D3; D6 open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Person-hours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⟦ACTUAL s13_hours: hours⟧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Criteria met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of 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of 9 (AC-1, AC-9 partial)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pytest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AC-4 to AC-8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 passed, 0 failed (19/10)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Second machine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⟦ACTUAL s13_second_machine: result⟧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Roadmap change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⟦ACTUAL s13_roadmap_change: change⟧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</a:tr>
            </a:tbl>
          </a:graphicData>
        </a:graphic>
      </p:graphicFrame>
      <p:sp>
        <p:nvSpPr>
          <p:cNvPr id="5" name="Screenshot frame"/>
          <p:cNvSpPr/>
          <p:nvPr/>
        </p:nvSpPr>
        <p:spPr>
          <a:xfrm>
            <a:off x="7982712" y="1627632"/>
            <a:ext cx="3770071" cy="2370011"/>
          </a:xfrm>
          <a:prstGeom prst="rect">
            <a:avLst/>
          </a:prstGeom>
          <a:solidFill>
            <a:srgbClr val="FFFFFF"/>
          </a:solidFill>
          <a:ln w="12700">
            <a:solidFill>
              <a:srgbClr val="004387"/>
            </a:solidFill>
            <a:prstDash val="solid"/>
          </a:ln>
        </p:spPr>
      </p:sp>
      <p:pic>
        <p:nvPicPr>
          <p:cNvPr id="6" name="I1 order confirmation screenshot" descr="Order confirmation page: order 1 PLACED, COD, total 160,000 V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645920"/>
            <a:ext cx="3733495" cy="233343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01000" y="4070794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order: ID 1, PLACED, COD</a:t>
            </a:r>
            <a:endParaRPr lang="en-US" sz="1600" dirty="0"/>
          </a:p>
        </p:txBody>
      </p:sp>
      <p:sp>
        <p:nvSpPr>
          <p:cNvPr id="8" name="Card"/>
          <p:cNvSpPr/>
          <p:nvPr/>
        </p:nvSpPr>
        <p:spPr>
          <a:xfrm>
            <a:off x="457200" y="5349240"/>
            <a:ext cx="11277295" cy="457200"/>
          </a:xfrm>
          <a:prstGeom prst="rect">
            <a:avLst/>
          </a:prstGeom>
          <a:solidFill>
            <a:srgbClr val="E3ECF3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585216" y="5349240"/>
            <a:ext cx="110212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 </a:t>
            </a:r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early on 19/10 with AI assistance; team review pending.</a:t>
            </a:r>
            <a:endParaRPr lang="en-US" sz="1800" dirty="0"/>
          </a:p>
        </p:txBody>
      </p:sp>
      <p:sp>
        <p:nvSpPr>
          <p:cNvPr id="10" name="Card"/>
          <p:cNvSpPr/>
          <p:nvPr/>
        </p:nvSpPr>
        <p:spPr>
          <a:xfrm>
            <a:off x="457200" y="5870448"/>
            <a:ext cx="11277295" cy="457200"/>
          </a:xfrm>
          <a:prstGeom prst="rect">
            <a:avLst/>
          </a:prstGeom>
          <a:solidFill>
            <a:srgbClr val="FFF3C4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85216" y="5870448"/>
            <a:ext cx="110212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 </a:t>
            </a:r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⟦ACTUAL lesson_learned: lesson from Iteration 1⟧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6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856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Unconfirmed rules and the capacity race are the biggest risks</a:t>
            </a:r>
            <a:endParaRPr lang="en-US" sz="2600" dirty="0"/>
          </a:p>
        </p:txBody>
      </p:sp>
      <p:sp>
        <p:nvSpPr>
          <p:cNvPr id="3" name="Framing sentence"/>
          <p:cNvSpPr txBox="1"/>
          <p:nvPr/>
        </p:nvSpPr>
        <p:spPr>
          <a:xfrm>
            <a:off x="457200" y="10972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risk has an owner and a concrete mitigation; none relies on I6.</a:t>
            </a:r>
            <a:endParaRPr lang="en-US" sz="1800" dirty="0"/>
          </a:p>
        </p:txBody>
      </p:sp>
      <p:graphicFrame>
        <p:nvGraphicFramePr>
          <p:cNvPr id="15" name="Ri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7729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108960"/>
                <a:gridCol w="1554480"/>
                <a:gridCol w="914400"/>
                <a:gridCol w="487649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 / I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387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R-01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CRUD coverage rejected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 / High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 by 31/10; generic admin fallback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C95B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R-02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Rules unconfirmed or changed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/ Med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Assumption Log; values in configuration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C95B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R-03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Peak-hour capacity race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 / High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BEGIN IMMEDIATE transaction; boundary test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R-04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Integration drift between use cases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 / High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schema, seed; demo at I3, I4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43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R-05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Member unavailable or late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 / High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Cross-review; I5 buffer on 13/11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solidFill>
            <a:srgbClr val="FBE9E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85216" y="5486400"/>
            <a:ext cx="110212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95B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Contingency  </a:t>
            </a:r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31/10 · freeze 12/11 · buffer 13/11 · I6 is not a rescue buffer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598932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5B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marks the two risks in the title: R-02 and R-03.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6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856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client and four lecturer questions decide the open rules</a:t>
            </a:r>
            <a:endParaRPr lang="en-US" sz="2600" dirty="0"/>
          </a:p>
        </p:txBody>
      </p:sp>
      <p:sp>
        <p:nvSpPr>
          <p:cNvPr id="3" name="Framing sentence"/>
          <p:cNvSpPr txBox="1"/>
          <p:nvPr/>
        </p:nvSpPr>
        <p:spPr>
          <a:xfrm>
            <a:off x="457200" y="10972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question asks for one decision and carries our default.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questions (with our default)</a:t>
            </a:r>
            <a:endParaRPr lang="en-US" sz="1800" dirty="0"/>
          </a:p>
        </p:txBody>
      </p:sp>
      <p:sp>
        <p:nvSpPr>
          <p:cNvPr id="5" name="Card"/>
          <p:cNvSpPr/>
          <p:nvPr/>
        </p:nvSpPr>
        <p:spPr>
          <a:xfrm>
            <a:off x="457200" y="1965960"/>
            <a:ext cx="6858000" cy="603504"/>
          </a:xfrm>
          <a:prstGeom prst="rect">
            <a:avLst/>
          </a:prstGeom>
          <a:solidFill>
            <a:srgbClr val="E3ECF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85216" y="1965960"/>
            <a:ext cx="66019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Workload   </a:t>
            </a:r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Busy count? Default: at capacity.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457200" y="2633472"/>
            <a:ext cx="6858000" cy="603504"/>
          </a:xfrm>
          <a:prstGeom prst="rect">
            <a:avLst/>
          </a:prstGeom>
          <a:solidFill>
            <a:srgbClr val="E3ECF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85216" y="2633472"/>
            <a:ext cx="66019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Delivery   </a:t>
            </a:r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Distance, fee? Default: base + per km.</a:t>
            </a:r>
            <a:endParaRPr lang="en-US" sz="1800" dirty="0"/>
          </a:p>
        </p:txBody>
      </p:sp>
      <p:sp>
        <p:nvSpPr>
          <p:cNvPr id="9" name="Card"/>
          <p:cNvSpPr/>
          <p:nvPr/>
        </p:nvSpPr>
        <p:spPr>
          <a:xfrm>
            <a:off x="457200" y="3300984"/>
            <a:ext cx="6858000" cy="603504"/>
          </a:xfrm>
          <a:prstGeom prst="rect">
            <a:avLst/>
          </a:prstGeom>
          <a:solidFill>
            <a:srgbClr val="E3ECF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5216" y="3300984"/>
            <a:ext cx="66019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Cancel   </a:t>
            </a:r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when? Default: before PREPARING.</a:t>
            </a:r>
            <a:endParaRPr lang="en-US" sz="1800" dirty="0"/>
          </a:p>
        </p:txBody>
      </p:sp>
      <p:sp>
        <p:nvSpPr>
          <p:cNvPr id="11" name="Card"/>
          <p:cNvSpPr/>
          <p:nvPr/>
        </p:nvSpPr>
        <p:spPr>
          <a:xfrm>
            <a:off x="457200" y="3968496"/>
            <a:ext cx="6858000" cy="603504"/>
          </a:xfrm>
          <a:prstGeom prst="rect">
            <a:avLst/>
          </a:prstGeom>
          <a:solidFill>
            <a:srgbClr val="E3ECF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5216" y="3968496"/>
            <a:ext cx="66019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Payment   </a:t>
            </a:r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options? Default: wallet, card.</a:t>
            </a:r>
            <a:endParaRPr lang="en-US" sz="1800" dirty="0"/>
          </a:p>
        </p:txBody>
      </p:sp>
      <p:sp>
        <p:nvSpPr>
          <p:cNvPr id="13" name="Card"/>
          <p:cNvSpPr/>
          <p:nvPr/>
        </p:nvSpPr>
        <p:spPr>
          <a:xfrm>
            <a:off x="457200" y="4636008"/>
            <a:ext cx="6858000" cy="603504"/>
          </a:xfrm>
          <a:prstGeom prst="rect">
            <a:avLst/>
          </a:prstGeom>
          <a:solidFill>
            <a:srgbClr val="E3ECF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5216" y="4636008"/>
            <a:ext cx="66019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 Reports   </a:t>
            </a:r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date? Default: delivered date.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1554480"/>
            <a:ext cx="4144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for the lecturer</a:t>
            </a:r>
            <a:endParaRPr lang="en-US" sz="1800" dirty="0"/>
          </a:p>
        </p:txBody>
      </p:sp>
      <p:sp>
        <p:nvSpPr>
          <p:cNvPr id="16" name="Card"/>
          <p:cNvSpPr/>
          <p:nvPr/>
        </p:nvSpPr>
        <p:spPr>
          <a:xfrm>
            <a:off x="7589520" y="1965960"/>
            <a:ext cx="4144975" cy="770382"/>
          </a:xfrm>
          <a:prstGeom prst="rect">
            <a:avLst/>
          </a:prstGeom>
          <a:solidFill>
            <a:srgbClr val="E3ECF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17536" y="1965960"/>
            <a:ext cx="3888943" cy="770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  </a:t>
            </a:r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plus seed data enough?</a:t>
            </a:r>
            <a:endParaRPr lang="en-US" sz="1800" dirty="0"/>
          </a:p>
        </p:txBody>
      </p:sp>
      <p:sp>
        <p:nvSpPr>
          <p:cNvPr id="18" name="Card"/>
          <p:cNvSpPr/>
          <p:nvPr/>
        </p:nvSpPr>
        <p:spPr>
          <a:xfrm>
            <a:off x="7589520" y="2800350"/>
            <a:ext cx="4144975" cy="770382"/>
          </a:xfrm>
          <a:prstGeom prst="rect">
            <a:avLst/>
          </a:prstGeom>
          <a:solidFill>
            <a:srgbClr val="E3ECF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17536" y="2800350"/>
            <a:ext cx="3888943" cy="770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  </a:t>
            </a:r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Team-built payment stub acceptable?</a:t>
            </a:r>
            <a:endParaRPr lang="en-US" sz="1800" dirty="0"/>
          </a:p>
        </p:txBody>
      </p:sp>
      <p:sp>
        <p:nvSpPr>
          <p:cNvPr id="20" name="Card"/>
          <p:cNvSpPr/>
          <p:nvPr/>
        </p:nvSpPr>
        <p:spPr>
          <a:xfrm>
            <a:off x="7589520" y="3634740"/>
            <a:ext cx="4144975" cy="770382"/>
          </a:xfrm>
          <a:prstGeom prst="rect">
            <a:avLst/>
          </a:prstGeom>
          <a:solidFill>
            <a:srgbClr val="E3ECF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17536" y="3634740"/>
            <a:ext cx="3888943" cy="770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  </a:t>
            </a:r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Defer complaint, refund, rating?</a:t>
            </a:r>
            <a:endParaRPr lang="en-US" sz="1800" dirty="0"/>
          </a:p>
        </p:txBody>
      </p:sp>
      <p:sp>
        <p:nvSpPr>
          <p:cNvPr id="22" name="Card"/>
          <p:cNvSpPr/>
          <p:nvPr/>
        </p:nvSpPr>
        <p:spPr>
          <a:xfrm>
            <a:off x="7589520" y="4469130"/>
            <a:ext cx="4144975" cy="770382"/>
          </a:xfrm>
          <a:prstGeom prst="rect">
            <a:avLst/>
          </a:prstGeom>
          <a:solidFill>
            <a:srgbClr val="E3ECF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17536" y="4469130"/>
            <a:ext cx="3888943" cy="770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  </a:t>
            </a:r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3.12 or later acceptable?</a:t>
            </a:r>
            <a:endParaRPr lang="en-US" sz="1800" dirty="0"/>
          </a:p>
        </p:txBody>
      </p:sp>
      <p:sp>
        <p:nvSpPr>
          <p:cNvPr id="24" name="Card"/>
          <p:cNvSpPr/>
          <p:nvPr/>
        </p:nvSpPr>
        <p:spPr>
          <a:xfrm>
            <a:off x="457200" y="5532120"/>
            <a:ext cx="11277295" cy="777240"/>
          </a:xfrm>
          <a:prstGeom prst="rect">
            <a:avLst/>
          </a:prstGeom>
          <a:solidFill>
            <a:srgbClr val="E3ECF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5216" y="5532120"/>
            <a:ext cx="1102126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3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 </a:t>
            </a:r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needed by 31/10. A-10 confirmed verbally by the lecturer. Next: Iteration 2 on 27/10.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6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SaigonBite Project Proposal (Part 1)</dc:title>
  <dc:subject>PptxGenJS Presentation</dc:subject>
  <dc:creator>Nguyen Thanh Dat, Le Minh Quan</dc:creator>
  <cp:lastModifiedBy>Nguyen Thanh Dat, Le Minh Quan</cp:lastModifiedBy>
  <cp:revision>1</cp:revision>
  <dcterms:created xsi:type="dcterms:W3CDTF">2026-10-19T08:03:58Z</dcterms:created>
  <dcterms:modified xsi:type="dcterms:W3CDTF">2026-10-19T08:03:58Z</dcterms:modified>
</cp:coreProperties>
</file>