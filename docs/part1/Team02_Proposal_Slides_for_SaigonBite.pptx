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Time: 0:00–0:21
Hello everyone. We are Team 02. I am Dat, and this is Quan. Our project is SaigonBite, an online food delivery hub platform for cloud kitchens in Ho Chi Minh City. Today we show the process, the plan, the result, the risks, and our questions.
Cue: Click: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Time: 0:21–1:06
First, the problem. Paper tickets and chat hide the queue. At lunch time, one hub has a long queue, and a hub nearby is almost empty. Nobody outside the kitchen can see this. Menus change, but the apps do not, so staff phone the customers. Cash reaches the hub late, sometimes with mistakes. Tourists cannot register or pay. Our vision is one shared platform: one order record, a visible workload for each hub, and reports from the same data. These benefits are targets. We have not measured them yet. Timestamps from Iteration 3 will let us measure them.
Cue: Click: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Time: 1:06–1:32
This is the whole business process on one page. One order crosses five roles: customer, platform, kitchen, shipper, and office staff or manager. You do not need to read it. We split it into four zones, A to D, and zoom in on each one. Red is a failure path. Grey is not built in this release.
Cue: Click: slide 4 (zone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Time: 1:32–2:06
Zone A: order, quote and payment. The customer picks a hub and items. If the hub is busy, the platform suggests a quieter hub, and the customer chooses again. Then the customer sees the fee and the voucher, and pays cash on delivery or online. If online payment fails, the customer retries or switches to cash, and no order is created. Otherwise, the platform creates the order as PLACED and tells the hub.
Cue: Click: slide 5 (zone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Time: 2:06–2:42
Zone B: the kitchen. The kitchen confirms or rejects the order. If an item ran out, the kitchen offers a replacement, and the customer decides. If the customer says no, the order is rejected. A rejection voids a cash payment, and an online payment goes to refund pending. A confirmed order is prepared and marked READY. Cancelling is a separate short activity, Part E. A customer can cancel while the order is PLACED or CONFIRMED. We analyse it only.
Cue: Click: slide 6 (zone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Time: 2:42–3:21
Zone C: delivery and cash. The shipper picks up the ready order and delivers it. For cash on delivery, the shipper records the money at the door, and the payment becomes PAID. At the end of the shift, the shipper hands the cash to the hub, and office staff reconcile it. Delivered is not paid. If delivery fails, the shipper returns the food, and zone D marks the order delivery failed. A cash payment is voided, and nothing is refunded, because nothing was paid.
Cue: Click: slide 7 (zone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Time: 3:21–3:57
Zone D: receipt, complaint and refund. After delivery, the customer gets a receipt. The customer may rate the order, or complain about a wrong or late order. Office staff then decide on the refund. A failed delivery paid online reaches the same decision. Complaint, refund and rating are grey: they are in the process, but we do not build them. Reports are a separate activity that reads the same records. Quan will now show who does what.
Cue: HAND-OVER 1. Say the last line, look at Quan, click: slide 8. Quan takes the clicker.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Quan · Time: 3:57–4:46
Thank you, Dat. Here are our seven actors. Each one decides something that the order cannot move without. The customer picks the hub, the items and the payment. There are two customer types, local and tourist. Kitchen staff confirm or reject, and prepare the food. The shipper delivers and records the cash. Admin sets the hub capacity that the busy rule reads. The manager reads the reports. Office staff reconcile cash and decide refunds. The seventh actor is the payment stub, which our team builds to return the online result. Without any one of them, the order stops. All seven work on one shared order record.
Cue: Click: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Quan · Time: 4:46–5:37
Now, who owns what. We build four use cases, two for each of us. They cover all four required groups. Dat owns UC-01, place an order, and UC-03, manage hubs. I own UC-02, deliver an order, and UC-04, reports. Dat is the integration lead. I keep the schema and the seed data. The state machines are Order and Hub for Dat, and Delivery for me. Below the table are five scope levels. Level one is built: the four use cases. Level two is minimum support: a kitchen board and login. Level three is analysed only, including cancel order. Level four is deferred: complaint, refund and rating. Level five is future ideas.
Cue: Click: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Quan · Time: 5:37–6:26
Our approach is the iterative Unified Process, with six short iterations. Each one has analysis, design, build, test and a joint review. We chose it for four reasons. Client answers arrive later. The four use cases share one Order record. The deadlines are fixed, and we are only two people. And we do the riskiest parts first: capacity in Iteration 2, payment in Iteration 3. Our stack is Python 3.12 or later, Flask, sqlite3 with hand-written SQL, SQLite, pytest and Flask-Login. We chose Python because we are both strongest in it, and SQLite needs no server. The design has three layers. Back to Dat for the plan.
Cue: HAND-OVER 2. Say the last line, click: slide 11. Dat takes the clicker.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Time: 6:26–6:48
Thank you, Quan. This is our roadmap with real dates. Iteration 1 runs from 17 to 22 October. Part 2 is due on 15 November. We keep three contingency points: lecturer answers by 31 October, feature freeze on 12 November, and a buffer day on 13 November.
Cue: Click: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Time: 6:48–7:05
Iteration 1 runs the six core processes in six days. Each day has a task for each of us, and evidence at the end. At four hours per student per day, the plan is 48 person-hours.
Cue: Click: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Time: 7:05–7:36
Now the result. We built Iteration 1 early, on 19 October, with AI assistance. 81 tests passed and none failed, at commit 049673d. We met 7 of 9 criteria. AC-1 and AC-9 are partial. The saved order is on the right. Hours, the second machine and the lesson are still empty. We will report on D6 on 22 October. Our review of the code is still to do.
Cue: Click: slide 14. (Optional 30-second demo instead, see the end of this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Time: 7:36–7:56
Our biggest risks are unconfirmed rules and the capacity race. For the race, we count and insert in one transaction, and we test the boundary. For the rules, every rule is in the Assumption Log, with values in configuration. Every risk has an owner.
Cue: Click: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Time: 7:56–8:16
We need decisions: five from the client, each with our default, and four from the lecturer. Please answer by 31 October. Iteration 2 starts on 27 October with hub CRUD and the capacity rule. Thank you. We are happy to take your questions.
Cue: End. Stop on slide 15 and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rtlCol="0"/>
          <a:lstStyle>
            <a:lvl1pPr algn="l" indent="0" marL="0">
              <a:buNone/>
              <a:defRPr lang="en-US" sz="2600" b="1" dirty="0">
                <a:solidFill>
                  <a:srgbClr val="185695"/>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Shape 0"/>
          <p:cNvSpPr/>
          <p:nvPr/>
        </p:nvSpPr>
        <p:spPr>
          <a:xfrm>
            <a:off x="457200" y="1005840"/>
            <a:ext cx="11277295" cy="0"/>
          </a:xfrm>
          <a:prstGeom prst="line">
            <a:avLst/>
          </a:prstGeom>
          <a:noFill/>
          <a:ln w="19050">
            <a:solidFill>
              <a:srgbClr val="004387"/>
            </a:solidFill>
            <a:prstDash val="solid"/>
          </a:ln>
        </p:spPr>
      </p:sp>
      <p:sp>
        <p:nvSpPr>
          <p:cNvPr id="4" name="Text 1"/>
          <p:cNvSpPr/>
          <p:nvPr/>
        </p:nvSpPr>
        <p:spPr>
          <a:xfrm>
            <a:off x="457200" y="6446520"/>
            <a:ext cx="457200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SaigonBite · Team02</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AGRAM">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rtlCol="0"/>
          <a:lstStyle>
            <a:lvl1pPr algn="l" indent="0" marL="0">
              <a:buNone/>
              <a:defRPr lang="en-US" sz="2600" b="1" dirty="0">
                <a:solidFill>
                  <a:srgbClr val="185695"/>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Shape 0"/>
          <p:cNvSpPr/>
          <p:nvPr/>
        </p:nvSpPr>
        <p:spPr>
          <a:xfrm>
            <a:off x="457200" y="786384"/>
            <a:ext cx="11277295" cy="0"/>
          </a:xfrm>
          <a:prstGeom prst="line">
            <a:avLst/>
          </a:prstGeom>
          <a:noFill/>
          <a:ln w="19050">
            <a:solidFill>
              <a:srgbClr val="004387"/>
            </a:solidFill>
            <a:prstDash val="solid"/>
          </a:ln>
        </p:spPr>
      </p:sp>
      <p:sp>
        <p:nvSpPr>
          <p:cNvPr id="4" name="Text 1"/>
          <p:cNvSpPr/>
          <p:nvPr/>
        </p:nvSpPr>
        <p:spPr>
          <a:xfrm>
            <a:off x="457200" y="6446520"/>
            <a:ext cx="457200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SaigonBite · Team02</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457200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SaigonBite · Team02</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822960"/>
            <a:ext cx="9144000" cy="365760"/>
          </a:xfrm>
          <a:prstGeom prst="rect">
            <a:avLst/>
          </a:prstGeom>
          <a:noFill/>
          <a:ln/>
        </p:spPr>
        <p:txBody>
          <a:bodyPr wrap="square" lIns="0" tIns="0" rIns="0" bIns="0" rtlCol="0" anchor="ctr"/>
          <a:lstStyle/>
          <a:p>
            <a:pPr indent="0" marL="0">
              <a:buNone/>
            </a:pPr>
            <a:r>
              <a:rPr lang="en-US" sz="1800" b="1" dirty="0">
                <a:solidFill>
                  <a:srgbClr val="5B6472"/>
                </a:solidFill>
                <a:latin typeface="Arial" pitchFamily="34" charset="0"/>
                <a:ea typeface="Arial" pitchFamily="34" charset="-122"/>
                <a:cs typeface="Arial" pitchFamily="34" charset="-120"/>
              </a:rPr>
              <a:t>RAD Sem01_2627  ·  PART 1 PROJECT PROPOSAL</a:t>
            </a:r>
            <a:endParaRPr lang="en-US" sz="1800" dirty="0"/>
          </a:p>
        </p:txBody>
      </p:sp>
      <p:sp>
        <p:nvSpPr>
          <p:cNvPr id="3" name="Title"/>
          <p:cNvSpPr txBox="1"/>
          <p:nvPr/>
        </p:nvSpPr>
        <p:spPr>
          <a:xfrm>
            <a:off x="822960" y="1325880"/>
            <a:ext cx="10424160" cy="1554480"/>
          </a:xfrm>
          <a:prstGeom prst="rect">
            <a:avLst/>
          </a:prstGeom>
          <a:noFill/>
          <a:ln/>
        </p:spPr>
        <p:txBody>
          <a:bodyPr wrap="square" lIns="0" tIns="0" rIns="0" bIns="0" rtlCol="0" anchor="t"/>
          <a:lstStyle/>
          <a:p>
            <a:pPr indent="0" marL="0">
              <a:buNone/>
            </a:pPr>
            <a:r>
              <a:rPr lang="en-US" sz="4000" b="1" dirty="0">
                <a:solidFill>
                  <a:srgbClr val="004387"/>
                </a:solidFill>
                <a:latin typeface="Arial" pitchFamily="34" charset="0"/>
                <a:ea typeface="Arial" pitchFamily="34" charset="-122"/>
                <a:cs typeface="Arial" pitchFamily="34" charset="-120"/>
              </a:rPr>
              <a:t>SaigonBite: one platform to spread lunch-hour orders across hubs</a:t>
            </a:r>
            <a:endParaRPr lang="en-US" sz="4000" dirty="0"/>
          </a:p>
        </p:txBody>
      </p:sp>
      <p:sp>
        <p:nvSpPr>
          <p:cNvPr id="4" name="Text 2"/>
          <p:cNvSpPr txBox="1"/>
          <p:nvPr/>
        </p:nvSpPr>
        <p:spPr>
          <a:xfrm>
            <a:off x="822960" y="2926080"/>
            <a:ext cx="10058400" cy="411480"/>
          </a:xfrm>
          <a:prstGeom prst="rect">
            <a:avLst/>
          </a:prstGeom>
          <a:noFill/>
          <a:ln/>
        </p:spPr>
        <p:txBody>
          <a:bodyPr wrap="square" lIns="0" tIns="0" rIns="0" bIns="0" rtlCol="0" anchor="ctr"/>
          <a:lstStyle/>
          <a:p>
            <a:pPr indent="0" marL="0">
              <a:buNone/>
            </a:pPr>
            <a:r>
              <a:rPr lang="en-US" sz="2000" dirty="0">
                <a:solidFill>
                  <a:srgbClr val="5B6472"/>
                </a:solidFill>
                <a:latin typeface="Arial" pitchFamily="34" charset="0"/>
                <a:ea typeface="Arial" pitchFamily="34" charset="-122"/>
                <a:cs typeface="Arial" pitchFamily="34" charset="-120"/>
              </a:rPr>
              <a:t>Online Food Delivery Hub Platform (OFDH)</a:t>
            </a:r>
            <a:endParaRPr lang="en-US" sz="2000" dirty="0"/>
          </a:p>
        </p:txBody>
      </p:sp>
      <p:sp>
        <p:nvSpPr>
          <p:cNvPr id="5" name="Card"/>
          <p:cNvSpPr/>
          <p:nvPr/>
        </p:nvSpPr>
        <p:spPr>
          <a:xfrm>
            <a:off x="822960" y="3657600"/>
            <a:ext cx="5029200" cy="1325880"/>
          </a:xfrm>
          <a:prstGeom prst="rect">
            <a:avLst/>
          </a:prstGeom>
          <a:solidFill>
            <a:srgbClr val="E3ECF3"/>
          </a:solidFill>
          <a:ln/>
        </p:spPr>
      </p:sp>
      <p:sp>
        <p:nvSpPr>
          <p:cNvPr id="6" name="Text 4"/>
          <p:cNvSpPr txBox="1"/>
          <p:nvPr/>
        </p:nvSpPr>
        <p:spPr>
          <a:xfrm>
            <a:off x="950976" y="3657600"/>
            <a:ext cx="4773168" cy="132588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Nguyen Thanh Dat · 722I0004</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Owns UC-01 Place an order and UC-03 Manage hubs</a:t>
            </a:r>
            <a:endParaRPr lang="en-US" sz="1800" dirty="0"/>
          </a:p>
        </p:txBody>
      </p:sp>
      <p:sp>
        <p:nvSpPr>
          <p:cNvPr id="7" name="Card"/>
          <p:cNvSpPr/>
          <p:nvPr/>
        </p:nvSpPr>
        <p:spPr>
          <a:xfrm>
            <a:off x="6126480" y="3657600"/>
            <a:ext cx="5029200" cy="1325880"/>
          </a:xfrm>
          <a:prstGeom prst="rect">
            <a:avLst/>
          </a:prstGeom>
          <a:solidFill>
            <a:srgbClr val="E3ECF3"/>
          </a:solidFill>
          <a:ln/>
        </p:spPr>
      </p:sp>
      <p:sp>
        <p:nvSpPr>
          <p:cNvPr id="8" name="Text 6"/>
          <p:cNvSpPr txBox="1"/>
          <p:nvPr/>
        </p:nvSpPr>
        <p:spPr>
          <a:xfrm>
            <a:off x="6254496" y="3657600"/>
            <a:ext cx="4773168" cy="132588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Le Minh Quan · 523K0049</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Owns UC-02 Deliver an order and UC-04 Reports</a:t>
            </a:r>
            <a:endParaRPr lang="en-US" sz="1800" dirty="0"/>
          </a:p>
        </p:txBody>
      </p:sp>
      <p:sp>
        <p:nvSpPr>
          <p:cNvPr id="9" name="Text 7"/>
          <p:cNvSpPr txBox="1"/>
          <p:nvPr/>
        </p:nvSpPr>
        <p:spPr>
          <a:xfrm>
            <a:off x="822960" y="5349240"/>
            <a:ext cx="10058400" cy="36576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Team02  ·  Presented live on 26 October 2026</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Paper tickets hide the queue: one hub overloads, another idles</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Five pains from the case map to five capabilities of one shared platform.</a:t>
            </a:r>
            <a:endParaRPr lang="en-US" sz="1800" dirty="0"/>
          </a:p>
        </p:txBody>
      </p:sp>
      <p:graphicFrame>
        <p:nvGraphicFramePr>
          <p:cNvPr id="3" name="Pain to capability table"/>
          <p:cNvGraphicFramePr>
            <a:graphicFrameLocks noGrp="1"/>
          </p:cNvGraphicFramePr>
          <p:nvPr>
            <p:extLst>
              <p:ext uri="{D42A27DB-BD31-4B8C-83A1-F6EECF244321}">
                <p14:modId xmlns:p14="http://schemas.microsoft.com/office/powerpoint/2010/main" val="1579011935"/>
              </p:ext>
            </p:extLst>
          </p:nvPr>
        </p:nvGraphicFramePr>
        <p:xfrm>
          <a:off x="457200" y="1645920"/>
          <a:ext cx="11277295" cy="914400"/>
        </p:xfrm>
        <a:graphic>
          <a:graphicData uri="http://schemas.openxmlformats.org/drawingml/2006/table">
            <a:tbl>
              <a:tblPr/>
              <a:tblGrid>
                <a:gridCol w="5852160"/>
                <a:gridCol w="5425135"/>
              </a:tblGrid>
              <a:tr h="45720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Pain (from the case)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Capability in this release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One hub overloaded, another idle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Busy-hub block, quieter-hub suggestion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Cash handed over late, with mistakes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Cash recorded per order, reconciled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Ingredient runs out; staff phone customers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Reject or replace with consent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Tourists cannot register or pay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Local and tourist types; COD for all</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No reliable reports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Reports from shared records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5" name="Card"/>
          <p:cNvSpPr/>
          <p:nvPr/>
        </p:nvSpPr>
        <p:spPr>
          <a:xfrm>
            <a:off x="457200" y="5440680"/>
            <a:ext cx="11277295" cy="868680"/>
          </a:xfrm>
          <a:prstGeom prst="rect">
            <a:avLst/>
          </a:prstGeom>
          <a:solidFill>
            <a:srgbClr val="E3ECF3"/>
          </a:solidFill>
          <a:ln/>
        </p:spPr>
      </p:sp>
      <p:sp>
        <p:nvSpPr>
          <p:cNvPr id="6" name="Text 3"/>
          <p:cNvSpPr txBox="1"/>
          <p:nvPr/>
        </p:nvSpPr>
        <p:spPr>
          <a:xfrm>
            <a:off x="585216" y="5440680"/>
            <a:ext cx="11021263" cy="86868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Vision  </a:t>
            </a:r>
            <a:pPr algn="l" indent="0" marL="0">
              <a:buNone/>
            </a:pPr>
            <a:r>
              <a:rPr lang="en-US" sz="1800" dirty="0">
                <a:solidFill>
                  <a:srgbClr val="1F2937"/>
                </a:solidFill>
                <a:latin typeface="Arial" pitchFamily="34" charset="0"/>
                <a:ea typeface="Arial" pitchFamily="34" charset="-122"/>
                <a:cs typeface="Arial" pitchFamily="34" charset="-120"/>
              </a:rPr>
              <a:t>One order record, visible workload, reports from the same data. Benefits are expected, not measured.</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One order crosses five roles, and every branch has an owner</a:t>
            </a:r>
            <a:endParaRPr lang="en-US" sz="2600" dirty="0"/>
          </a:p>
        </p:txBody>
      </p:sp>
      <p:sp>
        <p:nvSpPr>
          <p:cNvPr id="3" name="Zone label A"/>
          <p:cNvSpPr/>
          <p:nvPr/>
        </p:nvSpPr>
        <p:spPr>
          <a:xfrm>
            <a:off x="692074" y="1105761"/>
            <a:ext cx="3801669" cy="420624"/>
          </a:xfrm>
          <a:prstGeom prst="rect">
            <a:avLst/>
          </a:prstGeom>
          <a:solidFill>
            <a:srgbClr val="E3ECF3"/>
          </a:solidFill>
          <a:ln w="12700">
            <a:solidFill>
              <a:srgbClr val="004387"/>
            </a:solidFill>
            <a:prstDash val="solid"/>
          </a:ln>
        </p:spPr>
      </p:sp>
      <p:sp>
        <p:nvSpPr>
          <p:cNvPr id="4" name="Zone badge A"/>
          <p:cNvSpPr/>
          <p:nvPr/>
        </p:nvSpPr>
        <p:spPr>
          <a:xfrm>
            <a:off x="737794" y="1169769"/>
            <a:ext cx="292608" cy="292608"/>
          </a:xfrm>
          <a:prstGeom prst="ellipse">
            <a:avLst/>
          </a:prstGeom>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a:t>
            </a:r>
            <a:endParaRPr lang="en-US" sz="1600" dirty="0"/>
          </a:p>
        </p:txBody>
      </p:sp>
      <p:sp>
        <p:nvSpPr>
          <p:cNvPr id="5" name="Zone text A"/>
          <p:cNvSpPr txBox="1"/>
          <p:nvPr/>
        </p:nvSpPr>
        <p:spPr>
          <a:xfrm>
            <a:off x="1140130" y="1105761"/>
            <a:ext cx="3335325" cy="420624"/>
          </a:xfrm>
          <a:prstGeom prst="rect">
            <a:avLst/>
          </a:prstGeom>
          <a:noFill/>
          <a:ln/>
        </p:spPr>
        <p:txBody>
          <a:bodyPr wrap="non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Order and pay</a:t>
            </a:r>
            <a:endParaRPr lang="en-US" sz="1800" dirty="0"/>
          </a:p>
        </p:txBody>
      </p:sp>
      <p:sp>
        <p:nvSpPr>
          <p:cNvPr id="6" name="Zone label B"/>
          <p:cNvSpPr/>
          <p:nvPr/>
        </p:nvSpPr>
        <p:spPr>
          <a:xfrm>
            <a:off x="4548607" y="1105761"/>
            <a:ext cx="2387293" cy="420624"/>
          </a:xfrm>
          <a:prstGeom prst="rect">
            <a:avLst/>
          </a:prstGeom>
          <a:solidFill>
            <a:srgbClr val="E3ECF3"/>
          </a:solidFill>
          <a:ln w="12700">
            <a:solidFill>
              <a:srgbClr val="004387"/>
            </a:solidFill>
            <a:prstDash val="solid"/>
          </a:ln>
        </p:spPr>
      </p:sp>
      <p:sp>
        <p:nvSpPr>
          <p:cNvPr id="7" name="Zone badge B"/>
          <p:cNvSpPr/>
          <p:nvPr/>
        </p:nvSpPr>
        <p:spPr>
          <a:xfrm>
            <a:off x="4594327" y="1169769"/>
            <a:ext cx="292608" cy="292608"/>
          </a:xfrm>
          <a:prstGeom prst="ellipse">
            <a:avLst/>
          </a:prstGeom>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t>
            </a:r>
            <a:endParaRPr lang="en-US" sz="1600" dirty="0"/>
          </a:p>
        </p:txBody>
      </p:sp>
      <p:sp>
        <p:nvSpPr>
          <p:cNvPr id="8" name="Zone text B"/>
          <p:cNvSpPr txBox="1"/>
          <p:nvPr/>
        </p:nvSpPr>
        <p:spPr>
          <a:xfrm>
            <a:off x="4996663" y="1105761"/>
            <a:ext cx="1920949" cy="420624"/>
          </a:xfrm>
          <a:prstGeom prst="rect">
            <a:avLst/>
          </a:prstGeom>
          <a:noFill/>
          <a:ln/>
        </p:spPr>
        <p:txBody>
          <a:bodyPr wrap="non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Kitchen</a:t>
            </a:r>
            <a:endParaRPr lang="en-US" sz="1800" dirty="0"/>
          </a:p>
        </p:txBody>
      </p:sp>
      <p:sp>
        <p:nvSpPr>
          <p:cNvPr id="9" name="Zone label C"/>
          <p:cNvSpPr/>
          <p:nvPr/>
        </p:nvSpPr>
        <p:spPr>
          <a:xfrm>
            <a:off x="6990764" y="1105761"/>
            <a:ext cx="2076130" cy="420624"/>
          </a:xfrm>
          <a:prstGeom prst="rect">
            <a:avLst/>
          </a:prstGeom>
          <a:solidFill>
            <a:srgbClr val="E3ECF3"/>
          </a:solidFill>
          <a:ln w="12700">
            <a:solidFill>
              <a:srgbClr val="004387"/>
            </a:solidFill>
            <a:prstDash val="solid"/>
          </a:ln>
        </p:spPr>
      </p:sp>
      <p:sp>
        <p:nvSpPr>
          <p:cNvPr id="10" name="Zone badge C"/>
          <p:cNvSpPr/>
          <p:nvPr/>
        </p:nvSpPr>
        <p:spPr>
          <a:xfrm>
            <a:off x="7036484" y="1169769"/>
            <a:ext cx="292608" cy="292608"/>
          </a:xfrm>
          <a:prstGeom prst="ellipse">
            <a:avLst/>
          </a:prstGeom>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a:t>
            </a:r>
            <a:endParaRPr lang="en-US" sz="1600" dirty="0"/>
          </a:p>
        </p:txBody>
      </p:sp>
      <p:sp>
        <p:nvSpPr>
          <p:cNvPr id="11" name="Zone text C"/>
          <p:cNvSpPr txBox="1"/>
          <p:nvPr/>
        </p:nvSpPr>
        <p:spPr>
          <a:xfrm>
            <a:off x="7438820" y="1105761"/>
            <a:ext cx="1609786" cy="420624"/>
          </a:xfrm>
          <a:prstGeom prst="rect">
            <a:avLst/>
          </a:prstGeom>
          <a:noFill/>
          <a:ln/>
        </p:spPr>
        <p:txBody>
          <a:bodyPr wrap="non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Delivery, cash</a:t>
            </a:r>
            <a:endParaRPr lang="en-US" sz="1800" dirty="0"/>
          </a:p>
        </p:txBody>
      </p:sp>
      <p:sp>
        <p:nvSpPr>
          <p:cNvPr id="12" name="Zone label D"/>
          <p:cNvSpPr/>
          <p:nvPr/>
        </p:nvSpPr>
        <p:spPr>
          <a:xfrm>
            <a:off x="9121758" y="1105761"/>
            <a:ext cx="2547589" cy="420624"/>
          </a:xfrm>
          <a:prstGeom prst="rect">
            <a:avLst/>
          </a:prstGeom>
          <a:solidFill>
            <a:srgbClr val="E3ECF3"/>
          </a:solidFill>
          <a:ln w="12700">
            <a:solidFill>
              <a:srgbClr val="004387"/>
            </a:solidFill>
            <a:prstDash val="solid"/>
          </a:ln>
        </p:spPr>
      </p:sp>
      <p:sp>
        <p:nvSpPr>
          <p:cNvPr id="13" name="Zone badge D"/>
          <p:cNvSpPr/>
          <p:nvPr/>
        </p:nvSpPr>
        <p:spPr>
          <a:xfrm>
            <a:off x="9167478" y="1169769"/>
            <a:ext cx="292608" cy="292608"/>
          </a:xfrm>
          <a:prstGeom prst="ellipse">
            <a:avLst/>
          </a:prstGeom>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a:t>
            </a:r>
            <a:endParaRPr lang="en-US" sz="1600" dirty="0"/>
          </a:p>
        </p:txBody>
      </p:sp>
      <p:sp>
        <p:nvSpPr>
          <p:cNvPr id="14" name="Zone text D"/>
          <p:cNvSpPr txBox="1"/>
          <p:nvPr/>
        </p:nvSpPr>
        <p:spPr>
          <a:xfrm>
            <a:off x="9569814" y="1105761"/>
            <a:ext cx="2081245" cy="420624"/>
          </a:xfrm>
          <a:prstGeom prst="rect">
            <a:avLst/>
          </a:prstGeom>
          <a:noFill/>
          <a:ln/>
        </p:spPr>
        <p:txBody>
          <a:bodyPr wrap="non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Receipt, refund</a:t>
            </a:r>
            <a:endParaRPr lang="en-US" sz="1800" dirty="0"/>
          </a:p>
        </p:txBody>
      </p:sp>
      <p:pic>
        <p:nvPicPr>
          <p:cNvPr id="15" name="Figure 1 overall" descr="Overall business process, five swimlanes">    </p:cNvPr>
          <p:cNvPicPr>
            <a:picLocks noChangeAspect="1"/>
          </p:cNvPicPr>
          <p:nvPr/>
        </p:nvPicPr>
        <p:blipFill>
          <a:blip r:embed="rId1"/>
          <a:stretch>
            <a:fillRect/>
          </a:stretch>
        </p:blipFill>
        <p:spPr>
          <a:xfrm>
            <a:off x="457200" y="1617825"/>
            <a:ext cx="11277295" cy="4518461"/>
          </a:xfrm>
          <a:prstGeom prst="rect">
            <a:avLst/>
          </a:prstGeom>
        </p:spPr>
      </p:pic>
      <p:sp>
        <p:nvSpPr>
          <p:cNvPr id="16"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 (proposal Section 3)</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A busy hub redirects the customer before any order exists</a:t>
            </a:r>
            <a:endParaRPr lang="en-US" sz="2600" dirty="0"/>
          </a:p>
        </p:txBody>
      </p:sp>
      <p:sp>
        <p:nvSpPr>
          <p:cNvPr id="3" name="Zone A"/>
          <p:cNvSpPr/>
          <p:nvPr/>
        </p:nvSpPr>
        <p:spPr>
          <a:xfrm>
            <a:off x="9786823" y="6469380"/>
            <a:ext cx="274320" cy="274320"/>
          </a:xfrm>
          <a:prstGeom prst="rect">
            <a:avLst/>
          </a:prstGeom>
          <a:solidFill>
            <a:srgbClr val="004387"/>
          </a:solidFill>
          <a:ln w="12700">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a:t>
            </a:r>
            <a:endParaRPr lang="en-US" sz="1600" dirty="0"/>
          </a:p>
        </p:txBody>
      </p:sp>
      <p:sp>
        <p:nvSpPr>
          <p:cNvPr id="4" name="Zone B"/>
          <p:cNvSpPr/>
          <p:nvPr/>
        </p:nvSpPr>
        <p:spPr>
          <a:xfrm>
            <a:off x="10116007"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B</a:t>
            </a:r>
            <a:endParaRPr lang="en-US" sz="1600" dirty="0"/>
          </a:p>
        </p:txBody>
      </p:sp>
      <p:sp>
        <p:nvSpPr>
          <p:cNvPr id="5" name="Zone C"/>
          <p:cNvSpPr/>
          <p:nvPr/>
        </p:nvSpPr>
        <p:spPr>
          <a:xfrm>
            <a:off x="10445191"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C</a:t>
            </a:r>
            <a:endParaRPr lang="en-US" sz="1600" dirty="0"/>
          </a:p>
        </p:txBody>
      </p:sp>
      <p:sp>
        <p:nvSpPr>
          <p:cNvPr id="6" name="Zone D"/>
          <p:cNvSpPr/>
          <p:nvPr/>
        </p:nvSpPr>
        <p:spPr>
          <a:xfrm>
            <a:off x="10774375"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D</a:t>
            </a:r>
            <a:endParaRPr lang="en-US" sz="1600" dirty="0"/>
          </a:p>
        </p:txBody>
      </p:sp>
      <p:pic>
        <p:nvPicPr>
          <p:cNvPr id="7" name="Figure 1 Part A" descr="Figure 1 Part A">    </p:cNvPr>
          <p:cNvPicPr>
            <a:picLocks noChangeAspect="1"/>
          </p:cNvPicPr>
          <p:nvPr/>
        </p:nvPicPr>
        <p:blipFill>
          <a:blip r:embed="rId1"/>
          <a:stretch>
            <a:fillRect/>
          </a:stretch>
        </p:blipFill>
        <p:spPr>
          <a:xfrm>
            <a:off x="457200" y="1406285"/>
            <a:ext cx="11277295" cy="4447765"/>
          </a:xfrm>
          <a:prstGeom prst="rect">
            <a:avLst/>
          </a:prstGeom>
        </p:spPr>
      </p:pic>
      <p:sp>
        <p:nvSpPr>
          <p:cNvPr id="8"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1a (proposal Section 3.1)</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The kitchen gates the order; cancelling is its own short activity</a:t>
            </a:r>
            <a:endParaRPr lang="en-US" sz="2600" dirty="0"/>
          </a:p>
        </p:txBody>
      </p:sp>
      <p:sp>
        <p:nvSpPr>
          <p:cNvPr id="3" name="Zone A"/>
          <p:cNvSpPr/>
          <p:nvPr/>
        </p:nvSpPr>
        <p:spPr>
          <a:xfrm>
            <a:off x="9786823"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A</a:t>
            </a:r>
            <a:endParaRPr lang="en-US" sz="1600" dirty="0"/>
          </a:p>
        </p:txBody>
      </p:sp>
      <p:sp>
        <p:nvSpPr>
          <p:cNvPr id="4" name="Zone B"/>
          <p:cNvSpPr/>
          <p:nvPr/>
        </p:nvSpPr>
        <p:spPr>
          <a:xfrm>
            <a:off x="10116007" y="6469380"/>
            <a:ext cx="274320" cy="274320"/>
          </a:xfrm>
          <a:prstGeom prst="rect">
            <a:avLst/>
          </a:prstGeom>
          <a:solidFill>
            <a:srgbClr val="004387"/>
          </a:solidFill>
          <a:ln w="12700">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t>
            </a:r>
            <a:endParaRPr lang="en-US" sz="1600" dirty="0"/>
          </a:p>
        </p:txBody>
      </p:sp>
      <p:sp>
        <p:nvSpPr>
          <p:cNvPr id="5" name="Zone C"/>
          <p:cNvSpPr/>
          <p:nvPr/>
        </p:nvSpPr>
        <p:spPr>
          <a:xfrm>
            <a:off x="10445191"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C</a:t>
            </a:r>
            <a:endParaRPr lang="en-US" sz="1600" dirty="0"/>
          </a:p>
        </p:txBody>
      </p:sp>
      <p:sp>
        <p:nvSpPr>
          <p:cNvPr id="6" name="Zone D"/>
          <p:cNvSpPr/>
          <p:nvPr/>
        </p:nvSpPr>
        <p:spPr>
          <a:xfrm>
            <a:off x="10774375"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D</a:t>
            </a:r>
            <a:endParaRPr lang="en-US" sz="1600" dirty="0"/>
          </a:p>
        </p:txBody>
      </p:sp>
      <p:pic>
        <p:nvPicPr>
          <p:cNvPr id="7" name="Figure 1 Part B" descr="Figure 1 Part B">    </p:cNvPr>
          <p:cNvPicPr>
            <a:picLocks noChangeAspect="1"/>
          </p:cNvPicPr>
          <p:nvPr/>
        </p:nvPicPr>
        <p:blipFill>
          <a:blip r:embed="rId1"/>
          <a:stretch>
            <a:fillRect/>
          </a:stretch>
        </p:blipFill>
        <p:spPr>
          <a:xfrm>
            <a:off x="1609836" y="859536"/>
            <a:ext cx="8972023" cy="5056632"/>
          </a:xfrm>
          <a:prstGeom prst="rect">
            <a:avLst/>
          </a:prstGeom>
        </p:spPr>
      </p:pic>
      <p:sp>
        <p:nvSpPr>
          <p:cNvPr id="8" name="Card"/>
          <p:cNvSpPr/>
          <p:nvPr/>
        </p:nvSpPr>
        <p:spPr>
          <a:xfrm>
            <a:off x="457200" y="5971032"/>
            <a:ext cx="11277295" cy="429768"/>
          </a:xfrm>
          <a:prstGeom prst="rect">
            <a:avLst/>
          </a:prstGeom>
          <a:solidFill>
            <a:srgbClr val="F3F5F7"/>
          </a:solidFill>
          <a:ln/>
        </p:spPr>
      </p:sp>
      <p:sp>
        <p:nvSpPr>
          <p:cNvPr id="9" name="Text 6"/>
          <p:cNvSpPr txBox="1"/>
          <p:nvPr/>
        </p:nvSpPr>
        <p:spPr>
          <a:xfrm>
            <a:off x="585216" y="5971032"/>
            <a:ext cx="11021263" cy="429768"/>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Part E  </a:t>
            </a:r>
            <a:pPr algn="l" indent="0" marL="0">
              <a:buNone/>
            </a:pPr>
            <a:r>
              <a:rPr lang="en-US" sz="1800" dirty="0">
                <a:solidFill>
                  <a:srgbClr val="1F2937"/>
                </a:solidFill>
                <a:latin typeface="Arial" pitchFamily="34" charset="0"/>
                <a:ea typeface="Arial" pitchFamily="34" charset="-122"/>
                <a:cs typeface="Arial" pitchFamily="34" charset="-120"/>
              </a:rPr>
              <a:t>Cancel order is a separate activity (proposal Figure 1e): analysed only, A-08.</a:t>
            </a:r>
            <a:endParaRPr lang="en-US" sz="1800" dirty="0"/>
          </a:p>
        </p:txBody>
      </p:sp>
      <p:sp>
        <p:nvSpPr>
          <p:cNvPr id="10"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1b (proposal Section 3.1)</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Delivered is not paid: cash is collected, then reconciled</a:t>
            </a:r>
            <a:endParaRPr lang="en-US" sz="2600" dirty="0"/>
          </a:p>
        </p:txBody>
      </p:sp>
      <p:sp>
        <p:nvSpPr>
          <p:cNvPr id="3" name="Zone A"/>
          <p:cNvSpPr/>
          <p:nvPr/>
        </p:nvSpPr>
        <p:spPr>
          <a:xfrm>
            <a:off x="9786823"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A</a:t>
            </a:r>
            <a:endParaRPr lang="en-US" sz="1600" dirty="0"/>
          </a:p>
        </p:txBody>
      </p:sp>
      <p:sp>
        <p:nvSpPr>
          <p:cNvPr id="4" name="Zone B"/>
          <p:cNvSpPr/>
          <p:nvPr/>
        </p:nvSpPr>
        <p:spPr>
          <a:xfrm>
            <a:off x="10116007"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B</a:t>
            </a:r>
            <a:endParaRPr lang="en-US" sz="1600" dirty="0"/>
          </a:p>
        </p:txBody>
      </p:sp>
      <p:sp>
        <p:nvSpPr>
          <p:cNvPr id="5" name="Zone C"/>
          <p:cNvSpPr/>
          <p:nvPr/>
        </p:nvSpPr>
        <p:spPr>
          <a:xfrm>
            <a:off x="10445191" y="6469380"/>
            <a:ext cx="274320" cy="274320"/>
          </a:xfrm>
          <a:prstGeom prst="rect">
            <a:avLst/>
          </a:prstGeom>
          <a:solidFill>
            <a:srgbClr val="004387"/>
          </a:solidFill>
          <a:ln w="12700">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a:t>
            </a:r>
            <a:endParaRPr lang="en-US" sz="1600" dirty="0"/>
          </a:p>
        </p:txBody>
      </p:sp>
      <p:sp>
        <p:nvSpPr>
          <p:cNvPr id="6" name="Zone D"/>
          <p:cNvSpPr/>
          <p:nvPr/>
        </p:nvSpPr>
        <p:spPr>
          <a:xfrm>
            <a:off x="10774375"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D</a:t>
            </a:r>
            <a:endParaRPr lang="en-US" sz="1600" dirty="0"/>
          </a:p>
        </p:txBody>
      </p:sp>
      <p:pic>
        <p:nvPicPr>
          <p:cNvPr id="7" name="Figure 1 Part C" descr="Figure 1 Part C">    </p:cNvPr>
          <p:cNvPicPr>
            <a:picLocks noChangeAspect="1"/>
          </p:cNvPicPr>
          <p:nvPr/>
        </p:nvPicPr>
        <p:blipFill>
          <a:blip r:embed="rId1"/>
          <a:stretch>
            <a:fillRect/>
          </a:stretch>
        </p:blipFill>
        <p:spPr>
          <a:xfrm>
            <a:off x="1335312" y="859536"/>
            <a:ext cx="9521072" cy="5541264"/>
          </a:xfrm>
          <a:prstGeom prst="rect">
            <a:avLst/>
          </a:prstGeom>
        </p:spPr>
      </p:pic>
      <p:sp>
        <p:nvSpPr>
          <p:cNvPr id="8"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1c (proposal Section 3.1)</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Only complaints and paid-online failures reach the refund decision</a:t>
            </a:r>
            <a:endParaRPr lang="en-US" sz="2600" dirty="0"/>
          </a:p>
        </p:txBody>
      </p:sp>
      <p:sp>
        <p:nvSpPr>
          <p:cNvPr id="3" name="Zone A"/>
          <p:cNvSpPr/>
          <p:nvPr/>
        </p:nvSpPr>
        <p:spPr>
          <a:xfrm>
            <a:off x="9786823"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A</a:t>
            </a:r>
            <a:endParaRPr lang="en-US" sz="1600" dirty="0"/>
          </a:p>
        </p:txBody>
      </p:sp>
      <p:sp>
        <p:nvSpPr>
          <p:cNvPr id="4" name="Zone B"/>
          <p:cNvSpPr/>
          <p:nvPr/>
        </p:nvSpPr>
        <p:spPr>
          <a:xfrm>
            <a:off x="10116007"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B</a:t>
            </a:r>
            <a:endParaRPr lang="en-US" sz="1600" dirty="0"/>
          </a:p>
        </p:txBody>
      </p:sp>
      <p:sp>
        <p:nvSpPr>
          <p:cNvPr id="5" name="Zone C"/>
          <p:cNvSpPr/>
          <p:nvPr/>
        </p:nvSpPr>
        <p:spPr>
          <a:xfrm>
            <a:off x="10445191"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C</a:t>
            </a:r>
            <a:endParaRPr lang="en-US" sz="1600" dirty="0"/>
          </a:p>
        </p:txBody>
      </p:sp>
      <p:sp>
        <p:nvSpPr>
          <p:cNvPr id="6" name="Zone D"/>
          <p:cNvSpPr/>
          <p:nvPr/>
        </p:nvSpPr>
        <p:spPr>
          <a:xfrm>
            <a:off x="10774375" y="6469380"/>
            <a:ext cx="274320" cy="274320"/>
          </a:xfrm>
          <a:prstGeom prst="rect">
            <a:avLst/>
          </a:prstGeom>
          <a:solidFill>
            <a:srgbClr val="004387"/>
          </a:solidFill>
          <a:ln w="12700">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a:t>
            </a:r>
            <a:endParaRPr lang="en-US" sz="1600" dirty="0"/>
          </a:p>
        </p:txBody>
      </p:sp>
      <p:pic>
        <p:nvPicPr>
          <p:cNvPr id="7" name="Figure 1 Part D" descr="Figure 1 Part D">    </p:cNvPr>
          <p:cNvPicPr>
            <a:picLocks noChangeAspect="1"/>
          </p:cNvPicPr>
          <p:nvPr/>
        </p:nvPicPr>
        <p:blipFill>
          <a:blip r:embed="rId1"/>
          <a:stretch>
            <a:fillRect/>
          </a:stretch>
        </p:blipFill>
        <p:spPr>
          <a:xfrm>
            <a:off x="880049" y="859536"/>
            <a:ext cx="10431596" cy="5541264"/>
          </a:xfrm>
          <a:prstGeom prst="rect">
            <a:avLst/>
          </a:prstGeom>
        </p:spPr>
      </p:pic>
      <p:sp>
        <p:nvSpPr>
          <p:cNvPr id="8"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1d (proposal Section 3.1)</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Each actor decides one thing the order cannot move without</a:t>
            </a:r>
            <a:endParaRPr lang="en-US" sz="2600" dirty="0"/>
          </a:p>
        </p:txBody>
      </p:sp>
      <p:sp>
        <p:nvSpPr>
          <p:cNvPr id="3" name="Framing sentence"/>
          <p:cNvSpPr txBox="1"/>
          <p:nvPr/>
        </p:nvSpPr>
        <p:spPr>
          <a:xfrm>
            <a:off x="457200" y="1097280"/>
            <a:ext cx="11277295" cy="68580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The shipper records COD collection and hands the cash to the hub; office staff reconcile it at the end of the shift.</a:t>
            </a:r>
            <a:endParaRPr lang="en-US" sz="1800" dirty="0"/>
          </a:p>
        </p:txBody>
      </p:sp>
      <p:graphicFrame>
        <p:nvGraphicFramePr>
          <p:cNvPr id="9" name="Actor table"/>
          <p:cNvGraphicFramePr>
            <a:graphicFrameLocks noGrp="1"/>
          </p:cNvGraphicFramePr>
          <p:nvPr>
            <p:extLst>
              <p:ext uri="{D42A27DB-BD31-4B8C-83A1-F6EECF244321}">
                <p14:modId xmlns:p14="http://schemas.microsoft.com/office/powerpoint/2010/main" val="1579011935"/>
              </p:ext>
            </p:extLst>
          </p:nvPr>
        </p:nvGraphicFramePr>
        <p:xfrm>
          <a:off x="457200" y="1920240"/>
          <a:ext cx="11277295" cy="914400"/>
        </p:xfrm>
        <a:graphic>
          <a:graphicData uri="http://schemas.openxmlformats.org/drawingml/2006/table">
            <a:tbl>
              <a:tblPr/>
              <a:tblGrid>
                <a:gridCol w="2194560"/>
                <a:gridCol w="4754880"/>
                <a:gridCol w="4327855"/>
              </a:tblGrid>
              <a:tr h="41148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Actor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Decides or does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Without them</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521208">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Customer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Picks hub, items, payment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No order exists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21208">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Kitchen staff</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Confirms or rejects, prepares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Nothing to deliver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21208">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Shipper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Delivers, records COD collection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Cash and order stay open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21208">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Admin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Sets hubs and capacity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Busy rule has no limit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21208">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Manager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Reads reports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Hubs cannot be compared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21208">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Office staff</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Reconciles cash, decides refunds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Cash and complaints unchecked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21208">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Payment stub</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Returns the online result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Online path untestable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Four use cases cover all four required groups, two per student</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Each student owns two use cases and their state machines; five scope levels below.</a:t>
            </a:r>
            <a:endParaRPr lang="en-US" sz="1800" dirty="0"/>
          </a:p>
        </p:txBody>
      </p:sp>
      <p:graphicFrame>
        <p:nvGraphicFramePr>
          <p:cNvPr id="10" name="Ownership table"/>
          <p:cNvGraphicFramePr>
            <a:graphicFrameLocks noGrp="1"/>
          </p:cNvGraphicFramePr>
          <p:nvPr>
            <p:extLst>
              <p:ext uri="{D42A27DB-BD31-4B8C-83A1-F6EECF244321}">
                <p14:modId xmlns:p14="http://schemas.microsoft.com/office/powerpoint/2010/main" val="1579011935"/>
              </p:ext>
            </p:extLst>
          </p:nvPr>
        </p:nvGraphicFramePr>
        <p:xfrm>
          <a:off x="457200" y="1600200"/>
          <a:ext cx="11277295" cy="914400"/>
        </p:xfrm>
        <a:graphic>
          <a:graphicData uri="http://schemas.openxmlformats.org/drawingml/2006/table">
            <a:tbl>
              <a:tblPr/>
              <a:tblGrid>
                <a:gridCol w="914400"/>
                <a:gridCol w="3566160"/>
                <a:gridCol w="1554480"/>
                <a:gridCol w="2011680"/>
                <a:gridCol w="1005840"/>
                <a:gridCol w="2224735"/>
              </a:tblGrid>
              <a:tr h="41148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ID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Use case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Actor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Group</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Owner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State machine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41148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Place an order (#3)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Customer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 ordering</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Order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41148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UC-02</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Deliver an order (#10)</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Shipper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(b) fulfilment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Quan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Delivery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41148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Manage hubs, capacity (#13)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Admin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 full CRUD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Hub</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41148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Produce reports (#16)</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Manager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 report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Quan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none (read-only)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5" name="Card"/>
          <p:cNvSpPr/>
          <p:nvPr/>
        </p:nvSpPr>
        <p:spPr>
          <a:xfrm>
            <a:off x="457200" y="3931920"/>
            <a:ext cx="11277295" cy="411480"/>
          </a:xfrm>
          <a:prstGeom prst="rect">
            <a:avLst/>
          </a:prstGeom>
          <a:solidFill>
            <a:srgbClr val="E3ECF3"/>
          </a:solidFill>
          <a:ln/>
        </p:spPr>
      </p:sp>
      <p:sp>
        <p:nvSpPr>
          <p:cNvPr id="6" name="Text 3"/>
          <p:cNvSpPr txBox="1"/>
          <p:nvPr/>
        </p:nvSpPr>
        <p:spPr>
          <a:xfrm>
            <a:off x="585216" y="3931920"/>
            <a:ext cx="11021263" cy="41148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1 Built   </a:t>
            </a:r>
            <a:pPr algn="l" indent="0" marL="0">
              <a:buNone/>
            </a:pPr>
            <a:r>
              <a:rPr lang="en-US" sz="1800" dirty="0">
                <a:solidFill>
                  <a:srgbClr val="1F2937"/>
                </a:solidFill>
                <a:latin typeface="Arial" pitchFamily="34" charset="0"/>
                <a:ea typeface="Arial" pitchFamily="34" charset="-122"/>
                <a:cs typeface="Arial" pitchFamily="34" charset="-120"/>
              </a:rPr>
              <a:t>UC-01 to UC-04 in one application</a:t>
            </a:r>
            <a:endParaRPr lang="en-US" sz="1800" dirty="0"/>
          </a:p>
        </p:txBody>
      </p:sp>
      <p:sp>
        <p:nvSpPr>
          <p:cNvPr id="7" name="Card"/>
          <p:cNvSpPr/>
          <p:nvPr/>
        </p:nvSpPr>
        <p:spPr>
          <a:xfrm>
            <a:off x="457200" y="4389120"/>
            <a:ext cx="11277295" cy="411480"/>
          </a:xfrm>
          <a:prstGeom prst="rect">
            <a:avLst/>
          </a:prstGeom>
          <a:solidFill>
            <a:srgbClr val="E3ECF3"/>
          </a:solidFill>
          <a:ln/>
        </p:spPr>
      </p:sp>
      <p:sp>
        <p:nvSpPr>
          <p:cNvPr id="8" name="Text 5"/>
          <p:cNvSpPr txBox="1"/>
          <p:nvPr/>
        </p:nvSpPr>
        <p:spPr>
          <a:xfrm>
            <a:off x="585216" y="4389120"/>
            <a:ext cx="11021263" cy="41148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2 Minimum support   </a:t>
            </a:r>
            <a:pPr algn="l" indent="0" marL="0">
              <a:buNone/>
            </a:pPr>
            <a:r>
              <a:rPr lang="en-US" sz="1800" dirty="0">
                <a:solidFill>
                  <a:srgbClr val="1F2937"/>
                </a:solidFill>
                <a:latin typeface="Arial" pitchFamily="34" charset="0"/>
                <a:ea typeface="Arial" pitchFamily="34" charset="-122"/>
                <a:cs typeface="Arial" pitchFamily="34" charset="-120"/>
              </a:rPr>
              <a:t>Kitchen board; login, seeded users</a:t>
            </a:r>
            <a:endParaRPr lang="en-US" sz="1800" dirty="0"/>
          </a:p>
        </p:txBody>
      </p:sp>
      <p:sp>
        <p:nvSpPr>
          <p:cNvPr id="9" name="Card"/>
          <p:cNvSpPr/>
          <p:nvPr/>
        </p:nvSpPr>
        <p:spPr>
          <a:xfrm>
            <a:off x="457200" y="4846320"/>
            <a:ext cx="11277295" cy="411480"/>
          </a:xfrm>
          <a:prstGeom prst="rect">
            <a:avLst/>
          </a:prstGeom>
          <a:solidFill>
            <a:srgbClr val="E3ECF3"/>
          </a:solidFill>
          <a:ln/>
        </p:spPr>
      </p:sp>
      <p:sp>
        <p:nvSpPr>
          <p:cNvPr id="10" name="Text 7"/>
          <p:cNvSpPr txBox="1"/>
          <p:nvPr/>
        </p:nvSpPr>
        <p:spPr>
          <a:xfrm>
            <a:off x="585216" y="4846320"/>
            <a:ext cx="11021263" cy="41148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3 Analysed only   </a:t>
            </a:r>
            <a:pPr algn="l" indent="0" marL="0">
              <a:buNone/>
            </a:pPr>
            <a:r>
              <a:rPr lang="en-US" sz="1800" dirty="0">
                <a:solidFill>
                  <a:srgbClr val="1F2937"/>
                </a:solidFill>
                <a:latin typeface="Arial" pitchFamily="34" charset="0"/>
                <a:ea typeface="Arial" pitchFamily="34" charset="-122"/>
                <a:cs typeface="Arial" pitchFamily="34" charset="-120"/>
              </a:rPr>
              <a:t>Supporting use cases incl. cancel (A-08, L1)</a:t>
            </a:r>
            <a:endParaRPr lang="en-US" sz="1800" dirty="0"/>
          </a:p>
        </p:txBody>
      </p:sp>
      <p:sp>
        <p:nvSpPr>
          <p:cNvPr id="11" name="Card"/>
          <p:cNvSpPr/>
          <p:nvPr/>
        </p:nvSpPr>
        <p:spPr>
          <a:xfrm>
            <a:off x="457200" y="5303520"/>
            <a:ext cx="11277295" cy="411480"/>
          </a:xfrm>
          <a:prstGeom prst="rect">
            <a:avLst/>
          </a:prstGeom>
          <a:solidFill>
            <a:srgbClr val="E3ECF3"/>
          </a:solidFill>
          <a:ln/>
        </p:spPr>
      </p:sp>
      <p:sp>
        <p:nvSpPr>
          <p:cNvPr id="12" name="Text 9"/>
          <p:cNvSpPr txBox="1"/>
          <p:nvPr/>
        </p:nvSpPr>
        <p:spPr>
          <a:xfrm>
            <a:off x="585216" y="5303520"/>
            <a:ext cx="11021263" cy="41148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4 Deferred   </a:t>
            </a:r>
            <a:pPr algn="l" indent="0" marL="0">
              <a:buNone/>
            </a:pPr>
            <a:r>
              <a:rPr lang="en-US" sz="1800" dirty="0">
                <a:solidFill>
                  <a:srgbClr val="1F2937"/>
                </a:solidFill>
                <a:latin typeface="Arial" pitchFamily="34" charset="0"/>
                <a:ea typeface="Arial" pitchFamily="34" charset="-122"/>
                <a:cs typeface="Arial" pitchFamily="34" charset="-120"/>
              </a:rPr>
              <a:t>Complaint, refund, rating (A-09, L3)</a:t>
            </a:r>
            <a:endParaRPr lang="en-US" sz="1800" dirty="0"/>
          </a:p>
        </p:txBody>
      </p:sp>
      <p:sp>
        <p:nvSpPr>
          <p:cNvPr id="13" name="Card"/>
          <p:cNvSpPr/>
          <p:nvPr/>
        </p:nvSpPr>
        <p:spPr>
          <a:xfrm>
            <a:off x="457200" y="5760720"/>
            <a:ext cx="11277295" cy="411480"/>
          </a:xfrm>
          <a:prstGeom prst="rect">
            <a:avLst/>
          </a:prstGeom>
          <a:solidFill>
            <a:srgbClr val="F3F5F7"/>
          </a:solidFill>
          <a:ln/>
        </p:spPr>
      </p:sp>
      <p:sp>
        <p:nvSpPr>
          <p:cNvPr id="14" name="Text 11"/>
          <p:cNvSpPr txBox="1"/>
          <p:nvPr/>
        </p:nvSpPr>
        <p:spPr>
          <a:xfrm>
            <a:off x="585216" y="5760720"/>
            <a:ext cx="11021263" cy="411480"/>
          </a:xfrm>
          <a:prstGeom prst="rect">
            <a:avLst/>
          </a:prstGeom>
          <a:noFill/>
          <a:ln/>
        </p:spPr>
        <p:txBody>
          <a:bodyPr wrap="square" lIns="0" tIns="0" rIns="0" bIns="0" rtlCol="0" anchor="ctr"/>
          <a:lstStyle/>
          <a:p>
            <a:pPr algn="l" indent="0" marL="0">
              <a:buNone/>
            </a:pPr>
            <a:r>
              <a:rPr lang="en-US" sz="1800" b="1" dirty="0">
                <a:solidFill>
                  <a:srgbClr val="5B6472"/>
                </a:solidFill>
                <a:latin typeface="Arial" pitchFamily="34" charset="0"/>
                <a:ea typeface="Arial" pitchFamily="34" charset="-122"/>
                <a:cs typeface="Arial" pitchFamily="34" charset="-120"/>
              </a:rPr>
              <a:t>5 Future   </a:t>
            </a:r>
            <a:pPr algn="l" indent="0" marL="0">
              <a:buNone/>
            </a:pPr>
            <a:r>
              <a:rPr lang="en-US" sz="1800" dirty="0">
                <a:solidFill>
                  <a:srgbClr val="1F2937"/>
                </a:solidFill>
                <a:latin typeface="Arial" pitchFamily="34" charset="0"/>
                <a:ea typeface="Arial" pitchFamily="34" charset="-122"/>
                <a:cs typeface="Arial" pitchFamily="34" charset="-120"/>
              </a:rPr>
              <a:t>Loyalty, subscriptions, group orders</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Iterative Unified Process fits a case whose rules are still open</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Six time-boxed iterations: analysis, design, build, test and a joint review.</a:t>
            </a:r>
            <a:endParaRPr lang="en-US" sz="1800" dirty="0"/>
          </a:p>
        </p:txBody>
      </p:sp>
      <p:sp>
        <p:nvSpPr>
          <p:cNvPr id="4" name="Text 2"/>
          <p:cNvSpPr txBox="1"/>
          <p:nvPr/>
        </p:nvSpPr>
        <p:spPr>
          <a:xfrm>
            <a:off x="457200" y="1600200"/>
            <a:ext cx="5303520" cy="365760"/>
          </a:xfrm>
          <a:prstGeom prst="rect">
            <a:avLst/>
          </a:prstGeom>
          <a:noFill/>
          <a:ln/>
        </p:spPr>
        <p:txBody>
          <a:bodyPr wrap="square" lIns="0" tIns="0" rIns="0" bIns="0" rtlCol="0" anchor="ctr"/>
          <a:lstStyle/>
          <a:p>
            <a:pPr indent="0" marL="0">
              <a:buNone/>
            </a:pPr>
            <a:r>
              <a:rPr lang="en-US" sz="1800" b="1" dirty="0">
                <a:solidFill>
                  <a:srgbClr val="004387"/>
                </a:solidFill>
                <a:latin typeface="Arial" pitchFamily="34" charset="0"/>
                <a:ea typeface="Arial" pitchFamily="34" charset="-122"/>
                <a:cs typeface="Arial" pitchFamily="34" charset="-120"/>
              </a:rPr>
              <a:t>Why iterative</a:t>
            </a:r>
            <a:endParaRPr lang="en-US" sz="1800" dirty="0"/>
          </a:p>
        </p:txBody>
      </p:sp>
      <p:sp>
        <p:nvSpPr>
          <p:cNvPr id="5" name="Card"/>
          <p:cNvSpPr/>
          <p:nvPr/>
        </p:nvSpPr>
        <p:spPr>
          <a:xfrm>
            <a:off x="457200" y="2011680"/>
            <a:ext cx="5303520" cy="914400"/>
          </a:xfrm>
          <a:prstGeom prst="rect">
            <a:avLst/>
          </a:prstGeom>
          <a:solidFill>
            <a:srgbClr val="E3ECF3"/>
          </a:solidFill>
          <a:ln/>
        </p:spPr>
      </p:sp>
      <p:sp>
        <p:nvSpPr>
          <p:cNvPr id="6" name="Text 4"/>
          <p:cNvSpPr txBox="1"/>
          <p:nvPr/>
        </p:nvSpPr>
        <p:spPr>
          <a:xfrm>
            <a:off x="585216" y="2011680"/>
            <a:ext cx="5047488" cy="9144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1 Answers pending</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Client figures arrive later</a:t>
            </a:r>
            <a:endParaRPr lang="en-US" sz="1800" dirty="0"/>
          </a:p>
        </p:txBody>
      </p:sp>
      <p:sp>
        <p:nvSpPr>
          <p:cNvPr id="7" name="Card"/>
          <p:cNvSpPr/>
          <p:nvPr/>
        </p:nvSpPr>
        <p:spPr>
          <a:xfrm>
            <a:off x="457200" y="3035808"/>
            <a:ext cx="5303520" cy="914400"/>
          </a:xfrm>
          <a:prstGeom prst="rect">
            <a:avLst/>
          </a:prstGeom>
          <a:solidFill>
            <a:srgbClr val="E3ECF3"/>
          </a:solidFill>
          <a:ln/>
        </p:spPr>
      </p:sp>
      <p:sp>
        <p:nvSpPr>
          <p:cNvPr id="8" name="Text 6"/>
          <p:cNvSpPr txBox="1"/>
          <p:nvPr/>
        </p:nvSpPr>
        <p:spPr>
          <a:xfrm>
            <a:off x="585216" y="3035808"/>
            <a:ext cx="5047488" cy="9144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2 One shared Order</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Four use cases grow one record</a:t>
            </a:r>
            <a:endParaRPr lang="en-US" sz="1800" dirty="0"/>
          </a:p>
        </p:txBody>
      </p:sp>
      <p:sp>
        <p:nvSpPr>
          <p:cNvPr id="9" name="Card"/>
          <p:cNvSpPr/>
          <p:nvPr/>
        </p:nvSpPr>
        <p:spPr>
          <a:xfrm>
            <a:off x="457200" y="4059936"/>
            <a:ext cx="5303520" cy="914400"/>
          </a:xfrm>
          <a:prstGeom prst="rect">
            <a:avLst/>
          </a:prstGeom>
          <a:solidFill>
            <a:srgbClr val="E3ECF3"/>
          </a:solidFill>
          <a:ln/>
        </p:spPr>
      </p:sp>
      <p:sp>
        <p:nvSpPr>
          <p:cNvPr id="10" name="Text 8"/>
          <p:cNvSpPr txBox="1"/>
          <p:nvPr/>
        </p:nvSpPr>
        <p:spPr>
          <a:xfrm>
            <a:off x="585216" y="4059936"/>
            <a:ext cx="5047488" cy="9144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3 Fixed deadlines</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26/10, 16/11, 30/11; team of two</a:t>
            </a:r>
            <a:endParaRPr lang="en-US" sz="1800" dirty="0"/>
          </a:p>
        </p:txBody>
      </p:sp>
      <p:sp>
        <p:nvSpPr>
          <p:cNvPr id="11" name="Card"/>
          <p:cNvSpPr/>
          <p:nvPr/>
        </p:nvSpPr>
        <p:spPr>
          <a:xfrm>
            <a:off x="457200" y="5084064"/>
            <a:ext cx="5303520" cy="914400"/>
          </a:xfrm>
          <a:prstGeom prst="rect">
            <a:avLst/>
          </a:prstGeom>
          <a:solidFill>
            <a:srgbClr val="E3ECF3"/>
          </a:solidFill>
          <a:ln/>
        </p:spPr>
      </p:sp>
      <p:sp>
        <p:nvSpPr>
          <p:cNvPr id="12" name="Text 10"/>
          <p:cNvSpPr txBox="1"/>
          <p:nvPr/>
        </p:nvSpPr>
        <p:spPr>
          <a:xfrm>
            <a:off x="585216" y="5084064"/>
            <a:ext cx="5047488" cy="9144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4 Riskiest first</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Capacity in I2, payment in I3</a:t>
            </a:r>
            <a:endParaRPr lang="en-US" sz="1800" dirty="0"/>
          </a:p>
        </p:txBody>
      </p:sp>
      <p:sp>
        <p:nvSpPr>
          <p:cNvPr id="13" name="Text 11"/>
          <p:cNvSpPr txBox="1"/>
          <p:nvPr/>
        </p:nvSpPr>
        <p:spPr>
          <a:xfrm>
            <a:off x="6217920" y="1600200"/>
            <a:ext cx="5516575" cy="365760"/>
          </a:xfrm>
          <a:prstGeom prst="rect">
            <a:avLst/>
          </a:prstGeom>
          <a:noFill/>
          <a:ln/>
        </p:spPr>
        <p:txBody>
          <a:bodyPr wrap="square" lIns="0" tIns="0" rIns="0" bIns="0" rtlCol="0" anchor="ctr"/>
          <a:lstStyle/>
          <a:p>
            <a:pPr indent="0" marL="0">
              <a:buNone/>
            </a:pPr>
            <a:r>
              <a:rPr lang="en-US" sz="1800" b="1" dirty="0">
                <a:solidFill>
                  <a:srgbClr val="004387"/>
                </a:solidFill>
                <a:latin typeface="Arial" pitchFamily="34" charset="0"/>
                <a:ea typeface="Arial" pitchFamily="34" charset="-122"/>
                <a:cs typeface="Arial" pitchFamily="34" charset="-120"/>
              </a:rPr>
              <a:t>Stack and three layers (decided)</a:t>
            </a:r>
            <a:endParaRPr lang="en-US" sz="1800" dirty="0"/>
          </a:p>
        </p:txBody>
      </p:sp>
      <p:sp>
        <p:nvSpPr>
          <p:cNvPr id="14" name="Layer label"/>
          <p:cNvSpPr/>
          <p:nvPr/>
        </p:nvSpPr>
        <p:spPr>
          <a:xfrm>
            <a:off x="6217920" y="2011680"/>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View</a:t>
            </a:r>
            <a:endParaRPr lang="en-US" sz="1800" dirty="0"/>
          </a:p>
        </p:txBody>
      </p:sp>
      <p:sp>
        <p:nvSpPr>
          <p:cNvPr id="15" name="Layer text"/>
          <p:cNvSpPr/>
          <p:nvPr/>
        </p:nvSpPr>
        <p:spPr>
          <a:xfrm>
            <a:off x="7863840" y="2011680"/>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Flask + Jinja2 templates</a:t>
            </a:r>
            <a:endParaRPr lang="en-US" sz="1800" dirty="0"/>
          </a:p>
        </p:txBody>
      </p:sp>
      <p:sp>
        <p:nvSpPr>
          <p:cNvPr id="16" name="Layer label"/>
          <p:cNvSpPr/>
          <p:nvPr/>
        </p:nvSpPr>
        <p:spPr>
          <a:xfrm>
            <a:off x="6217920" y="2724912"/>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Controller</a:t>
            </a:r>
            <a:endParaRPr lang="en-US" sz="1800" dirty="0"/>
          </a:p>
        </p:txBody>
      </p:sp>
      <p:sp>
        <p:nvSpPr>
          <p:cNvPr id="17" name="Layer text"/>
          <p:cNvSpPr/>
          <p:nvPr/>
        </p:nvSpPr>
        <p:spPr>
          <a:xfrm>
            <a:off x="7863840" y="2724912"/>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One per use case</a:t>
            </a:r>
            <a:endParaRPr lang="en-US" sz="1800" dirty="0"/>
          </a:p>
        </p:txBody>
      </p:sp>
      <p:sp>
        <p:nvSpPr>
          <p:cNvPr id="18" name="Layer label"/>
          <p:cNvSpPr/>
          <p:nvPr/>
        </p:nvSpPr>
        <p:spPr>
          <a:xfrm>
            <a:off x="6217920" y="3438144"/>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Domain</a:t>
            </a:r>
            <a:endParaRPr lang="en-US" sz="1800" dirty="0"/>
          </a:p>
        </p:txBody>
      </p:sp>
      <p:sp>
        <p:nvSpPr>
          <p:cNvPr id="19" name="Layer text"/>
          <p:cNvSpPr/>
          <p:nvPr/>
        </p:nvSpPr>
        <p:spPr>
          <a:xfrm>
            <a:off x="7863840" y="3438144"/>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Order, Hub, Payment, Delivery</a:t>
            </a:r>
            <a:endParaRPr lang="en-US" sz="1800" dirty="0"/>
          </a:p>
        </p:txBody>
      </p:sp>
      <p:sp>
        <p:nvSpPr>
          <p:cNvPr id="20" name="Layer label"/>
          <p:cNvSpPr/>
          <p:nvPr/>
        </p:nvSpPr>
        <p:spPr>
          <a:xfrm>
            <a:off x="6217920" y="4151376"/>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DAO</a:t>
            </a:r>
            <a:endParaRPr lang="en-US" sz="1800" dirty="0"/>
          </a:p>
        </p:txBody>
      </p:sp>
      <p:sp>
        <p:nvSpPr>
          <p:cNvPr id="21" name="Layer text"/>
          <p:cNvSpPr/>
          <p:nvPr/>
        </p:nvSpPr>
        <p:spPr>
          <a:xfrm>
            <a:off x="7863840" y="4151376"/>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sqlite3, hand-written SQL</a:t>
            </a:r>
            <a:endParaRPr lang="en-US" sz="1800" dirty="0"/>
          </a:p>
        </p:txBody>
      </p:sp>
      <p:sp>
        <p:nvSpPr>
          <p:cNvPr id="22" name="Layer label"/>
          <p:cNvSpPr/>
          <p:nvPr/>
        </p:nvSpPr>
        <p:spPr>
          <a:xfrm>
            <a:off x="6217920" y="4864608"/>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Database</a:t>
            </a:r>
            <a:endParaRPr lang="en-US" sz="1800" dirty="0"/>
          </a:p>
        </p:txBody>
      </p:sp>
      <p:sp>
        <p:nvSpPr>
          <p:cNvPr id="23" name="Layer text"/>
          <p:cNvSpPr/>
          <p:nvPr/>
        </p:nvSpPr>
        <p:spPr>
          <a:xfrm>
            <a:off x="7863840" y="4864608"/>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SQLite, one database</a:t>
            </a:r>
            <a:endParaRPr lang="en-US" sz="1800" dirty="0"/>
          </a:p>
        </p:txBody>
      </p:sp>
      <p:sp>
        <p:nvSpPr>
          <p:cNvPr id="24" name="Card"/>
          <p:cNvSpPr/>
          <p:nvPr/>
        </p:nvSpPr>
        <p:spPr>
          <a:xfrm>
            <a:off x="6217920" y="5596128"/>
            <a:ext cx="5516575" cy="713232"/>
          </a:xfrm>
          <a:prstGeom prst="rect">
            <a:avLst/>
          </a:prstGeom>
          <a:solidFill>
            <a:srgbClr val="F3F5F7"/>
          </a:solidFill>
          <a:ln/>
        </p:spPr>
      </p:sp>
      <p:sp>
        <p:nvSpPr>
          <p:cNvPr id="25" name="Text 23"/>
          <p:cNvSpPr txBox="1"/>
          <p:nvPr/>
        </p:nvSpPr>
        <p:spPr>
          <a:xfrm>
            <a:off x="6345936" y="5596128"/>
            <a:ext cx="5260543" cy="713232"/>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Python 3.12 or later (I1 tested on 3.13)</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pytest · Flask-Login</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Six iterations land Part 2 on 15/11, with a freeze and a buffer day</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Real dates 17/10 to 30/11; Part 2 does not rely on I6.</a:t>
            </a:r>
            <a:endParaRPr lang="en-US" sz="1800" dirty="0"/>
          </a:p>
        </p:txBody>
      </p:sp>
      <p:sp>
        <p:nvSpPr>
          <p:cNvPr id="4" name="Axis band"/>
          <p:cNvSpPr/>
          <p:nvPr/>
        </p:nvSpPr>
        <p:spPr>
          <a:xfrm>
            <a:off x="457200" y="1572768"/>
            <a:ext cx="11277295" cy="365760"/>
          </a:xfrm>
          <a:prstGeom prst="rect">
            <a:avLst/>
          </a:prstGeom>
          <a:solidFill>
            <a:srgbClr val="F3F5F7"/>
          </a:solidFill>
          <a:ln/>
        </p:spPr>
      </p:sp>
      <p:sp>
        <p:nvSpPr>
          <p:cNvPr id="5" name="Text 3"/>
          <p:cNvSpPr txBox="1"/>
          <p:nvPr/>
        </p:nvSpPr>
        <p:spPr>
          <a:xfrm>
            <a:off x="530352" y="1572768"/>
            <a:ext cx="3931920" cy="365760"/>
          </a:xfrm>
          <a:prstGeom prst="rect">
            <a:avLst/>
          </a:prstGeom>
          <a:noFill/>
          <a:ln/>
        </p:spPr>
        <p:txBody>
          <a:bodyPr wrap="squar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Iteration or milestone</a:t>
            </a:r>
            <a:endParaRPr lang="en-US" sz="1600" dirty="0"/>
          </a:p>
        </p:txBody>
      </p:sp>
      <p:sp>
        <p:nvSpPr>
          <p:cNvPr id="6" name="Row band"/>
          <p:cNvSpPr/>
          <p:nvPr/>
        </p:nvSpPr>
        <p:spPr>
          <a:xfrm>
            <a:off x="457200" y="2011680"/>
            <a:ext cx="11277295" cy="265176"/>
          </a:xfrm>
          <a:prstGeom prst="rect">
            <a:avLst/>
          </a:prstGeom>
          <a:solidFill>
            <a:srgbClr val="F8FAFC"/>
          </a:solidFill>
          <a:ln/>
        </p:spPr>
      </p:sp>
      <p:sp>
        <p:nvSpPr>
          <p:cNvPr id="7" name="Row band"/>
          <p:cNvSpPr/>
          <p:nvPr/>
        </p:nvSpPr>
        <p:spPr>
          <a:xfrm>
            <a:off x="457200" y="2542032"/>
            <a:ext cx="11277295" cy="265176"/>
          </a:xfrm>
          <a:prstGeom prst="rect">
            <a:avLst/>
          </a:prstGeom>
          <a:solidFill>
            <a:srgbClr val="F8FAFC"/>
          </a:solidFill>
          <a:ln/>
        </p:spPr>
      </p:sp>
      <p:sp>
        <p:nvSpPr>
          <p:cNvPr id="8" name="Row band"/>
          <p:cNvSpPr/>
          <p:nvPr/>
        </p:nvSpPr>
        <p:spPr>
          <a:xfrm>
            <a:off x="457200" y="3072384"/>
            <a:ext cx="11277295" cy="265176"/>
          </a:xfrm>
          <a:prstGeom prst="rect">
            <a:avLst/>
          </a:prstGeom>
          <a:solidFill>
            <a:srgbClr val="F8FAFC"/>
          </a:solidFill>
          <a:ln/>
        </p:spPr>
      </p:sp>
      <p:sp>
        <p:nvSpPr>
          <p:cNvPr id="9" name="Row band"/>
          <p:cNvSpPr/>
          <p:nvPr/>
        </p:nvSpPr>
        <p:spPr>
          <a:xfrm>
            <a:off x="457200" y="3602736"/>
            <a:ext cx="11277295" cy="265176"/>
          </a:xfrm>
          <a:prstGeom prst="rect">
            <a:avLst/>
          </a:prstGeom>
          <a:solidFill>
            <a:srgbClr val="F8FAFC"/>
          </a:solidFill>
          <a:ln/>
        </p:spPr>
      </p:sp>
      <p:sp>
        <p:nvSpPr>
          <p:cNvPr id="10" name="Row band"/>
          <p:cNvSpPr/>
          <p:nvPr/>
        </p:nvSpPr>
        <p:spPr>
          <a:xfrm>
            <a:off x="457200" y="4133088"/>
            <a:ext cx="11277295" cy="265176"/>
          </a:xfrm>
          <a:prstGeom prst="rect">
            <a:avLst/>
          </a:prstGeom>
          <a:solidFill>
            <a:srgbClr val="F8FAFC"/>
          </a:solidFill>
          <a:ln/>
        </p:spPr>
      </p:sp>
      <p:sp>
        <p:nvSpPr>
          <p:cNvPr id="11" name="Row band"/>
          <p:cNvSpPr/>
          <p:nvPr/>
        </p:nvSpPr>
        <p:spPr>
          <a:xfrm>
            <a:off x="457200" y="4663440"/>
            <a:ext cx="11277295" cy="265176"/>
          </a:xfrm>
          <a:prstGeom prst="rect">
            <a:avLst/>
          </a:prstGeom>
          <a:solidFill>
            <a:srgbClr val="F8FAFC"/>
          </a:solidFill>
          <a:ln/>
        </p:spPr>
      </p:sp>
      <p:sp>
        <p:nvSpPr>
          <p:cNvPr id="12" name="Row band"/>
          <p:cNvSpPr/>
          <p:nvPr/>
        </p:nvSpPr>
        <p:spPr>
          <a:xfrm>
            <a:off x="457200" y="5193792"/>
            <a:ext cx="11277295" cy="265176"/>
          </a:xfrm>
          <a:prstGeom prst="rect">
            <a:avLst/>
          </a:prstGeom>
          <a:solidFill>
            <a:srgbClr val="F8FAFC"/>
          </a:solidFill>
          <a:ln/>
        </p:spPr>
      </p:sp>
      <p:sp>
        <p:nvSpPr>
          <p:cNvPr id="13" name="Row band"/>
          <p:cNvSpPr/>
          <p:nvPr/>
        </p:nvSpPr>
        <p:spPr>
          <a:xfrm>
            <a:off x="457200" y="5724144"/>
            <a:ext cx="11277295" cy="265176"/>
          </a:xfrm>
          <a:prstGeom prst="rect">
            <a:avLst/>
          </a:prstGeom>
          <a:solidFill>
            <a:srgbClr val="F8FAFC"/>
          </a:solidFill>
          <a:ln/>
        </p:spPr>
      </p:sp>
      <p:sp>
        <p:nvSpPr>
          <p:cNvPr id="14" name="Gridline"/>
          <p:cNvSpPr/>
          <p:nvPr/>
        </p:nvSpPr>
        <p:spPr>
          <a:xfrm>
            <a:off x="4480560" y="2011680"/>
            <a:ext cx="0" cy="3977640"/>
          </a:xfrm>
          <a:prstGeom prst="line">
            <a:avLst/>
          </a:prstGeom>
          <a:noFill/>
          <a:ln w="9525">
            <a:solidFill>
              <a:srgbClr val="C9D3DC"/>
            </a:solidFill>
            <a:prstDash val="dash"/>
          </a:ln>
        </p:spPr>
      </p:sp>
      <p:sp>
        <p:nvSpPr>
          <p:cNvPr id="15" name="Text 13"/>
          <p:cNvSpPr txBox="1"/>
          <p:nvPr/>
        </p:nvSpPr>
        <p:spPr>
          <a:xfrm>
            <a:off x="4114800"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17/10</a:t>
            </a:r>
            <a:endParaRPr lang="en-US" sz="1600" dirty="0"/>
          </a:p>
        </p:txBody>
      </p:sp>
      <p:sp>
        <p:nvSpPr>
          <p:cNvPr id="16" name="Gridline"/>
          <p:cNvSpPr/>
          <p:nvPr/>
        </p:nvSpPr>
        <p:spPr>
          <a:xfrm>
            <a:off x="5604256" y="2011680"/>
            <a:ext cx="0" cy="3977640"/>
          </a:xfrm>
          <a:prstGeom prst="line">
            <a:avLst/>
          </a:prstGeom>
          <a:noFill/>
          <a:ln w="9525">
            <a:solidFill>
              <a:srgbClr val="C9D3DC"/>
            </a:solidFill>
            <a:prstDash val="dash"/>
          </a:ln>
        </p:spPr>
      </p:sp>
      <p:sp>
        <p:nvSpPr>
          <p:cNvPr id="17" name="Text 15"/>
          <p:cNvSpPr txBox="1"/>
          <p:nvPr/>
        </p:nvSpPr>
        <p:spPr>
          <a:xfrm>
            <a:off x="5238496"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24/10</a:t>
            </a:r>
            <a:endParaRPr lang="en-US" sz="1600" dirty="0"/>
          </a:p>
        </p:txBody>
      </p:sp>
      <p:sp>
        <p:nvSpPr>
          <p:cNvPr id="18" name="Gridline"/>
          <p:cNvSpPr/>
          <p:nvPr/>
        </p:nvSpPr>
        <p:spPr>
          <a:xfrm>
            <a:off x="6727952" y="2011680"/>
            <a:ext cx="0" cy="3977640"/>
          </a:xfrm>
          <a:prstGeom prst="line">
            <a:avLst/>
          </a:prstGeom>
          <a:noFill/>
          <a:ln w="9525">
            <a:solidFill>
              <a:srgbClr val="C9D3DC"/>
            </a:solidFill>
            <a:prstDash val="dash"/>
          </a:ln>
        </p:spPr>
      </p:sp>
      <p:sp>
        <p:nvSpPr>
          <p:cNvPr id="19" name="Text 17"/>
          <p:cNvSpPr txBox="1"/>
          <p:nvPr/>
        </p:nvSpPr>
        <p:spPr>
          <a:xfrm>
            <a:off x="6362192"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31/10</a:t>
            </a:r>
            <a:endParaRPr lang="en-US" sz="1600" dirty="0"/>
          </a:p>
        </p:txBody>
      </p:sp>
      <p:sp>
        <p:nvSpPr>
          <p:cNvPr id="20" name="Gridline"/>
          <p:cNvSpPr/>
          <p:nvPr/>
        </p:nvSpPr>
        <p:spPr>
          <a:xfrm>
            <a:off x="7851648" y="2011680"/>
            <a:ext cx="0" cy="3977640"/>
          </a:xfrm>
          <a:prstGeom prst="line">
            <a:avLst/>
          </a:prstGeom>
          <a:noFill/>
          <a:ln w="9525">
            <a:solidFill>
              <a:srgbClr val="C9D3DC"/>
            </a:solidFill>
            <a:prstDash val="dash"/>
          </a:ln>
        </p:spPr>
      </p:sp>
      <p:sp>
        <p:nvSpPr>
          <p:cNvPr id="21" name="Text 19"/>
          <p:cNvSpPr txBox="1"/>
          <p:nvPr/>
        </p:nvSpPr>
        <p:spPr>
          <a:xfrm>
            <a:off x="7485888"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07/11</a:t>
            </a:r>
            <a:endParaRPr lang="en-US" sz="1600" dirty="0"/>
          </a:p>
        </p:txBody>
      </p:sp>
      <p:sp>
        <p:nvSpPr>
          <p:cNvPr id="22" name="Gridline"/>
          <p:cNvSpPr/>
          <p:nvPr/>
        </p:nvSpPr>
        <p:spPr>
          <a:xfrm>
            <a:off x="8975344" y="2011680"/>
            <a:ext cx="0" cy="3977640"/>
          </a:xfrm>
          <a:prstGeom prst="line">
            <a:avLst/>
          </a:prstGeom>
          <a:noFill/>
          <a:ln w="9525">
            <a:solidFill>
              <a:srgbClr val="C9D3DC"/>
            </a:solidFill>
            <a:prstDash val="dash"/>
          </a:ln>
        </p:spPr>
      </p:sp>
      <p:sp>
        <p:nvSpPr>
          <p:cNvPr id="23" name="Text 21"/>
          <p:cNvSpPr txBox="1"/>
          <p:nvPr/>
        </p:nvSpPr>
        <p:spPr>
          <a:xfrm>
            <a:off x="8609584"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14/11</a:t>
            </a:r>
            <a:endParaRPr lang="en-US" sz="1600" dirty="0"/>
          </a:p>
        </p:txBody>
      </p:sp>
      <p:sp>
        <p:nvSpPr>
          <p:cNvPr id="24" name="Gridline"/>
          <p:cNvSpPr/>
          <p:nvPr/>
        </p:nvSpPr>
        <p:spPr>
          <a:xfrm>
            <a:off x="10099040" y="2011680"/>
            <a:ext cx="0" cy="3977640"/>
          </a:xfrm>
          <a:prstGeom prst="line">
            <a:avLst/>
          </a:prstGeom>
          <a:noFill/>
          <a:ln w="9525">
            <a:solidFill>
              <a:srgbClr val="C9D3DC"/>
            </a:solidFill>
            <a:prstDash val="dash"/>
          </a:ln>
        </p:spPr>
      </p:sp>
      <p:sp>
        <p:nvSpPr>
          <p:cNvPr id="25" name="Text 23"/>
          <p:cNvSpPr txBox="1"/>
          <p:nvPr/>
        </p:nvSpPr>
        <p:spPr>
          <a:xfrm>
            <a:off x="9733280"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21/11</a:t>
            </a:r>
            <a:endParaRPr lang="en-US" sz="1600" dirty="0"/>
          </a:p>
        </p:txBody>
      </p:sp>
      <p:sp>
        <p:nvSpPr>
          <p:cNvPr id="26" name="Gridline"/>
          <p:cNvSpPr/>
          <p:nvPr/>
        </p:nvSpPr>
        <p:spPr>
          <a:xfrm>
            <a:off x="11222736" y="2011680"/>
            <a:ext cx="0" cy="3977640"/>
          </a:xfrm>
          <a:prstGeom prst="line">
            <a:avLst/>
          </a:prstGeom>
          <a:noFill/>
          <a:ln w="9525">
            <a:solidFill>
              <a:srgbClr val="C9D3DC"/>
            </a:solidFill>
            <a:prstDash val="dash"/>
          </a:ln>
        </p:spPr>
      </p:sp>
      <p:sp>
        <p:nvSpPr>
          <p:cNvPr id="27" name="Text 25"/>
          <p:cNvSpPr txBox="1"/>
          <p:nvPr/>
        </p:nvSpPr>
        <p:spPr>
          <a:xfrm>
            <a:off x="10856976"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28/11</a:t>
            </a:r>
            <a:endParaRPr lang="en-US" sz="1600" dirty="0"/>
          </a:p>
        </p:txBody>
      </p:sp>
      <p:sp>
        <p:nvSpPr>
          <p:cNvPr id="28" name="Text 26"/>
          <p:cNvSpPr txBox="1"/>
          <p:nvPr/>
        </p:nvSpPr>
        <p:spPr>
          <a:xfrm>
            <a:off x="530352" y="2011680"/>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I1 Persisted COD order</a:t>
            </a:r>
            <a:endParaRPr lang="en-US" sz="1600" dirty="0"/>
          </a:p>
        </p:txBody>
      </p:sp>
      <p:sp>
        <p:nvSpPr>
          <p:cNvPr id="29" name="Bar"/>
          <p:cNvSpPr/>
          <p:nvPr/>
        </p:nvSpPr>
        <p:spPr>
          <a:xfrm>
            <a:off x="4480560" y="2048256"/>
            <a:ext cx="963168" cy="192024"/>
          </a:xfrm>
          <a:prstGeom prst="rect">
            <a:avLst/>
          </a:prstGeom>
          <a:solidFill>
            <a:srgbClr val="004387"/>
          </a:solidFill>
          <a:ln/>
        </p:spPr>
      </p:sp>
      <p:sp>
        <p:nvSpPr>
          <p:cNvPr id="30" name="Text 28"/>
          <p:cNvSpPr txBox="1"/>
          <p:nvPr/>
        </p:nvSpPr>
        <p:spPr>
          <a:xfrm>
            <a:off x="5516880" y="2011680"/>
            <a:ext cx="16916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17/10 to 22/10</a:t>
            </a:r>
            <a:endParaRPr lang="en-US" sz="1600" dirty="0"/>
          </a:p>
        </p:txBody>
      </p:sp>
      <p:sp>
        <p:nvSpPr>
          <p:cNvPr id="31" name="Text 29"/>
          <p:cNvSpPr txBox="1"/>
          <p:nvPr/>
        </p:nvSpPr>
        <p:spPr>
          <a:xfrm>
            <a:off x="530352" y="2276856"/>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Part 1 packaging</a:t>
            </a:r>
            <a:endParaRPr lang="en-US" sz="1600" dirty="0"/>
          </a:p>
        </p:txBody>
      </p:sp>
      <p:sp>
        <p:nvSpPr>
          <p:cNvPr id="32" name="Bar"/>
          <p:cNvSpPr/>
          <p:nvPr/>
        </p:nvSpPr>
        <p:spPr>
          <a:xfrm>
            <a:off x="5443728" y="2313432"/>
            <a:ext cx="481584" cy="192024"/>
          </a:xfrm>
          <a:prstGeom prst="rect">
            <a:avLst/>
          </a:prstGeom>
          <a:solidFill>
            <a:srgbClr val="5B87B5"/>
          </a:solidFill>
          <a:ln/>
        </p:spPr>
      </p:sp>
      <p:sp>
        <p:nvSpPr>
          <p:cNvPr id="33" name="Text 31"/>
          <p:cNvSpPr txBox="1"/>
          <p:nvPr/>
        </p:nvSpPr>
        <p:spPr>
          <a:xfrm>
            <a:off x="5998464" y="2276856"/>
            <a:ext cx="16916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23/10 to 25/10</a:t>
            </a:r>
            <a:endParaRPr lang="en-US" sz="1600" dirty="0"/>
          </a:p>
        </p:txBody>
      </p:sp>
      <p:sp>
        <p:nvSpPr>
          <p:cNvPr id="34" name="Text 32"/>
          <p:cNvSpPr txBox="1"/>
          <p:nvPr/>
        </p:nvSpPr>
        <p:spPr>
          <a:xfrm>
            <a:off x="530352" y="2542032"/>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1 live presentation</a:t>
            </a:r>
            <a:endParaRPr lang="en-US" sz="1600" dirty="0"/>
          </a:p>
        </p:txBody>
      </p:sp>
      <p:sp>
        <p:nvSpPr>
          <p:cNvPr id="35" name="Milestone"/>
          <p:cNvSpPr/>
          <p:nvPr/>
        </p:nvSpPr>
        <p:spPr>
          <a:xfrm>
            <a:off x="5914136" y="2583180"/>
            <a:ext cx="182880" cy="182880"/>
          </a:xfrm>
          <a:prstGeom prst="diamond">
            <a:avLst/>
          </a:prstGeom>
          <a:solidFill>
            <a:srgbClr val="004387"/>
          </a:solidFill>
          <a:ln/>
        </p:spPr>
      </p:sp>
      <p:sp>
        <p:nvSpPr>
          <p:cNvPr id="36" name="Text 34"/>
          <p:cNvSpPr txBox="1"/>
          <p:nvPr/>
        </p:nvSpPr>
        <p:spPr>
          <a:xfrm>
            <a:off x="6170168" y="2542032"/>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26/10</a:t>
            </a:r>
            <a:endParaRPr lang="en-US" sz="1600" dirty="0"/>
          </a:p>
        </p:txBody>
      </p:sp>
      <p:sp>
        <p:nvSpPr>
          <p:cNvPr id="37" name="Text 35"/>
          <p:cNvSpPr txBox="1"/>
          <p:nvPr/>
        </p:nvSpPr>
        <p:spPr>
          <a:xfrm>
            <a:off x="530352" y="2807208"/>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I2 Hub CRUD, Kitchen board</a:t>
            </a:r>
            <a:endParaRPr lang="en-US" sz="1600" dirty="0"/>
          </a:p>
        </p:txBody>
      </p:sp>
      <p:sp>
        <p:nvSpPr>
          <p:cNvPr id="38" name="Bar"/>
          <p:cNvSpPr/>
          <p:nvPr/>
        </p:nvSpPr>
        <p:spPr>
          <a:xfrm>
            <a:off x="6085840" y="2843784"/>
            <a:ext cx="802640" cy="192024"/>
          </a:xfrm>
          <a:prstGeom prst="rect">
            <a:avLst/>
          </a:prstGeom>
          <a:solidFill>
            <a:srgbClr val="004387"/>
          </a:solidFill>
          <a:ln/>
        </p:spPr>
      </p:sp>
      <p:sp>
        <p:nvSpPr>
          <p:cNvPr id="39" name="Text 37"/>
          <p:cNvSpPr txBox="1"/>
          <p:nvPr/>
        </p:nvSpPr>
        <p:spPr>
          <a:xfrm>
            <a:off x="6961632" y="2807208"/>
            <a:ext cx="16916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27/10 to 31/10</a:t>
            </a:r>
            <a:endParaRPr lang="en-US" sz="1600" dirty="0"/>
          </a:p>
        </p:txBody>
      </p:sp>
      <p:sp>
        <p:nvSpPr>
          <p:cNvPr id="40" name="Text 38"/>
          <p:cNvSpPr txBox="1"/>
          <p:nvPr/>
        </p:nvSpPr>
        <p:spPr>
          <a:xfrm>
            <a:off x="530352" y="3072384"/>
            <a:ext cx="3931920" cy="265176"/>
          </a:xfrm>
          <a:prstGeom prst="rect">
            <a:avLst/>
          </a:prstGeom>
          <a:noFill/>
          <a:ln/>
        </p:spPr>
        <p:txBody>
          <a:bodyPr wrap="non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L1 to L4 answers needed</a:t>
            </a:r>
            <a:endParaRPr lang="en-US" sz="1600" dirty="0"/>
          </a:p>
        </p:txBody>
      </p:sp>
      <p:sp>
        <p:nvSpPr>
          <p:cNvPr id="41" name="Milestone"/>
          <p:cNvSpPr/>
          <p:nvPr/>
        </p:nvSpPr>
        <p:spPr>
          <a:xfrm>
            <a:off x="6716776" y="3113532"/>
            <a:ext cx="182880" cy="182880"/>
          </a:xfrm>
          <a:prstGeom prst="diamond">
            <a:avLst/>
          </a:prstGeom>
          <a:solidFill>
            <a:srgbClr val="C95B55"/>
          </a:solidFill>
          <a:ln/>
        </p:spPr>
      </p:sp>
      <p:sp>
        <p:nvSpPr>
          <p:cNvPr id="42" name="Text 40"/>
          <p:cNvSpPr txBox="1"/>
          <p:nvPr/>
        </p:nvSpPr>
        <p:spPr>
          <a:xfrm>
            <a:off x="6972808" y="3072384"/>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31/10</a:t>
            </a:r>
            <a:endParaRPr lang="en-US" sz="1600" dirty="0"/>
          </a:p>
        </p:txBody>
      </p:sp>
      <p:sp>
        <p:nvSpPr>
          <p:cNvPr id="43" name="Text 41"/>
          <p:cNvSpPr txBox="1"/>
          <p:nvPr/>
        </p:nvSpPr>
        <p:spPr>
          <a:xfrm>
            <a:off x="530352" y="3337560"/>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I3 Full ordering, delivery</a:t>
            </a:r>
            <a:endParaRPr lang="en-US" sz="1600" dirty="0"/>
          </a:p>
        </p:txBody>
      </p:sp>
      <p:sp>
        <p:nvSpPr>
          <p:cNvPr id="44" name="Bar"/>
          <p:cNvSpPr/>
          <p:nvPr/>
        </p:nvSpPr>
        <p:spPr>
          <a:xfrm>
            <a:off x="6888480" y="3374136"/>
            <a:ext cx="802640" cy="192024"/>
          </a:xfrm>
          <a:prstGeom prst="rect">
            <a:avLst/>
          </a:prstGeom>
          <a:solidFill>
            <a:srgbClr val="004387"/>
          </a:solidFill>
          <a:ln/>
        </p:spPr>
      </p:sp>
      <p:sp>
        <p:nvSpPr>
          <p:cNvPr id="45" name="Text 43"/>
          <p:cNvSpPr txBox="1"/>
          <p:nvPr/>
        </p:nvSpPr>
        <p:spPr>
          <a:xfrm>
            <a:off x="7764272" y="3337560"/>
            <a:ext cx="16916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01/11 to 05/11</a:t>
            </a:r>
            <a:endParaRPr lang="en-US" sz="1600" dirty="0"/>
          </a:p>
        </p:txBody>
      </p:sp>
      <p:sp>
        <p:nvSpPr>
          <p:cNvPr id="46" name="Text 44"/>
          <p:cNvSpPr txBox="1"/>
          <p:nvPr/>
        </p:nvSpPr>
        <p:spPr>
          <a:xfrm>
            <a:off x="530352" y="3602736"/>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I4 Reports, demo, Figma</a:t>
            </a:r>
            <a:endParaRPr lang="en-US" sz="1600" dirty="0"/>
          </a:p>
        </p:txBody>
      </p:sp>
      <p:sp>
        <p:nvSpPr>
          <p:cNvPr id="47" name="Bar"/>
          <p:cNvSpPr/>
          <p:nvPr/>
        </p:nvSpPr>
        <p:spPr>
          <a:xfrm>
            <a:off x="7691120" y="3639312"/>
            <a:ext cx="802640" cy="192024"/>
          </a:xfrm>
          <a:prstGeom prst="rect">
            <a:avLst/>
          </a:prstGeom>
          <a:solidFill>
            <a:srgbClr val="004387"/>
          </a:solidFill>
          <a:ln/>
        </p:spPr>
      </p:sp>
      <p:sp>
        <p:nvSpPr>
          <p:cNvPr id="48" name="Text 46"/>
          <p:cNvSpPr txBox="1"/>
          <p:nvPr/>
        </p:nvSpPr>
        <p:spPr>
          <a:xfrm>
            <a:off x="8566912" y="3602736"/>
            <a:ext cx="16916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06/11 to 10/11</a:t>
            </a:r>
            <a:endParaRPr lang="en-US" sz="1600" dirty="0"/>
          </a:p>
        </p:txBody>
      </p:sp>
      <p:sp>
        <p:nvSpPr>
          <p:cNvPr id="49" name="Text 47"/>
          <p:cNvSpPr txBox="1"/>
          <p:nvPr/>
        </p:nvSpPr>
        <p:spPr>
          <a:xfrm>
            <a:off x="530352" y="3867912"/>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I5 Models, tests, Part 2 report</a:t>
            </a:r>
            <a:endParaRPr lang="en-US" sz="1600" dirty="0"/>
          </a:p>
        </p:txBody>
      </p:sp>
      <p:sp>
        <p:nvSpPr>
          <p:cNvPr id="50" name="Bar"/>
          <p:cNvSpPr/>
          <p:nvPr/>
        </p:nvSpPr>
        <p:spPr>
          <a:xfrm>
            <a:off x="8493760" y="3904488"/>
            <a:ext cx="802640" cy="192024"/>
          </a:xfrm>
          <a:prstGeom prst="rect">
            <a:avLst/>
          </a:prstGeom>
          <a:solidFill>
            <a:srgbClr val="004387"/>
          </a:solidFill>
          <a:ln/>
        </p:spPr>
      </p:sp>
      <p:sp>
        <p:nvSpPr>
          <p:cNvPr id="51" name="Text 49"/>
          <p:cNvSpPr txBox="1"/>
          <p:nvPr/>
        </p:nvSpPr>
        <p:spPr>
          <a:xfrm>
            <a:off x="9369552" y="3867912"/>
            <a:ext cx="16916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11/11 to 15/11</a:t>
            </a:r>
            <a:endParaRPr lang="en-US" sz="1600" dirty="0"/>
          </a:p>
        </p:txBody>
      </p:sp>
      <p:sp>
        <p:nvSpPr>
          <p:cNvPr id="52" name="Text 50"/>
          <p:cNvSpPr txBox="1"/>
          <p:nvPr/>
        </p:nvSpPr>
        <p:spPr>
          <a:xfrm>
            <a:off x="530352" y="4133088"/>
            <a:ext cx="3931920" cy="265176"/>
          </a:xfrm>
          <a:prstGeom prst="rect">
            <a:avLst/>
          </a:prstGeom>
          <a:noFill/>
          <a:ln/>
        </p:spPr>
        <p:txBody>
          <a:bodyPr wrap="non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Feature freeze</a:t>
            </a:r>
            <a:endParaRPr lang="en-US" sz="1600" dirty="0"/>
          </a:p>
        </p:txBody>
      </p:sp>
      <p:sp>
        <p:nvSpPr>
          <p:cNvPr id="53" name="Milestone"/>
          <p:cNvSpPr/>
          <p:nvPr/>
        </p:nvSpPr>
        <p:spPr>
          <a:xfrm>
            <a:off x="8643112" y="4174236"/>
            <a:ext cx="182880" cy="182880"/>
          </a:xfrm>
          <a:prstGeom prst="diamond">
            <a:avLst/>
          </a:prstGeom>
          <a:solidFill>
            <a:srgbClr val="C95B55"/>
          </a:solidFill>
          <a:ln/>
        </p:spPr>
      </p:sp>
      <p:sp>
        <p:nvSpPr>
          <p:cNvPr id="54" name="Text 52"/>
          <p:cNvSpPr txBox="1"/>
          <p:nvPr/>
        </p:nvSpPr>
        <p:spPr>
          <a:xfrm>
            <a:off x="8899144" y="4133088"/>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12/11</a:t>
            </a:r>
            <a:endParaRPr lang="en-US" sz="1600" dirty="0"/>
          </a:p>
        </p:txBody>
      </p:sp>
      <p:sp>
        <p:nvSpPr>
          <p:cNvPr id="55" name="Text 53"/>
          <p:cNvSpPr txBox="1"/>
          <p:nvPr/>
        </p:nvSpPr>
        <p:spPr>
          <a:xfrm>
            <a:off x="530352" y="4398264"/>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I5 buffer day</a:t>
            </a:r>
            <a:endParaRPr lang="en-US" sz="1600" dirty="0"/>
          </a:p>
        </p:txBody>
      </p:sp>
      <p:sp>
        <p:nvSpPr>
          <p:cNvPr id="56" name="Bar"/>
          <p:cNvSpPr/>
          <p:nvPr/>
        </p:nvSpPr>
        <p:spPr>
          <a:xfrm>
            <a:off x="8814816" y="4434840"/>
            <a:ext cx="160528" cy="192024"/>
          </a:xfrm>
          <a:prstGeom prst="rect">
            <a:avLst/>
          </a:prstGeom>
          <a:solidFill>
            <a:srgbClr val="C95B55"/>
          </a:solidFill>
          <a:ln/>
        </p:spPr>
      </p:sp>
      <p:sp>
        <p:nvSpPr>
          <p:cNvPr id="57" name="Text 55"/>
          <p:cNvSpPr txBox="1"/>
          <p:nvPr/>
        </p:nvSpPr>
        <p:spPr>
          <a:xfrm>
            <a:off x="9048496" y="4398264"/>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13/11</a:t>
            </a:r>
            <a:endParaRPr lang="en-US" sz="1600" dirty="0"/>
          </a:p>
        </p:txBody>
      </p:sp>
      <p:sp>
        <p:nvSpPr>
          <p:cNvPr id="58" name="Text 56"/>
          <p:cNvSpPr txBox="1"/>
          <p:nvPr/>
        </p:nvSpPr>
        <p:spPr>
          <a:xfrm>
            <a:off x="530352" y="4663440"/>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2 submission</a:t>
            </a:r>
            <a:endParaRPr lang="en-US" sz="1600" dirty="0"/>
          </a:p>
        </p:txBody>
      </p:sp>
      <p:sp>
        <p:nvSpPr>
          <p:cNvPr id="59" name="Milestone"/>
          <p:cNvSpPr/>
          <p:nvPr/>
        </p:nvSpPr>
        <p:spPr>
          <a:xfrm>
            <a:off x="9124696" y="4704588"/>
            <a:ext cx="182880" cy="182880"/>
          </a:xfrm>
          <a:prstGeom prst="diamond">
            <a:avLst/>
          </a:prstGeom>
          <a:solidFill>
            <a:srgbClr val="004387"/>
          </a:solidFill>
          <a:ln/>
        </p:spPr>
      </p:sp>
      <p:sp>
        <p:nvSpPr>
          <p:cNvPr id="60" name="Text 58"/>
          <p:cNvSpPr txBox="1"/>
          <p:nvPr/>
        </p:nvSpPr>
        <p:spPr>
          <a:xfrm>
            <a:off x="9380728" y="4663440"/>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15/11</a:t>
            </a:r>
            <a:endParaRPr lang="en-US" sz="1600" dirty="0"/>
          </a:p>
        </p:txBody>
      </p:sp>
      <p:sp>
        <p:nvSpPr>
          <p:cNvPr id="61" name="Text 59"/>
          <p:cNvSpPr txBox="1"/>
          <p:nvPr/>
        </p:nvSpPr>
        <p:spPr>
          <a:xfrm>
            <a:off x="530352" y="4928616"/>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2 presentation</a:t>
            </a:r>
            <a:endParaRPr lang="en-US" sz="1600" dirty="0"/>
          </a:p>
        </p:txBody>
      </p:sp>
      <p:sp>
        <p:nvSpPr>
          <p:cNvPr id="62" name="Milestone"/>
          <p:cNvSpPr/>
          <p:nvPr/>
        </p:nvSpPr>
        <p:spPr>
          <a:xfrm>
            <a:off x="9285224" y="4969764"/>
            <a:ext cx="182880" cy="182880"/>
          </a:xfrm>
          <a:prstGeom prst="diamond">
            <a:avLst/>
          </a:prstGeom>
          <a:solidFill>
            <a:srgbClr val="004387"/>
          </a:solidFill>
          <a:ln/>
        </p:spPr>
      </p:sp>
      <p:sp>
        <p:nvSpPr>
          <p:cNvPr id="63" name="Text 61"/>
          <p:cNvSpPr txBox="1"/>
          <p:nvPr/>
        </p:nvSpPr>
        <p:spPr>
          <a:xfrm>
            <a:off x="9541256" y="4928616"/>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16/11</a:t>
            </a:r>
            <a:endParaRPr lang="en-US" sz="1600" dirty="0"/>
          </a:p>
        </p:txBody>
      </p:sp>
      <p:sp>
        <p:nvSpPr>
          <p:cNvPr id="64" name="Text 62"/>
          <p:cNvSpPr txBox="1"/>
          <p:nvPr/>
        </p:nvSpPr>
        <p:spPr>
          <a:xfrm>
            <a:off x="530352" y="5193792"/>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I6 Feedback, v1.0-final, Part 3</a:t>
            </a:r>
            <a:endParaRPr lang="en-US" sz="1600" dirty="0"/>
          </a:p>
        </p:txBody>
      </p:sp>
      <p:sp>
        <p:nvSpPr>
          <p:cNvPr id="65" name="Bar"/>
          <p:cNvSpPr/>
          <p:nvPr/>
        </p:nvSpPr>
        <p:spPr>
          <a:xfrm>
            <a:off x="9456928" y="5230368"/>
            <a:ext cx="2086864" cy="192024"/>
          </a:xfrm>
          <a:prstGeom prst="rect">
            <a:avLst/>
          </a:prstGeom>
          <a:solidFill>
            <a:srgbClr val="004387"/>
          </a:solidFill>
          <a:ln/>
        </p:spPr>
      </p:sp>
      <p:sp>
        <p:nvSpPr>
          <p:cNvPr id="66" name="Text 64"/>
          <p:cNvSpPr txBox="1"/>
          <p:nvPr/>
        </p:nvSpPr>
        <p:spPr>
          <a:xfrm>
            <a:off x="7692136" y="5193792"/>
            <a:ext cx="1691640" cy="265176"/>
          </a:xfrm>
          <a:prstGeom prst="rect">
            <a:avLst/>
          </a:prstGeom>
          <a:noFill/>
          <a:ln/>
        </p:spPr>
        <p:txBody>
          <a:bodyPr wrap="none" lIns="0" tIns="0" rIns="0" bIns="0" rtlCol="0" anchor="ctr"/>
          <a:lstStyle/>
          <a:p>
            <a:pPr algn="r" indent="0" marL="0">
              <a:buNone/>
            </a:pPr>
            <a:r>
              <a:rPr lang="en-US" sz="1600" dirty="0">
                <a:solidFill>
                  <a:srgbClr val="1F2937"/>
                </a:solidFill>
                <a:latin typeface="Arial" pitchFamily="34" charset="0"/>
                <a:ea typeface="Arial" pitchFamily="34" charset="-122"/>
                <a:cs typeface="Arial" pitchFamily="34" charset="-120"/>
              </a:rPr>
              <a:t>17/11 to 29/11</a:t>
            </a:r>
            <a:endParaRPr lang="en-US" sz="1600" dirty="0"/>
          </a:p>
        </p:txBody>
      </p:sp>
      <p:sp>
        <p:nvSpPr>
          <p:cNvPr id="67" name="Text 65"/>
          <p:cNvSpPr txBox="1"/>
          <p:nvPr/>
        </p:nvSpPr>
        <p:spPr>
          <a:xfrm>
            <a:off x="530352" y="5458968"/>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3 submission</a:t>
            </a:r>
            <a:endParaRPr lang="en-US" sz="1600" dirty="0"/>
          </a:p>
        </p:txBody>
      </p:sp>
      <p:sp>
        <p:nvSpPr>
          <p:cNvPr id="68" name="Milestone"/>
          <p:cNvSpPr/>
          <p:nvPr/>
        </p:nvSpPr>
        <p:spPr>
          <a:xfrm>
            <a:off x="11372088" y="5500116"/>
            <a:ext cx="182880" cy="182880"/>
          </a:xfrm>
          <a:prstGeom prst="diamond">
            <a:avLst/>
          </a:prstGeom>
          <a:solidFill>
            <a:srgbClr val="004387"/>
          </a:solidFill>
          <a:ln/>
        </p:spPr>
      </p:sp>
      <p:sp>
        <p:nvSpPr>
          <p:cNvPr id="69" name="Text 67"/>
          <p:cNvSpPr txBox="1"/>
          <p:nvPr/>
        </p:nvSpPr>
        <p:spPr>
          <a:xfrm>
            <a:off x="10635996" y="5458968"/>
            <a:ext cx="662940" cy="265176"/>
          </a:xfrm>
          <a:prstGeom prst="rect">
            <a:avLst/>
          </a:prstGeom>
          <a:noFill/>
          <a:ln/>
        </p:spPr>
        <p:txBody>
          <a:bodyPr wrap="none" lIns="0" tIns="0" rIns="0" bIns="0" rtlCol="0" anchor="ctr"/>
          <a:lstStyle/>
          <a:p>
            <a:pPr algn="r" indent="0" marL="0">
              <a:buNone/>
            </a:pPr>
            <a:r>
              <a:rPr lang="en-US" sz="1600" dirty="0">
                <a:solidFill>
                  <a:srgbClr val="1F2937"/>
                </a:solidFill>
                <a:latin typeface="Arial" pitchFamily="34" charset="0"/>
                <a:ea typeface="Arial" pitchFamily="34" charset="-122"/>
                <a:cs typeface="Arial" pitchFamily="34" charset="-120"/>
              </a:rPr>
              <a:t>29/11</a:t>
            </a:r>
            <a:endParaRPr lang="en-US" sz="1600" dirty="0"/>
          </a:p>
        </p:txBody>
      </p:sp>
      <p:sp>
        <p:nvSpPr>
          <p:cNvPr id="70" name="Text 68"/>
          <p:cNvSpPr txBox="1"/>
          <p:nvPr/>
        </p:nvSpPr>
        <p:spPr>
          <a:xfrm>
            <a:off x="530352" y="5724144"/>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3 presentation</a:t>
            </a:r>
            <a:endParaRPr lang="en-US" sz="1600" dirty="0"/>
          </a:p>
        </p:txBody>
      </p:sp>
      <p:sp>
        <p:nvSpPr>
          <p:cNvPr id="71" name="Milestone"/>
          <p:cNvSpPr/>
          <p:nvPr/>
        </p:nvSpPr>
        <p:spPr>
          <a:xfrm>
            <a:off x="11532616" y="5765292"/>
            <a:ext cx="182880" cy="182880"/>
          </a:xfrm>
          <a:prstGeom prst="diamond">
            <a:avLst/>
          </a:prstGeom>
          <a:solidFill>
            <a:srgbClr val="004387"/>
          </a:solidFill>
          <a:ln/>
        </p:spPr>
      </p:sp>
      <p:sp>
        <p:nvSpPr>
          <p:cNvPr id="72" name="Text 70"/>
          <p:cNvSpPr txBox="1"/>
          <p:nvPr/>
        </p:nvSpPr>
        <p:spPr>
          <a:xfrm>
            <a:off x="10796524" y="5724144"/>
            <a:ext cx="662940" cy="265176"/>
          </a:xfrm>
          <a:prstGeom prst="rect">
            <a:avLst/>
          </a:prstGeom>
          <a:noFill/>
          <a:ln/>
        </p:spPr>
        <p:txBody>
          <a:bodyPr wrap="none" lIns="0" tIns="0" rIns="0" bIns="0" rtlCol="0" anchor="ctr"/>
          <a:lstStyle/>
          <a:p>
            <a:pPr algn="r" indent="0" marL="0">
              <a:buNone/>
            </a:pPr>
            <a:r>
              <a:rPr lang="en-US" sz="1600" dirty="0">
                <a:solidFill>
                  <a:srgbClr val="1F2937"/>
                </a:solidFill>
                <a:latin typeface="Arial" pitchFamily="34" charset="0"/>
                <a:ea typeface="Arial" pitchFamily="34" charset="-122"/>
                <a:cs typeface="Arial" pitchFamily="34" charset="-120"/>
              </a:rPr>
              <a:t>30/11</a:t>
            </a:r>
            <a:endParaRPr lang="en-US" sz="1600" dirty="0"/>
          </a:p>
        </p:txBody>
      </p:sp>
      <p:sp>
        <p:nvSpPr>
          <p:cNvPr id="73" name="Card"/>
          <p:cNvSpPr/>
          <p:nvPr/>
        </p:nvSpPr>
        <p:spPr>
          <a:xfrm>
            <a:off x="457200" y="6035040"/>
            <a:ext cx="11277295" cy="365760"/>
          </a:xfrm>
          <a:prstGeom prst="rect">
            <a:avLst/>
          </a:prstGeom>
          <a:solidFill>
            <a:srgbClr val="FBE9E7"/>
          </a:solidFill>
          <a:ln/>
        </p:spPr>
      </p:sp>
      <p:sp>
        <p:nvSpPr>
          <p:cNvPr id="74" name="Text 72"/>
          <p:cNvSpPr txBox="1"/>
          <p:nvPr/>
        </p:nvSpPr>
        <p:spPr>
          <a:xfrm>
            <a:off x="585216" y="6035040"/>
            <a:ext cx="11021263" cy="365760"/>
          </a:xfrm>
          <a:prstGeom prst="rect">
            <a:avLst/>
          </a:prstGeom>
          <a:noFill/>
          <a:ln/>
        </p:spPr>
        <p:txBody>
          <a:bodyPr wrap="square" lIns="0" tIns="0" rIns="0" bIns="0" rtlCol="0" anchor="ctr"/>
          <a:lstStyle/>
          <a:p>
            <a:pPr algn="l" indent="0" marL="0">
              <a:buNone/>
            </a:pPr>
            <a:r>
              <a:rPr lang="en-US" sz="1800" b="1" dirty="0">
                <a:solidFill>
                  <a:srgbClr val="C95B55"/>
                </a:solidFill>
                <a:latin typeface="Arial" pitchFamily="34" charset="0"/>
                <a:ea typeface="Arial" pitchFamily="34" charset="-122"/>
                <a:cs typeface="Arial" pitchFamily="34" charset="-120"/>
              </a:rPr>
              <a:t>Contingency  </a:t>
            </a:r>
            <a:pPr algn="l" indent="0" marL="0">
              <a:buNone/>
            </a:pPr>
            <a:r>
              <a:rPr lang="en-US" sz="1800" dirty="0">
                <a:solidFill>
                  <a:srgbClr val="1F2937"/>
                </a:solidFill>
                <a:latin typeface="Arial" pitchFamily="34" charset="0"/>
                <a:ea typeface="Arial" pitchFamily="34" charset="-122"/>
                <a:cs typeface="Arial" pitchFamily="34" charset="-120"/>
              </a:rPr>
              <a:t>answers 31/10 · freeze 12/11 · buffer 13/11 · I6 is not a rescue buffer</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Iteration 1 runs the six core processes in six days</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About 4 focused hours per student per day, 48 person-hours; setup is part of D1.</a:t>
            </a:r>
            <a:endParaRPr lang="en-US" sz="1800" dirty="0"/>
          </a:p>
        </p:txBody>
      </p:sp>
      <p:graphicFrame>
        <p:nvGraphicFramePr>
          <p:cNvPr id="13" name="I1 day plan table"/>
          <p:cNvGraphicFramePr>
            <a:graphicFrameLocks noGrp="1"/>
          </p:cNvGraphicFramePr>
          <p:nvPr>
            <p:extLst>
              <p:ext uri="{D42A27DB-BD31-4B8C-83A1-F6EECF244321}">
                <p14:modId xmlns:p14="http://schemas.microsoft.com/office/powerpoint/2010/main" val="1579011935"/>
              </p:ext>
            </p:extLst>
          </p:nvPr>
        </p:nvGraphicFramePr>
        <p:xfrm>
          <a:off x="457200" y="1600200"/>
          <a:ext cx="11277295" cy="914400"/>
        </p:xfrm>
        <a:graphic>
          <a:graphicData uri="http://schemas.openxmlformats.org/drawingml/2006/table">
            <a:tbl>
              <a:tblPr/>
              <a:tblGrid>
                <a:gridCol w="1417320"/>
                <a:gridCol w="2377440"/>
                <a:gridCol w="2560320"/>
                <a:gridCol w="2651760"/>
                <a:gridCol w="2270455"/>
              </a:tblGrid>
              <a:tr h="41148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Day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Core process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Dat (UC-01)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Quan (foundation)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Evidence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D1</a:t>
                      </a:r>
                      <a:endParaRPr lang="en-US" sz="1600" dirty="0">
                        <a:latin typeface="Arial" charset="0"/>
                        <a:ea typeface="Arial" charset="0"/>
                        <a:cs typeface="Arial" charset="0"/>
                      </a:endParaRPr>
                    </a:p>
                    <a:p>
                      <a:pPr algn="l" indent="0" marL="0">
                        <a:buNone/>
                      </a:pPr>
                      <a:r>
                        <a:rPr lang="en-US" sz="1600" b="1" dirty="0">
                          <a:solidFill>
                            <a:srgbClr val="004387"/>
                          </a:solidFill>
                          <a:latin typeface="Arial" pitchFamily="34" charset="0"/>
                          <a:ea typeface="Arial" pitchFamily="34" charset="-122"/>
                          <a:cs typeface="Arial" pitchFamily="34" charset="-120"/>
                        </a:rPr>
                        <a:t>Sat 17/10</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CP1–2 Identify, plan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Vision, backlog, UC-01 stories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Repo, skeleton, events, actors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Skeleton runs; backlog v1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D2</a:t>
                      </a:r>
                      <a:endParaRPr lang="en-US" sz="1600" dirty="0">
                        <a:latin typeface="Arial" charset="0"/>
                        <a:ea typeface="Arial" charset="0"/>
                        <a:cs typeface="Arial" charset="0"/>
                      </a:endParaRPr>
                    </a:p>
                    <a:p>
                      <a:pPr algn="l" indent="0" marL="0">
                        <a:buNone/>
                      </a:pPr>
                      <a:r>
                        <a:rPr lang="en-US" sz="1600" b="1" dirty="0">
                          <a:solidFill>
                            <a:srgbClr val="004387"/>
                          </a:solidFill>
                          <a:latin typeface="Arial" pitchFamily="34" charset="0"/>
                          <a:ea typeface="Arial" pitchFamily="34" charset="-122"/>
                          <a:cs typeface="Arial" pitchFamily="34" charset="-120"/>
                        </a:rPr>
                        <a:t>Sun 18/10</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CP3 Discover details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UC-01 description, process diagram</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Domain model, CRUD inventory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Names fixed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D3</a:t>
                      </a:r>
                      <a:endParaRPr lang="en-US" sz="1600" dirty="0">
                        <a:latin typeface="Arial" charset="0"/>
                        <a:ea typeface="Arial" charset="0"/>
                        <a:cs typeface="Arial" charset="0"/>
                      </a:endParaRPr>
                    </a:p>
                    <a:p>
                      <a:pPr algn="l" indent="0" marL="0">
                        <a:buNone/>
                      </a:pPr>
                      <a:r>
                        <a:rPr lang="en-US" sz="1600" b="1" dirty="0">
                          <a:solidFill>
                            <a:srgbClr val="004387"/>
                          </a:solidFill>
                          <a:latin typeface="Arial" pitchFamily="34" charset="0"/>
                          <a:ea typeface="Arial" pitchFamily="34" charset="-122"/>
                          <a:cs typeface="Arial" pitchFamily="34" charset="-120"/>
                        </a:rPr>
                        <a:t>Mon 19/10</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CP3–4 Design components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Activity, SSD, Order states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Schema, seed, UC-02 draft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SSD and schema agree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D4</a:t>
                      </a:r>
                      <a:endParaRPr lang="en-US" sz="1600" dirty="0">
                        <a:latin typeface="Arial" charset="0"/>
                        <a:ea typeface="Arial" charset="0"/>
                        <a:cs typeface="Arial" charset="0"/>
                      </a:endParaRPr>
                    </a:p>
                    <a:p>
                      <a:pPr algn="l" indent="0" marL="0">
                        <a:buNone/>
                      </a:pPr>
                      <a:r>
                        <a:rPr lang="en-US" sz="1600" b="1" dirty="0">
                          <a:solidFill>
                            <a:srgbClr val="004387"/>
                          </a:solidFill>
                          <a:latin typeface="Arial" pitchFamily="34" charset="0"/>
                          <a:ea typeface="Arial" pitchFamily="34" charset="-122"/>
                          <a:cs typeface="Arial" pitchFamily="34" charset="-120"/>
                        </a:rPr>
                        <a:t>Tue 20/10</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CP4–5 Build, test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Controller, Order code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DAOs, OrderDAO insert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COD order saved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D5</a:t>
                      </a:r>
                      <a:endParaRPr lang="en-US" sz="1600" dirty="0">
                        <a:latin typeface="Arial" charset="0"/>
                        <a:ea typeface="Arial" charset="0"/>
                        <a:cs typeface="Arial" charset="0"/>
                      </a:endParaRPr>
                    </a:p>
                    <a:p>
                      <a:pPr algn="l" indent="0" marL="0">
                        <a:buNone/>
                      </a:pPr>
                      <a:r>
                        <a:rPr lang="en-US" sz="1600" b="1" dirty="0">
                          <a:solidFill>
                            <a:srgbClr val="004387"/>
                          </a:solidFill>
                          <a:latin typeface="Arial" pitchFamily="34" charset="0"/>
                          <a:ea typeface="Arial" pitchFamily="34" charset="-122"/>
                          <a:cs typeface="Arial" pitchFamily="34" charset="-120"/>
                        </a:rPr>
                        <a:t>Wed 21/10</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CP5 Integrate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Checkout page, pytest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Role checks, README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pytest run recorded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D6</a:t>
                      </a:r>
                      <a:endParaRPr lang="en-US" sz="1600" dirty="0">
                        <a:latin typeface="Arial" charset="0"/>
                        <a:ea typeface="Arial" charset="0"/>
                        <a:cs typeface="Arial" charset="0"/>
                      </a:endParaRPr>
                    </a:p>
                    <a:p>
                      <a:pPr algn="l" indent="0" marL="0">
                        <a:buNone/>
                      </a:pPr>
                      <a:r>
                        <a:rPr lang="en-US" sz="1600" b="1" dirty="0">
                          <a:solidFill>
                            <a:srgbClr val="004387"/>
                          </a:solidFill>
                          <a:latin typeface="Arial" pitchFamily="34" charset="0"/>
                          <a:ea typeface="Arial" pitchFamily="34" charset="-122"/>
                          <a:cs typeface="Arial" pitchFamily="34" charset="-120"/>
                        </a:rPr>
                        <a:t>Thu 22/10</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CP6 Test, deploy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Fix defects, acceptance run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Second-machine run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Result; I1 review</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Iteration 1: COD order persisted and tested; 7 of 9 criteria met</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Real figures from the repository, the pytest output and the hours log.</a:t>
            </a:r>
            <a:endParaRPr lang="en-US" sz="1800" dirty="0"/>
          </a:p>
        </p:txBody>
      </p:sp>
      <p:graphicFrame>
        <p:nvGraphicFramePr>
          <p:cNvPr id="14" name="Plan vs actual table"/>
          <p:cNvGraphicFramePr>
            <a:graphicFrameLocks noGrp="1"/>
          </p:cNvGraphicFramePr>
          <p:nvPr>
            <p:extLst>
              <p:ext uri="{D42A27DB-BD31-4B8C-83A1-F6EECF244321}">
                <p14:modId xmlns:p14="http://schemas.microsoft.com/office/powerpoint/2010/main" val="1579011935"/>
              </p:ext>
            </p:extLst>
          </p:nvPr>
        </p:nvGraphicFramePr>
        <p:xfrm>
          <a:off x="457200" y="1600200"/>
          <a:ext cx="7040880" cy="914400"/>
        </p:xfrm>
        <a:graphic>
          <a:graphicData uri="http://schemas.openxmlformats.org/drawingml/2006/table">
            <a:tbl>
              <a:tblPr/>
              <a:tblGrid>
                <a:gridCol w="1645920"/>
                <a:gridCol w="1463040"/>
                <a:gridCol w="3931920"/>
              </a:tblGrid>
              <a:tr h="41148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Measure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Plan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Actual</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Days with evidence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6</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D3–D5 scope built on D3; D6 open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Person-hours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48</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⟦ACTUAL s13_hours: hours⟧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3C4"/>
                    </a:solidFill>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Criteria met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9 of 9</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7 of 9 (AC-1, AC-9 partial)</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pytest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AC-4 to AC-8</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81 passed, 0 failed (19/10)</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Second machine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Passes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⟦ACTUAL s13_second_machine: result⟧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3C4"/>
                    </a:solidFill>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Roadmap change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None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⟦ACTUAL s13_roadmap_change: change⟧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3C4"/>
                    </a:solidFill>
                  </a:tcPr>
                </a:tc>
              </a:tr>
            </a:tbl>
          </a:graphicData>
        </a:graphic>
      </p:graphicFrame>
      <p:sp>
        <p:nvSpPr>
          <p:cNvPr id="5" name="Screenshot frame"/>
          <p:cNvSpPr/>
          <p:nvPr/>
        </p:nvSpPr>
        <p:spPr>
          <a:xfrm>
            <a:off x="7662672" y="1627632"/>
            <a:ext cx="4090111" cy="2230254"/>
          </a:xfrm>
          <a:prstGeom prst="rect">
            <a:avLst/>
          </a:prstGeom>
          <a:solidFill>
            <a:srgbClr val="FFFFFF"/>
          </a:solidFill>
          <a:ln w="12700">
            <a:solidFill>
              <a:srgbClr val="004387"/>
            </a:solidFill>
            <a:prstDash val="solid"/>
          </a:ln>
        </p:spPr>
      </p:sp>
      <p:pic>
        <p:nvPicPr>
          <p:cNvPr id="6" name="I1 order confirmation screenshot" descr="Order confirmation page: order 1 PLACED, COD, total 160,000 VND">    </p:cNvPr>
          <p:cNvPicPr>
            <a:picLocks noChangeAspect="1"/>
          </p:cNvPicPr>
          <p:nvPr/>
        </p:nvPicPr>
        <p:blipFill>
          <a:blip r:embed="rId1"/>
          <a:stretch>
            <a:fillRect/>
          </a:stretch>
        </p:blipFill>
        <p:spPr>
          <a:xfrm>
            <a:off x="7680960" y="1645920"/>
            <a:ext cx="4053535" cy="2193678"/>
          </a:xfrm>
          <a:prstGeom prst="rect">
            <a:avLst/>
          </a:prstGeom>
        </p:spPr>
      </p:pic>
      <p:sp>
        <p:nvSpPr>
          <p:cNvPr id="7" name="Text 3"/>
          <p:cNvSpPr txBox="1"/>
          <p:nvPr/>
        </p:nvSpPr>
        <p:spPr>
          <a:xfrm>
            <a:off x="7680960" y="3931038"/>
            <a:ext cx="4053535" cy="685800"/>
          </a:xfrm>
          <a:prstGeom prst="rect">
            <a:avLst/>
          </a:prstGeom>
          <a:noFill/>
          <a:ln/>
        </p:spPr>
        <p:txBody>
          <a:bodyPr wrap="square" lIns="0" tIns="0" rIns="0" bIns="0" rtlCol="0" anchor="ctr"/>
          <a:lstStyle/>
          <a:p>
            <a:pPr indent="0" marL="0">
              <a:buNone/>
            </a:pPr>
            <a:r>
              <a:rPr lang="en-US" sz="1600" dirty="0">
                <a:solidFill>
                  <a:srgbClr val="5B6472"/>
                </a:solidFill>
                <a:latin typeface="Arial" pitchFamily="34" charset="0"/>
                <a:ea typeface="Arial" pitchFamily="34" charset="-122"/>
                <a:cs typeface="Arial" pitchFamily="34" charset="-120"/>
              </a:rPr>
              <a:t>Saved order: ID 1, PLACED, COD, total 160,000 VND</a:t>
            </a:r>
            <a:endParaRPr lang="en-US" sz="1600" dirty="0"/>
          </a:p>
        </p:txBody>
      </p:sp>
      <p:sp>
        <p:nvSpPr>
          <p:cNvPr id="8" name="Card"/>
          <p:cNvSpPr/>
          <p:nvPr/>
        </p:nvSpPr>
        <p:spPr>
          <a:xfrm>
            <a:off x="457200" y="5413248"/>
            <a:ext cx="11277295" cy="420624"/>
          </a:xfrm>
          <a:prstGeom prst="rect">
            <a:avLst/>
          </a:prstGeom>
          <a:solidFill>
            <a:srgbClr val="E3ECF3"/>
          </a:solidFill>
          <a:ln/>
        </p:spPr>
      </p:sp>
      <p:sp>
        <p:nvSpPr>
          <p:cNvPr id="9" name="Text 5"/>
          <p:cNvSpPr txBox="1"/>
          <p:nvPr/>
        </p:nvSpPr>
        <p:spPr>
          <a:xfrm>
            <a:off x="585216" y="5413248"/>
            <a:ext cx="11021263" cy="42062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Status  </a:t>
            </a:r>
            <a:pPr algn="l" indent="0" marL="0">
              <a:buNone/>
            </a:pPr>
            <a:r>
              <a:rPr lang="en-US" sz="1800" dirty="0">
                <a:solidFill>
                  <a:srgbClr val="1F2937"/>
                </a:solidFill>
                <a:latin typeface="Arial" pitchFamily="34" charset="0"/>
                <a:ea typeface="Arial" pitchFamily="34" charset="-122"/>
                <a:cs typeface="Arial" pitchFamily="34" charset="-120"/>
              </a:rPr>
              <a:t>Built early on 19/10 with AI assistance; team review pending.</a:t>
            </a:r>
            <a:endParaRPr lang="en-US" sz="1800" dirty="0"/>
          </a:p>
        </p:txBody>
      </p:sp>
      <p:sp>
        <p:nvSpPr>
          <p:cNvPr id="10" name="Card"/>
          <p:cNvSpPr/>
          <p:nvPr/>
        </p:nvSpPr>
        <p:spPr>
          <a:xfrm>
            <a:off x="457200" y="5888736"/>
            <a:ext cx="11277295" cy="420624"/>
          </a:xfrm>
          <a:prstGeom prst="rect">
            <a:avLst/>
          </a:prstGeom>
          <a:solidFill>
            <a:srgbClr val="FFF3C4"/>
          </a:solidFill>
          <a:ln/>
        </p:spPr>
      </p:sp>
      <p:sp>
        <p:nvSpPr>
          <p:cNvPr id="11" name="Text 7"/>
          <p:cNvSpPr txBox="1"/>
          <p:nvPr/>
        </p:nvSpPr>
        <p:spPr>
          <a:xfrm>
            <a:off x="585216" y="5888736"/>
            <a:ext cx="11021263" cy="42062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Lesson  </a:t>
            </a:r>
            <a:pPr algn="l" indent="0" marL="0">
              <a:buNone/>
            </a:pPr>
            <a:r>
              <a:rPr lang="en-US" sz="1800" dirty="0">
                <a:solidFill>
                  <a:srgbClr val="1F2937"/>
                </a:solidFill>
                <a:latin typeface="Arial" pitchFamily="34" charset="0"/>
                <a:ea typeface="Arial" pitchFamily="34" charset="-122"/>
                <a:cs typeface="Arial" pitchFamily="34" charset="-120"/>
              </a:rPr>
              <a:t>⟦ACTUAL lesson_learned: lesson from Iteration 1⟧</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Unconfirmed rules and the capacity race are the biggest risks</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Each risk has an owner and a concrete mitigation; none relies on I6.</a:t>
            </a:r>
            <a:endParaRPr lang="en-US" sz="1800" dirty="0"/>
          </a:p>
        </p:txBody>
      </p:sp>
      <p:graphicFrame>
        <p:nvGraphicFramePr>
          <p:cNvPr id="15" name="Risk table"/>
          <p:cNvGraphicFramePr>
            <a:graphicFrameLocks noGrp="1"/>
          </p:cNvGraphicFramePr>
          <p:nvPr>
            <p:extLst>
              <p:ext uri="{D42A27DB-BD31-4B8C-83A1-F6EECF244321}">
                <p14:modId xmlns:p14="http://schemas.microsoft.com/office/powerpoint/2010/main" val="1579011935"/>
              </p:ext>
            </p:extLst>
          </p:nvPr>
        </p:nvGraphicFramePr>
        <p:xfrm>
          <a:off x="457200" y="1600200"/>
          <a:ext cx="11277295" cy="914400"/>
        </p:xfrm>
        <a:graphic>
          <a:graphicData uri="http://schemas.openxmlformats.org/drawingml/2006/table">
            <a:tbl>
              <a:tblPr/>
              <a:tblGrid>
                <a:gridCol w="822960"/>
                <a:gridCol w="3108960"/>
                <a:gridCol w="1554480"/>
                <a:gridCol w="914400"/>
                <a:gridCol w="4876495"/>
              </a:tblGrid>
              <a:tr h="45720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ID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Risk</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L / I</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Owner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Mitigation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676656">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R-01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CRUD coverage rejected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Med / High</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Answer by 31/10; generic admin fallback</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76656">
                <a:tc>
                  <a:txBody>
                    <a:bodyPr/>
                    <a:lstStyle/>
                    <a:p>
                      <a:pPr algn="l" indent="0" marL="0">
                        <a:buNone/>
                      </a:pPr>
                      <a:r>
                        <a:rPr lang="en-US" sz="1600" b="1" dirty="0">
                          <a:solidFill>
                            <a:srgbClr val="C95B55"/>
                          </a:solidFill>
                          <a:latin typeface="Arial" pitchFamily="34" charset="0"/>
                          <a:ea typeface="Arial" pitchFamily="34" charset="-122"/>
                          <a:cs typeface="Arial" pitchFamily="34" charset="-120"/>
                        </a:rPr>
                        <a:t>R-02</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BE9E7"/>
                    </a:solidFill>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Rules unconfirmed or changed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High / Med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Assumption Log; values in configuration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76656">
                <a:tc>
                  <a:txBody>
                    <a:bodyPr/>
                    <a:lstStyle/>
                    <a:p>
                      <a:pPr algn="l" indent="0" marL="0">
                        <a:buNone/>
                      </a:pPr>
                      <a:r>
                        <a:rPr lang="en-US" sz="1600" b="1" dirty="0">
                          <a:solidFill>
                            <a:srgbClr val="C95B55"/>
                          </a:solidFill>
                          <a:latin typeface="Arial" pitchFamily="34" charset="0"/>
                          <a:ea typeface="Arial" pitchFamily="34" charset="-122"/>
                          <a:cs typeface="Arial" pitchFamily="34" charset="-120"/>
                        </a:rPr>
                        <a:t>R-03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BE9E7"/>
                    </a:solidFill>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Peak-hour capacity race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Med / High</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One BEGIN IMMEDIATE transaction; boundary test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76656">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R-04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Integration drift between use cases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Med / High</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Shared schema, seed; demo at I3, I4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76656">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R-05</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Member unavailable or late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Med / High</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Quan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Cross-review; I5 buffer on 13/11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5" name="Card"/>
          <p:cNvSpPr/>
          <p:nvPr/>
        </p:nvSpPr>
        <p:spPr>
          <a:xfrm>
            <a:off x="457200" y="5486400"/>
            <a:ext cx="11277295" cy="457200"/>
          </a:xfrm>
          <a:prstGeom prst="rect">
            <a:avLst/>
          </a:prstGeom>
          <a:solidFill>
            <a:srgbClr val="FBE9E7"/>
          </a:solidFill>
          <a:ln/>
        </p:spPr>
      </p:sp>
      <p:sp>
        <p:nvSpPr>
          <p:cNvPr id="6" name="Text 3"/>
          <p:cNvSpPr txBox="1"/>
          <p:nvPr/>
        </p:nvSpPr>
        <p:spPr>
          <a:xfrm>
            <a:off x="585216" y="5486400"/>
            <a:ext cx="11021263" cy="457200"/>
          </a:xfrm>
          <a:prstGeom prst="rect">
            <a:avLst/>
          </a:prstGeom>
          <a:noFill/>
          <a:ln/>
        </p:spPr>
        <p:txBody>
          <a:bodyPr wrap="square" lIns="0" tIns="0" rIns="0" bIns="0" rtlCol="0" anchor="ctr"/>
          <a:lstStyle/>
          <a:p>
            <a:pPr algn="l" indent="0" marL="0">
              <a:buNone/>
            </a:pPr>
            <a:r>
              <a:rPr lang="en-US" sz="1800" b="1" dirty="0">
                <a:solidFill>
                  <a:srgbClr val="C95B55"/>
                </a:solidFill>
                <a:latin typeface="Arial" pitchFamily="34" charset="0"/>
                <a:ea typeface="Arial" pitchFamily="34" charset="-122"/>
                <a:cs typeface="Arial" pitchFamily="34" charset="-120"/>
              </a:rPr>
              <a:t>Contingency  </a:t>
            </a:r>
            <a:pPr algn="l" indent="0" marL="0">
              <a:buNone/>
            </a:pPr>
            <a:r>
              <a:rPr lang="en-US" sz="1800" dirty="0">
                <a:solidFill>
                  <a:srgbClr val="1F2937"/>
                </a:solidFill>
                <a:latin typeface="Arial" pitchFamily="34" charset="0"/>
                <a:ea typeface="Arial" pitchFamily="34" charset="-122"/>
                <a:cs typeface="Arial" pitchFamily="34" charset="-120"/>
              </a:rPr>
              <a:t>answers 31/10 · freeze 12/11 · buffer 13/11 · I6 is not a rescue buffer</a:t>
            </a:r>
            <a:endParaRPr lang="en-US" sz="1800" dirty="0"/>
          </a:p>
        </p:txBody>
      </p:sp>
      <p:sp>
        <p:nvSpPr>
          <p:cNvPr id="7" name="Text 4"/>
          <p:cNvSpPr txBox="1"/>
          <p:nvPr/>
        </p:nvSpPr>
        <p:spPr>
          <a:xfrm>
            <a:off x="457200" y="5989320"/>
            <a:ext cx="11277295" cy="365760"/>
          </a:xfrm>
          <a:prstGeom prst="rect">
            <a:avLst/>
          </a:prstGeom>
          <a:noFill/>
          <a:ln/>
        </p:spPr>
        <p:txBody>
          <a:bodyPr wrap="square" lIns="0" tIns="0" rIns="0" bIns="0" rtlCol="0" anchor="ctr"/>
          <a:lstStyle/>
          <a:p>
            <a:pPr indent="0" marL="0">
              <a:buNone/>
            </a:pPr>
            <a:r>
              <a:rPr lang="en-US" sz="1800" dirty="0">
                <a:solidFill>
                  <a:srgbClr val="C95B55"/>
                </a:solidFill>
                <a:latin typeface="Arial" pitchFamily="34" charset="0"/>
                <a:ea typeface="Arial" pitchFamily="34" charset="-122"/>
                <a:cs typeface="Arial" pitchFamily="34" charset="-120"/>
              </a:rPr>
              <a:t>Red marks the two risks in the title: R-02 and R-03.</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Five client and four lecturer questions decide the open rules</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Each question asks for one decision and carries our default.</a:t>
            </a:r>
            <a:endParaRPr lang="en-US" sz="1800" dirty="0"/>
          </a:p>
        </p:txBody>
      </p:sp>
      <p:sp>
        <p:nvSpPr>
          <p:cNvPr id="4" name="Text 2"/>
          <p:cNvSpPr txBox="1"/>
          <p:nvPr/>
        </p:nvSpPr>
        <p:spPr>
          <a:xfrm>
            <a:off x="457200" y="1554480"/>
            <a:ext cx="6858000" cy="365760"/>
          </a:xfrm>
          <a:prstGeom prst="rect">
            <a:avLst/>
          </a:prstGeom>
          <a:noFill/>
          <a:ln/>
        </p:spPr>
        <p:txBody>
          <a:bodyPr wrap="square" lIns="0" tIns="0" rIns="0" bIns="0" rtlCol="0" anchor="ctr"/>
          <a:lstStyle/>
          <a:p>
            <a:pPr indent="0" marL="0">
              <a:buNone/>
            </a:pPr>
            <a:r>
              <a:rPr lang="en-US" sz="1800" b="1" dirty="0">
                <a:solidFill>
                  <a:srgbClr val="004387"/>
                </a:solidFill>
                <a:latin typeface="Arial" pitchFamily="34" charset="0"/>
                <a:ea typeface="Arial" pitchFamily="34" charset="-122"/>
                <a:cs typeface="Arial" pitchFamily="34" charset="-120"/>
              </a:rPr>
              <a:t>Client questions (with our default)</a:t>
            </a:r>
            <a:endParaRPr lang="en-US" sz="1800" dirty="0"/>
          </a:p>
        </p:txBody>
      </p:sp>
      <p:sp>
        <p:nvSpPr>
          <p:cNvPr id="5" name="Card"/>
          <p:cNvSpPr/>
          <p:nvPr/>
        </p:nvSpPr>
        <p:spPr>
          <a:xfrm>
            <a:off x="457200" y="1965960"/>
            <a:ext cx="6858000" cy="603504"/>
          </a:xfrm>
          <a:prstGeom prst="rect">
            <a:avLst/>
          </a:prstGeom>
          <a:solidFill>
            <a:srgbClr val="E3ECF3"/>
          </a:solidFill>
          <a:ln/>
        </p:spPr>
      </p:sp>
      <p:sp>
        <p:nvSpPr>
          <p:cNvPr id="6" name="Text 4"/>
          <p:cNvSpPr txBox="1"/>
          <p:nvPr/>
        </p:nvSpPr>
        <p:spPr>
          <a:xfrm>
            <a:off x="585216" y="1965960"/>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Q1 Workload   </a:t>
            </a:r>
            <a:pPr algn="l" indent="0" marL="0">
              <a:buNone/>
            </a:pPr>
            <a:r>
              <a:rPr lang="en-US" sz="1800" dirty="0">
                <a:solidFill>
                  <a:srgbClr val="1F2937"/>
                </a:solidFill>
                <a:latin typeface="Arial" pitchFamily="34" charset="0"/>
                <a:ea typeface="Arial" pitchFamily="34" charset="-122"/>
                <a:cs typeface="Arial" pitchFamily="34" charset="-120"/>
              </a:rPr>
              <a:t>Busy count? Default: at capacity.</a:t>
            </a:r>
            <a:endParaRPr lang="en-US" sz="1800" dirty="0"/>
          </a:p>
        </p:txBody>
      </p:sp>
      <p:sp>
        <p:nvSpPr>
          <p:cNvPr id="7" name="Card"/>
          <p:cNvSpPr/>
          <p:nvPr/>
        </p:nvSpPr>
        <p:spPr>
          <a:xfrm>
            <a:off x="457200" y="2633472"/>
            <a:ext cx="6858000" cy="603504"/>
          </a:xfrm>
          <a:prstGeom prst="rect">
            <a:avLst/>
          </a:prstGeom>
          <a:solidFill>
            <a:srgbClr val="E3ECF3"/>
          </a:solidFill>
          <a:ln/>
        </p:spPr>
      </p:sp>
      <p:sp>
        <p:nvSpPr>
          <p:cNvPr id="8" name="Text 6"/>
          <p:cNvSpPr txBox="1"/>
          <p:nvPr/>
        </p:nvSpPr>
        <p:spPr>
          <a:xfrm>
            <a:off x="585216" y="2633472"/>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Q2 Delivery   </a:t>
            </a:r>
            <a:pPr algn="l" indent="0" marL="0">
              <a:buNone/>
            </a:pPr>
            <a:r>
              <a:rPr lang="en-US" sz="1800" dirty="0">
                <a:solidFill>
                  <a:srgbClr val="1F2937"/>
                </a:solidFill>
                <a:latin typeface="Arial" pitchFamily="34" charset="0"/>
                <a:ea typeface="Arial" pitchFamily="34" charset="-122"/>
                <a:cs typeface="Arial" pitchFamily="34" charset="-120"/>
              </a:rPr>
              <a:t>Distance, fee? Default: base + per km.</a:t>
            </a:r>
            <a:endParaRPr lang="en-US" sz="1800" dirty="0"/>
          </a:p>
        </p:txBody>
      </p:sp>
      <p:sp>
        <p:nvSpPr>
          <p:cNvPr id="9" name="Card"/>
          <p:cNvSpPr/>
          <p:nvPr/>
        </p:nvSpPr>
        <p:spPr>
          <a:xfrm>
            <a:off x="457200" y="3300984"/>
            <a:ext cx="6858000" cy="603504"/>
          </a:xfrm>
          <a:prstGeom prst="rect">
            <a:avLst/>
          </a:prstGeom>
          <a:solidFill>
            <a:srgbClr val="E3ECF3"/>
          </a:solidFill>
          <a:ln/>
        </p:spPr>
      </p:sp>
      <p:sp>
        <p:nvSpPr>
          <p:cNvPr id="10" name="Text 8"/>
          <p:cNvSpPr txBox="1"/>
          <p:nvPr/>
        </p:nvSpPr>
        <p:spPr>
          <a:xfrm>
            <a:off x="585216" y="3300984"/>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Q3 Cancel   </a:t>
            </a:r>
            <a:pPr algn="l" indent="0" marL="0">
              <a:buNone/>
            </a:pPr>
            <a:r>
              <a:rPr lang="en-US" sz="1800" dirty="0">
                <a:solidFill>
                  <a:srgbClr val="1F2937"/>
                </a:solidFill>
                <a:latin typeface="Arial" pitchFamily="34" charset="0"/>
                <a:ea typeface="Arial" pitchFamily="34" charset="-122"/>
                <a:cs typeface="Arial" pitchFamily="34" charset="-120"/>
              </a:rPr>
              <a:t>Until when? Default: before PREPARING.</a:t>
            </a:r>
            <a:endParaRPr lang="en-US" sz="1800" dirty="0"/>
          </a:p>
        </p:txBody>
      </p:sp>
      <p:sp>
        <p:nvSpPr>
          <p:cNvPr id="11" name="Card"/>
          <p:cNvSpPr/>
          <p:nvPr/>
        </p:nvSpPr>
        <p:spPr>
          <a:xfrm>
            <a:off x="457200" y="3968496"/>
            <a:ext cx="6858000" cy="603504"/>
          </a:xfrm>
          <a:prstGeom prst="rect">
            <a:avLst/>
          </a:prstGeom>
          <a:solidFill>
            <a:srgbClr val="E3ECF3"/>
          </a:solidFill>
          <a:ln/>
        </p:spPr>
      </p:sp>
      <p:sp>
        <p:nvSpPr>
          <p:cNvPr id="12" name="Text 10"/>
          <p:cNvSpPr txBox="1"/>
          <p:nvPr/>
        </p:nvSpPr>
        <p:spPr>
          <a:xfrm>
            <a:off x="585216" y="3968496"/>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Q4 Payment   </a:t>
            </a:r>
            <a:pPr algn="l" indent="0" marL="0">
              <a:buNone/>
            </a:pPr>
            <a:r>
              <a:rPr lang="en-US" sz="1800" dirty="0">
                <a:solidFill>
                  <a:srgbClr val="1F2937"/>
                </a:solidFill>
                <a:latin typeface="Arial" pitchFamily="34" charset="0"/>
                <a:ea typeface="Arial" pitchFamily="34" charset="-122"/>
                <a:cs typeface="Arial" pitchFamily="34" charset="-120"/>
              </a:rPr>
              <a:t>Online options? Default: wallet, card.</a:t>
            </a:r>
            <a:endParaRPr lang="en-US" sz="1800" dirty="0"/>
          </a:p>
        </p:txBody>
      </p:sp>
      <p:sp>
        <p:nvSpPr>
          <p:cNvPr id="13" name="Card"/>
          <p:cNvSpPr/>
          <p:nvPr/>
        </p:nvSpPr>
        <p:spPr>
          <a:xfrm>
            <a:off x="457200" y="4636008"/>
            <a:ext cx="6858000" cy="603504"/>
          </a:xfrm>
          <a:prstGeom prst="rect">
            <a:avLst/>
          </a:prstGeom>
          <a:solidFill>
            <a:srgbClr val="E3ECF3"/>
          </a:solidFill>
          <a:ln/>
        </p:spPr>
      </p:sp>
      <p:sp>
        <p:nvSpPr>
          <p:cNvPr id="14" name="Text 12"/>
          <p:cNvSpPr txBox="1"/>
          <p:nvPr/>
        </p:nvSpPr>
        <p:spPr>
          <a:xfrm>
            <a:off x="585216" y="4636008"/>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Q5 Reports   </a:t>
            </a:r>
            <a:pPr algn="l" indent="0" marL="0">
              <a:buNone/>
            </a:pPr>
            <a:r>
              <a:rPr lang="en-US" sz="1800" dirty="0">
                <a:solidFill>
                  <a:srgbClr val="1F2937"/>
                </a:solidFill>
                <a:latin typeface="Arial" pitchFamily="34" charset="0"/>
                <a:ea typeface="Arial" pitchFamily="34" charset="-122"/>
                <a:cs typeface="Arial" pitchFamily="34" charset="-120"/>
              </a:rPr>
              <a:t>Which date? Default: delivered date.</a:t>
            </a:r>
            <a:endParaRPr lang="en-US" sz="1800" dirty="0"/>
          </a:p>
        </p:txBody>
      </p:sp>
      <p:sp>
        <p:nvSpPr>
          <p:cNvPr id="15" name="Text 13"/>
          <p:cNvSpPr txBox="1"/>
          <p:nvPr/>
        </p:nvSpPr>
        <p:spPr>
          <a:xfrm>
            <a:off x="7589520" y="1554480"/>
            <a:ext cx="4144975" cy="365760"/>
          </a:xfrm>
          <a:prstGeom prst="rect">
            <a:avLst/>
          </a:prstGeom>
          <a:noFill/>
          <a:ln/>
        </p:spPr>
        <p:txBody>
          <a:bodyPr wrap="square" lIns="0" tIns="0" rIns="0" bIns="0" rtlCol="0" anchor="ctr"/>
          <a:lstStyle/>
          <a:p>
            <a:pPr indent="0" marL="0">
              <a:buNone/>
            </a:pPr>
            <a:r>
              <a:rPr lang="en-US" sz="1800" b="1" dirty="0">
                <a:solidFill>
                  <a:srgbClr val="004387"/>
                </a:solidFill>
                <a:latin typeface="Arial" pitchFamily="34" charset="0"/>
                <a:ea typeface="Arial" pitchFamily="34" charset="-122"/>
                <a:cs typeface="Arial" pitchFamily="34" charset="-120"/>
              </a:rPr>
              <a:t>Questions for the lecturer</a:t>
            </a:r>
            <a:endParaRPr lang="en-US" sz="1800" dirty="0"/>
          </a:p>
        </p:txBody>
      </p:sp>
      <p:sp>
        <p:nvSpPr>
          <p:cNvPr id="16" name="Card"/>
          <p:cNvSpPr/>
          <p:nvPr/>
        </p:nvSpPr>
        <p:spPr>
          <a:xfrm>
            <a:off x="7589520" y="1965960"/>
            <a:ext cx="4144975" cy="770382"/>
          </a:xfrm>
          <a:prstGeom prst="rect">
            <a:avLst/>
          </a:prstGeom>
          <a:solidFill>
            <a:srgbClr val="E3ECF3"/>
          </a:solidFill>
          <a:ln/>
        </p:spPr>
      </p:sp>
      <p:sp>
        <p:nvSpPr>
          <p:cNvPr id="17" name="Text 15"/>
          <p:cNvSpPr txBox="1"/>
          <p:nvPr/>
        </p:nvSpPr>
        <p:spPr>
          <a:xfrm>
            <a:off x="7717536" y="1965960"/>
            <a:ext cx="3888943" cy="770382"/>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L1   </a:t>
            </a:r>
            <a:pPr algn="l" indent="0" marL="0">
              <a:buNone/>
            </a:pPr>
            <a:r>
              <a:rPr lang="en-US" sz="1800" dirty="0">
                <a:solidFill>
                  <a:srgbClr val="1F2937"/>
                </a:solidFill>
                <a:latin typeface="Arial" pitchFamily="34" charset="0"/>
                <a:ea typeface="Arial" pitchFamily="34" charset="-122"/>
                <a:cs typeface="Arial" pitchFamily="34" charset="-120"/>
              </a:rPr>
              <a:t>Analysis plus seed data enough?</a:t>
            </a:r>
            <a:endParaRPr lang="en-US" sz="1800" dirty="0"/>
          </a:p>
        </p:txBody>
      </p:sp>
      <p:sp>
        <p:nvSpPr>
          <p:cNvPr id="18" name="Card"/>
          <p:cNvSpPr/>
          <p:nvPr/>
        </p:nvSpPr>
        <p:spPr>
          <a:xfrm>
            <a:off x="7589520" y="2800350"/>
            <a:ext cx="4144975" cy="770382"/>
          </a:xfrm>
          <a:prstGeom prst="rect">
            <a:avLst/>
          </a:prstGeom>
          <a:solidFill>
            <a:srgbClr val="E3ECF3"/>
          </a:solidFill>
          <a:ln/>
        </p:spPr>
      </p:sp>
      <p:sp>
        <p:nvSpPr>
          <p:cNvPr id="19" name="Text 17"/>
          <p:cNvSpPr txBox="1"/>
          <p:nvPr/>
        </p:nvSpPr>
        <p:spPr>
          <a:xfrm>
            <a:off x="7717536" y="2800350"/>
            <a:ext cx="3888943" cy="770382"/>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L2   </a:t>
            </a:r>
            <a:pPr algn="l" indent="0" marL="0">
              <a:buNone/>
            </a:pPr>
            <a:r>
              <a:rPr lang="en-US" sz="1800" dirty="0">
                <a:solidFill>
                  <a:srgbClr val="1F2937"/>
                </a:solidFill>
                <a:latin typeface="Arial" pitchFamily="34" charset="0"/>
                <a:ea typeface="Arial" pitchFamily="34" charset="-122"/>
                <a:cs typeface="Arial" pitchFamily="34" charset="-120"/>
              </a:rPr>
              <a:t>Team-built payment stub acceptable?</a:t>
            </a:r>
            <a:endParaRPr lang="en-US" sz="1800" dirty="0"/>
          </a:p>
        </p:txBody>
      </p:sp>
      <p:sp>
        <p:nvSpPr>
          <p:cNvPr id="20" name="Card"/>
          <p:cNvSpPr/>
          <p:nvPr/>
        </p:nvSpPr>
        <p:spPr>
          <a:xfrm>
            <a:off x="7589520" y="3634740"/>
            <a:ext cx="4144975" cy="770382"/>
          </a:xfrm>
          <a:prstGeom prst="rect">
            <a:avLst/>
          </a:prstGeom>
          <a:solidFill>
            <a:srgbClr val="E3ECF3"/>
          </a:solidFill>
          <a:ln/>
        </p:spPr>
      </p:sp>
      <p:sp>
        <p:nvSpPr>
          <p:cNvPr id="21" name="Text 19"/>
          <p:cNvSpPr txBox="1"/>
          <p:nvPr/>
        </p:nvSpPr>
        <p:spPr>
          <a:xfrm>
            <a:off x="7717536" y="3634740"/>
            <a:ext cx="3888943" cy="770382"/>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L3   </a:t>
            </a:r>
            <a:pPr algn="l" indent="0" marL="0">
              <a:buNone/>
            </a:pPr>
            <a:r>
              <a:rPr lang="en-US" sz="1800" dirty="0">
                <a:solidFill>
                  <a:srgbClr val="1F2937"/>
                </a:solidFill>
                <a:latin typeface="Arial" pitchFamily="34" charset="0"/>
                <a:ea typeface="Arial" pitchFamily="34" charset="-122"/>
                <a:cs typeface="Arial" pitchFamily="34" charset="-120"/>
              </a:rPr>
              <a:t>Defer complaint, refund, rating?</a:t>
            </a:r>
            <a:endParaRPr lang="en-US" sz="1800" dirty="0"/>
          </a:p>
        </p:txBody>
      </p:sp>
      <p:sp>
        <p:nvSpPr>
          <p:cNvPr id="22" name="Card"/>
          <p:cNvSpPr/>
          <p:nvPr/>
        </p:nvSpPr>
        <p:spPr>
          <a:xfrm>
            <a:off x="7589520" y="4469130"/>
            <a:ext cx="4144975" cy="770382"/>
          </a:xfrm>
          <a:prstGeom prst="rect">
            <a:avLst/>
          </a:prstGeom>
          <a:solidFill>
            <a:srgbClr val="E3ECF3"/>
          </a:solidFill>
          <a:ln/>
        </p:spPr>
      </p:sp>
      <p:sp>
        <p:nvSpPr>
          <p:cNvPr id="23" name="Text 21"/>
          <p:cNvSpPr txBox="1"/>
          <p:nvPr/>
        </p:nvSpPr>
        <p:spPr>
          <a:xfrm>
            <a:off x="7717536" y="4469130"/>
            <a:ext cx="3888943" cy="770382"/>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L4   </a:t>
            </a:r>
            <a:pPr algn="l" indent="0" marL="0">
              <a:buNone/>
            </a:pPr>
            <a:r>
              <a:rPr lang="en-US" sz="1800" dirty="0">
                <a:solidFill>
                  <a:srgbClr val="1F2937"/>
                </a:solidFill>
                <a:latin typeface="Arial" pitchFamily="34" charset="0"/>
                <a:ea typeface="Arial" pitchFamily="34" charset="-122"/>
                <a:cs typeface="Arial" pitchFamily="34" charset="-120"/>
              </a:rPr>
              <a:t>Python 3.12 or later acceptable?</a:t>
            </a:r>
            <a:endParaRPr lang="en-US" sz="1800" dirty="0"/>
          </a:p>
        </p:txBody>
      </p:sp>
      <p:sp>
        <p:nvSpPr>
          <p:cNvPr id="24" name="Card"/>
          <p:cNvSpPr/>
          <p:nvPr/>
        </p:nvSpPr>
        <p:spPr>
          <a:xfrm>
            <a:off x="457200" y="5532120"/>
            <a:ext cx="11277295" cy="777240"/>
          </a:xfrm>
          <a:prstGeom prst="rect">
            <a:avLst/>
          </a:prstGeom>
          <a:solidFill>
            <a:srgbClr val="E3ECF3"/>
          </a:solidFill>
          <a:ln/>
        </p:spPr>
      </p:sp>
      <p:sp>
        <p:nvSpPr>
          <p:cNvPr id="25" name="Text 23"/>
          <p:cNvSpPr txBox="1"/>
          <p:nvPr/>
        </p:nvSpPr>
        <p:spPr>
          <a:xfrm>
            <a:off x="585216" y="5532120"/>
            <a:ext cx="11021263" cy="77724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Close  </a:t>
            </a:r>
            <a:pPr algn="l" indent="0" marL="0">
              <a:buNone/>
            </a:pPr>
            <a:r>
              <a:rPr lang="en-US" sz="1800" dirty="0">
                <a:solidFill>
                  <a:srgbClr val="1F2937"/>
                </a:solidFill>
                <a:latin typeface="Arial" pitchFamily="34" charset="0"/>
                <a:ea typeface="Arial" pitchFamily="34" charset="-122"/>
                <a:cs typeface="Arial" pitchFamily="34" charset="-120"/>
              </a:rPr>
              <a:t>Answers needed by 31/10. A-10 confirmed verbally by the lecturer. Next: Iteration 2 on 27/10.</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SaigonBite Project Proposal (Part 1)</dc:title>
  <dc:subject>PptxGenJS Presentation</dc:subject>
  <dc:creator>Nguyen Thanh Dat, Le Minh Quan</dc:creator>
  <cp:lastModifiedBy>Nguyen Thanh Dat, Le Minh Quan</cp:lastModifiedBy>
  <cp:revision>1</cp:revision>
  <dcterms:created xsi:type="dcterms:W3CDTF">2026-10-19T09:14:50Z</dcterms:created>
  <dcterms:modified xsi:type="dcterms:W3CDTF">2026-10-19T09:14:50Z</dcterms:modified>
</cp:coreProperties>
</file>